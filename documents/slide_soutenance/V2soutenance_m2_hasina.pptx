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5" r:id="rId2"/>
    <p:sldId id="276" r:id="rId3"/>
    <p:sldId id="289" r:id="rId4"/>
    <p:sldId id="277" r:id="rId5"/>
    <p:sldId id="278" r:id="rId6"/>
    <p:sldId id="290" r:id="rId7"/>
    <p:sldId id="295" r:id="rId8"/>
    <p:sldId id="279" r:id="rId9"/>
    <p:sldId id="291" r:id="rId10"/>
    <p:sldId id="280" r:id="rId11"/>
    <p:sldId id="294" r:id="rId12"/>
    <p:sldId id="293" r:id="rId13"/>
    <p:sldId id="282" r:id="rId14"/>
    <p:sldId id="283" r:id="rId15"/>
    <p:sldId id="284" r:id="rId16"/>
    <p:sldId id="285" r:id="rId17"/>
    <p:sldId id="297" r:id="rId18"/>
    <p:sldId id="286" r:id="rId19"/>
    <p:sldId id="287" r:id="rId20"/>
    <p:sldId id="288" r:id="rId21"/>
    <p:sldId id="296" r:id="rId22"/>
  </p:sldIdLst>
  <p:sldSz cx="14630400" cy="8229600"/>
  <p:notesSz cx="14630400" cy="8229600"/>
  <p:embeddedFontLst>
    <p:embeddedFont>
      <p:font typeface="Raleway" pitchFamily="2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5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45" autoAdjust="0"/>
    <p:restoredTop sz="69632" autoAdjust="0"/>
  </p:normalViewPr>
  <p:slideViewPr>
    <p:cSldViewPr snapToGrid="0" snapToObjects="1">
      <p:cViewPr varScale="1">
        <p:scale>
          <a:sx n="68" d="100"/>
          <a:sy n="68" d="100"/>
        </p:scale>
        <p:origin x="17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1296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theme" Target="../theme/theme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F6A1CA8-3B79-13A4-98D3-AC47C9F75C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-1"/>
            <a:ext cx="14630399" cy="688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DB4F6D-5AAF-2D58-9FA1-FD4F5DEB0F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7723991"/>
            <a:ext cx="14630399" cy="5378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dirty="0"/>
              <a:t>« Mapping Intelligente » </a:t>
            </a:r>
            <a:r>
              <a:rPr lang="fr-FR" dirty="0" err="1"/>
              <a:t>presenté</a:t>
            </a:r>
            <a:r>
              <a:rPr lang="fr-FR" dirty="0"/>
              <a:t> par: RAMAMONJISOANIAINA Hasina </a:t>
            </a:r>
            <a:r>
              <a:rPr lang="fr-FR" dirty="0" err="1"/>
              <a:t>Fitiavana</a:t>
            </a:r>
            <a:endParaRPr lang="fr-FR" dirty="0"/>
          </a:p>
        </p:txBody>
      </p:sp>
      <p:grpSp>
        <p:nvGrpSpPr>
          <p:cNvPr id="6" name="Google Shape;90;p13">
            <a:extLst>
              <a:ext uri="{FF2B5EF4-FFF2-40B4-BE49-F238E27FC236}">
                <a16:creationId xmlns:a16="http://schemas.microsoft.com/office/drawing/2014/main" id="{A9D98DD8-E4D8-13AB-F6D5-B10C78B35C37}"/>
              </a:ext>
            </a:extLst>
          </p:cNvPr>
          <p:cNvGrpSpPr/>
          <p:nvPr/>
        </p:nvGrpSpPr>
        <p:grpSpPr>
          <a:xfrm>
            <a:off x="3248812" y="-16113"/>
            <a:ext cx="5470393" cy="769143"/>
            <a:chOff x="0" y="0"/>
            <a:chExt cx="6179413" cy="484900"/>
          </a:xfrm>
        </p:grpSpPr>
        <p:pic>
          <p:nvPicPr>
            <p:cNvPr id="8" name="Google Shape;92;p13">
              <a:extLst>
                <a:ext uri="{FF2B5EF4-FFF2-40B4-BE49-F238E27FC236}">
                  <a16:creationId xmlns:a16="http://schemas.microsoft.com/office/drawing/2014/main" id="{7731DC5A-8B76-9E4B-D36D-AF4545E88F7F}"/>
                </a:ext>
              </a:extLst>
            </p:cNvPr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0" y="73539"/>
              <a:ext cx="1381375" cy="3378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3;p13">
              <a:extLst>
                <a:ext uri="{FF2B5EF4-FFF2-40B4-BE49-F238E27FC236}">
                  <a16:creationId xmlns:a16="http://schemas.microsoft.com/office/drawing/2014/main" id="{BE7AB2C5-1AED-FA60-6019-54644A176B42}"/>
                </a:ext>
              </a:extLst>
            </p:cNvPr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2414438" y="0"/>
              <a:ext cx="1268646" cy="48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4;p13">
              <a:extLst>
                <a:ext uri="{FF2B5EF4-FFF2-40B4-BE49-F238E27FC236}">
                  <a16:creationId xmlns:a16="http://schemas.microsoft.com/office/drawing/2014/main" id="{3CAF86B7-3E47-4A9D-2E48-53B5EFC44103}"/>
                </a:ext>
              </a:extLst>
            </p:cNvPr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4650238" y="122700"/>
              <a:ext cx="1529175" cy="23957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C54EB69-252F-2F65-997A-345FFD7C35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4870" y="55008"/>
            <a:ext cx="1694386" cy="544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07508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094569-750A-A29F-4802-6C3E5CB5E7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-64294"/>
            <a:ext cx="14630400" cy="4125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CD9C1-B553-4A38-E71C-E30590F44A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45404" y="7817049"/>
            <a:ext cx="14584996" cy="4125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Présenté par: RAMAMONJISOANIAINA Hasina </a:t>
            </a:r>
            <a:r>
              <a:rPr lang="fr-FR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Fitiavana</a:t>
            </a:r>
            <a:endParaRPr lang="fr-FR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CA" dirty="0"/>
          </a:p>
        </p:txBody>
      </p:sp>
      <p:grpSp>
        <p:nvGrpSpPr>
          <p:cNvPr id="5" name="Google Shape;90;p13">
            <a:extLst>
              <a:ext uri="{FF2B5EF4-FFF2-40B4-BE49-F238E27FC236}">
                <a16:creationId xmlns:a16="http://schemas.microsoft.com/office/drawing/2014/main" id="{0B87A6E9-7967-473B-FFB7-2E222BFB99DB}"/>
              </a:ext>
            </a:extLst>
          </p:cNvPr>
          <p:cNvGrpSpPr/>
          <p:nvPr/>
        </p:nvGrpSpPr>
        <p:grpSpPr>
          <a:xfrm>
            <a:off x="1371034" y="107692"/>
            <a:ext cx="6661572" cy="193596"/>
            <a:chOff x="0" y="0"/>
            <a:chExt cx="6179413" cy="484900"/>
          </a:xfrm>
        </p:grpSpPr>
        <p:pic>
          <p:nvPicPr>
            <p:cNvPr id="7" name="Google Shape;92;p13">
              <a:extLst>
                <a:ext uri="{FF2B5EF4-FFF2-40B4-BE49-F238E27FC236}">
                  <a16:creationId xmlns:a16="http://schemas.microsoft.com/office/drawing/2014/main" id="{611DC850-0F3C-034A-B3DB-6BEA80B650B5}"/>
                </a:ext>
              </a:extLst>
            </p:cNvPr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0" y="73539"/>
              <a:ext cx="1381375" cy="3378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3">
              <a:extLst>
                <a:ext uri="{FF2B5EF4-FFF2-40B4-BE49-F238E27FC236}">
                  <a16:creationId xmlns:a16="http://schemas.microsoft.com/office/drawing/2014/main" id="{525154DA-71D0-8B64-6D18-DDC50FD316F8}"/>
                </a:ext>
              </a:extLst>
            </p:cNvPr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2414438" y="0"/>
              <a:ext cx="1268646" cy="48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3">
              <a:extLst>
                <a:ext uri="{FF2B5EF4-FFF2-40B4-BE49-F238E27FC236}">
                  <a16:creationId xmlns:a16="http://schemas.microsoft.com/office/drawing/2014/main" id="{B93DD170-D2C0-4FE0-A9DE-A19919373D26}"/>
                </a:ext>
              </a:extLst>
            </p:cNvPr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4650238" y="122700"/>
              <a:ext cx="1529175" cy="23957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C54EB69-252F-2F65-997A-345FFD7C35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1470" y="84475"/>
            <a:ext cx="1347893" cy="137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385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8d8e51a6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6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8d8e51a6fd_0_0:notes"/>
          <p:cNvSpPr txBox="1">
            <a:spLocks noGrp="1"/>
          </p:cNvSpPr>
          <p:nvPr>
            <p:ph type="body" idx="1"/>
          </p:nvPr>
        </p:nvSpPr>
        <p:spPr>
          <a:xfrm>
            <a:off x="1219200" y="2475309"/>
            <a:ext cx="9753600" cy="2025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Bonjour à tous,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Merci au </a:t>
            </a:r>
            <a:r>
              <a:rPr lang="fr-FR" dirty="0" err="1"/>
              <a:t>president</a:t>
            </a:r>
            <a:r>
              <a:rPr lang="fr-FR" dirty="0"/>
              <a:t> du </a:t>
            </a:r>
            <a:r>
              <a:rPr lang="fr-FR" dirty="0" err="1"/>
              <a:t>juri</a:t>
            </a:r>
            <a:r>
              <a:rPr lang="fr-FR" dirty="0"/>
              <a:t> de m’avoir donné la parole</a:t>
            </a:r>
            <a:br>
              <a:rPr lang="fr-FR" dirty="0"/>
            </a:br>
            <a:r>
              <a:rPr lang="fr-FR" dirty="0"/>
              <a:t>Je m’appelle </a:t>
            </a:r>
            <a:r>
              <a:rPr lang="fr-FR" b="1" dirty="0"/>
              <a:t>Hasina </a:t>
            </a:r>
            <a:r>
              <a:rPr lang="fr-FR" b="1" dirty="0" err="1"/>
              <a:t>Fitiavana</a:t>
            </a:r>
            <a:r>
              <a:rPr lang="fr-FR" b="1" dirty="0"/>
              <a:t> RAMAMONJISOANIAINA</a:t>
            </a:r>
            <a:r>
              <a:rPr lang="fr-FR" dirty="0"/>
              <a:t>, étudiant en Master MBDS, et aujourd’hui j’ai le plaisir de vous présenter mon projet intitulé </a:t>
            </a:r>
            <a:r>
              <a:rPr lang="fr-FR" b="1" dirty="0"/>
              <a:t>« Mapping Intelligente »</a:t>
            </a:r>
            <a:r>
              <a:rPr lang="fr-FR" dirty="0"/>
              <a:t>, réalisé au sein de </a:t>
            </a:r>
            <a:r>
              <a:rPr lang="fr-FR" b="1" dirty="0"/>
              <a:t>l’entreprise </a:t>
            </a:r>
            <a:r>
              <a:rPr lang="fr-FR" b="1" dirty="0" err="1"/>
              <a:t>Ingenosya</a:t>
            </a:r>
            <a:r>
              <a:rPr lang="fr-FR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Ingenosya</a:t>
            </a:r>
            <a:r>
              <a:rPr lang="fr-FR" dirty="0"/>
              <a:t> est une </a:t>
            </a:r>
            <a:r>
              <a:rPr lang="fr-FR" b="1" dirty="0"/>
              <a:t>entreprise de services numériques</a:t>
            </a:r>
            <a:r>
              <a:rPr lang="fr-FR" dirty="0"/>
              <a:t> créée en 1999, avec une présence à</a:t>
            </a:r>
            <a:r>
              <a:rPr lang="fr-FR" b="1" dirty="0"/>
              <a:t> Madagascar</a:t>
            </a:r>
            <a:r>
              <a:rPr lang="fr-FR" dirty="0"/>
              <a:t>. Elle accompagne de nombreuses entreprises dans leur </a:t>
            </a:r>
            <a:r>
              <a:rPr lang="fr-FR" b="1" dirty="0"/>
              <a:t>transformation digitale</a:t>
            </a:r>
            <a:r>
              <a:rPr lang="fr-FR" dirty="0"/>
              <a:t>, leur </a:t>
            </a:r>
            <a:r>
              <a:rPr lang="fr-FR" b="1" dirty="0"/>
              <a:t>développement applicatif</a:t>
            </a:r>
            <a:r>
              <a:rPr lang="fr-FR" dirty="0"/>
              <a:t>, et leurs </a:t>
            </a:r>
            <a:r>
              <a:rPr lang="fr-FR" b="1" dirty="0"/>
              <a:t>projets d’intégration et de Business Intelligence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1015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Pour vous mettre dans le bain laisser moi poser une question sur </a:t>
            </a:r>
            <a:r>
              <a:rPr lang="fr-FR" dirty="0" err="1"/>
              <a:t>laquel</a:t>
            </a:r>
            <a:r>
              <a:rPr lang="fr-FR" dirty="0"/>
              <a:t> on peut réfléchir</a:t>
            </a:r>
          </a:p>
          <a:p>
            <a:endParaRPr lang="fr-FR" dirty="0"/>
          </a:p>
          <a:p>
            <a:r>
              <a:rPr lang="fr-FR" dirty="0"/>
              <a:t>On ne peut pas perdre du temps sur une seule tache</a:t>
            </a:r>
          </a:p>
          <a:p>
            <a:endParaRPr lang="fr-FR" dirty="0"/>
          </a:p>
          <a:p>
            <a:r>
              <a:rPr lang="fr-FR" dirty="0"/>
              <a:t>Plus on a le temps</a:t>
            </a:r>
            <a:br>
              <a:rPr lang="fr-FR" dirty="0"/>
            </a:br>
            <a:r>
              <a:rPr lang="fr-FR" dirty="0"/>
              <a:t>plus on peut se pencher sur d’autre </a:t>
            </a:r>
            <a:r>
              <a:rPr lang="fr-FR" dirty="0" err="1"/>
              <a:t>probleme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078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notre entreprise </a:t>
            </a:r>
            <a:r>
              <a:rPr lang="fr-FR" dirty="0" err="1"/>
              <a:t>gere</a:t>
            </a:r>
            <a:r>
              <a:rPr lang="fr-FR" dirty="0"/>
              <a:t> plusieurs site CRM avec différentes conceptions de base de données</a:t>
            </a:r>
          </a:p>
          <a:p>
            <a:r>
              <a:rPr lang="fr-FR" dirty="0"/>
              <a:t>L’import des fichiers dans la base de données d’un CRM va se faire manuellement, en </a:t>
            </a:r>
            <a:r>
              <a:rPr lang="fr-FR" dirty="0" err="1"/>
              <a:t>commancant</a:t>
            </a:r>
            <a:r>
              <a:rPr lang="fr-FR" dirty="0"/>
              <a:t> par le choix des tables.</a:t>
            </a:r>
          </a:p>
          <a:p>
            <a:endParaRPr lang="fr-FR" dirty="0"/>
          </a:p>
          <a:p>
            <a:r>
              <a:rPr lang="fr-FR" dirty="0"/>
              <a:t>Tout va donc dépendre de la personne ayant connaissance de la base de données.</a:t>
            </a:r>
          </a:p>
          <a:p>
            <a:br>
              <a:rPr lang="fr-FR" dirty="0"/>
            </a:br>
            <a:r>
              <a:rPr lang="fr-FR" dirty="0"/>
              <a:t>Comme l’application est déjà en production et fonctionnel , on ne peut pas se permettre d’uniformiser la conception et risquer d’avoir des bug sur un projet fonctionnel.</a:t>
            </a:r>
          </a:p>
          <a:p>
            <a:endParaRPr lang="fr-FR" sz="1200" noProof="0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Nécessité de créer une application pour  d'automatiser le mapping entre différents formats de fichiers et bases multisites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206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4047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projet repose sur l’</a:t>
            </a:r>
            <a:r>
              <a:rPr lang="fr-FR" b="1" dirty="0"/>
              <a:t>automatisation du mapping de fichier vers la base de données.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Pour généraliser le mapping pour tout base il faut donc que l’application comprenne le sens des colonnes que ce soit dans le fichier ou les sens des bases de données.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Il faut aussi qu’il soit facile à intégrer et performant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7545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pPr marL="0" indent="0">
              <a:buFont typeface="+mj-lt"/>
              <a:buNone/>
            </a:pPr>
            <a:endParaRPr lang="fr-FR" b="1" dirty="0"/>
          </a:p>
          <a:p>
            <a:pPr marL="0" indent="0">
              <a:buFont typeface="+mj-lt"/>
              <a:buNone/>
            </a:pPr>
            <a:r>
              <a:rPr lang="fr-FR" b="1" dirty="0"/>
              <a:t>Donc voici 6 critères de comparaison pour bien faire marcher l’application et pour choisir les technologies à utiliser</a:t>
            </a:r>
          </a:p>
          <a:p>
            <a:pPr marL="0" indent="0">
              <a:buFont typeface="+mj-lt"/>
              <a:buNone/>
            </a:pPr>
            <a:endParaRPr lang="fr-FR" b="1" dirty="0"/>
          </a:p>
          <a:p>
            <a:pPr marL="0" indent="0">
              <a:buFont typeface="+mj-lt"/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377609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On peut choisir plusieurs technologie car la plupart  des techno ne respecte pas tout les critères</a:t>
            </a:r>
          </a:p>
          <a:p>
            <a:endParaRPr lang="fr-FR" dirty="0"/>
          </a:p>
          <a:p>
            <a:r>
              <a:rPr lang="fr-FR" dirty="0"/>
              <a:t>Technologie de pointe</a:t>
            </a:r>
          </a:p>
          <a:p>
            <a:r>
              <a:rPr lang="fr-FR" dirty="0"/>
              <a:t>Par rapport au budget</a:t>
            </a:r>
          </a:p>
        </p:txBody>
      </p:sp>
    </p:spTree>
    <p:extLst>
      <p:ext uri="{BB962C8B-B14F-4D97-AF65-F5344CB8AC3E}">
        <p14:creationId xmlns:p14="http://schemas.microsoft.com/office/powerpoint/2010/main" val="2035128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L'application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CRM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existante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repose sur le framework </a:t>
            </a:r>
            <a:r>
              <a:rPr lang="en-US" sz="12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Ruby on Rails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avec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architecture MVC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classique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PostgreSQL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système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gestion de base de données.</a:t>
            </a:r>
            <a:endParaRPr lang="en-US" sz="12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5995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CAE18-7AC8-AB27-CFB5-6CAA2B3F0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A6D8EA-FD62-CFBB-7CE3-98BDF30BD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1B2E84A-AA0D-690D-9BDA-ABF17A8CB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L'application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CRM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existante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repose sur le framework </a:t>
            </a:r>
            <a:r>
              <a:rPr lang="en-US" sz="12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Ruby on Rails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avec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architecture MVC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classique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PostgreSQL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système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gestion de base de données.</a:t>
            </a:r>
            <a:endParaRPr lang="en-US" sz="1200" dirty="0"/>
          </a:p>
          <a:p>
            <a:endParaRPr lang="fr-FR" dirty="0"/>
          </a:p>
          <a:p>
            <a:r>
              <a:rPr lang="fr-FR" dirty="0" err="1"/>
              <a:t>Dynamic_schema_klasses</a:t>
            </a:r>
            <a:r>
              <a:rPr lang="fr-FR" dirty="0"/>
              <a:t> : contient les informations sur les tables dynamiques. </a:t>
            </a:r>
          </a:p>
          <a:p>
            <a:r>
              <a:rPr lang="fr-FR" dirty="0"/>
              <a:t>• </a:t>
            </a:r>
            <a:r>
              <a:rPr lang="fr-FR" dirty="0" err="1"/>
              <a:t>Dynamic_schema</a:t>
            </a:r>
            <a:r>
              <a:rPr lang="fr-FR" dirty="0"/>
              <a:t> : contient les informations sur les schémas des tables</a:t>
            </a:r>
          </a:p>
          <a:p>
            <a:r>
              <a:rPr lang="fr-FR" dirty="0"/>
              <a:t>. • </a:t>
            </a:r>
            <a:r>
              <a:rPr lang="fr-FR" dirty="0" err="1"/>
              <a:t>Dynamic_schema_attributes</a:t>
            </a:r>
            <a:r>
              <a:rPr lang="fr-FR" dirty="0"/>
              <a:t> : contient les attributs des tables dynamiques.</a:t>
            </a:r>
          </a:p>
          <a:p>
            <a:endParaRPr lang="fr-FR" dirty="0"/>
          </a:p>
          <a:p>
            <a:r>
              <a:rPr lang="fr-FR" dirty="0"/>
              <a:t>Les colonnes des tables dynamiques sont nommées de manière générique pour faciliter l’extension du CRM : • Strings : s0, s1, s2 … • </a:t>
            </a:r>
            <a:r>
              <a:rPr lang="fr-FR" dirty="0" err="1"/>
              <a:t>Floats</a:t>
            </a:r>
            <a:r>
              <a:rPr lang="fr-FR" dirty="0"/>
              <a:t> : f0, f1, f2 … • </a:t>
            </a:r>
            <a:r>
              <a:rPr lang="fr-FR" dirty="0" err="1"/>
              <a:t>Enums</a:t>
            </a:r>
            <a:r>
              <a:rPr lang="fr-FR" dirty="0"/>
              <a:t> : e0, e1, e2 … • Et ainsi de suite </a:t>
            </a:r>
          </a:p>
        </p:txBody>
      </p:sp>
    </p:spTree>
    <p:extLst>
      <p:ext uri="{BB962C8B-B14F-4D97-AF65-F5344CB8AC3E}">
        <p14:creationId xmlns:p14="http://schemas.microsoft.com/office/powerpoint/2010/main" val="3127608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4C69-8C74-2B4C-C61A-B68B7E52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3728C51-C6B8-1E1E-56B1-2BD04A89E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728D5D5-0253-9DE7-AC99-A2C133E28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L'application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CRM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existante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repose sur le framework </a:t>
            </a:r>
            <a:r>
              <a:rPr lang="en-US" sz="12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Ruby on Rails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avec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architecture MVC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classique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PostgreSQL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système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gestion de base de données.</a:t>
            </a:r>
            <a:endParaRPr lang="en-US" sz="1200" dirty="0"/>
          </a:p>
          <a:p>
            <a:endParaRPr lang="fr-FR" dirty="0"/>
          </a:p>
          <a:p>
            <a:r>
              <a:rPr lang="fr-FR" dirty="0" err="1"/>
              <a:t>Dynamic_schema_klasses</a:t>
            </a:r>
            <a:r>
              <a:rPr lang="fr-FR" dirty="0"/>
              <a:t> : contient les informations sur les tables dynamiques. </a:t>
            </a:r>
          </a:p>
          <a:p>
            <a:r>
              <a:rPr lang="fr-FR" dirty="0"/>
              <a:t>• </a:t>
            </a:r>
            <a:r>
              <a:rPr lang="fr-FR" dirty="0" err="1"/>
              <a:t>Dynamic_schema</a:t>
            </a:r>
            <a:r>
              <a:rPr lang="fr-FR" dirty="0"/>
              <a:t> : contient les informations sur les schémas des tables</a:t>
            </a:r>
          </a:p>
          <a:p>
            <a:r>
              <a:rPr lang="fr-FR" dirty="0"/>
              <a:t>. • </a:t>
            </a:r>
            <a:r>
              <a:rPr lang="fr-FR" dirty="0" err="1"/>
              <a:t>Dynamic_schema_attributes</a:t>
            </a:r>
            <a:r>
              <a:rPr lang="fr-FR" dirty="0"/>
              <a:t> : contient les attributs des tables dynamiques.</a:t>
            </a:r>
          </a:p>
          <a:p>
            <a:endParaRPr lang="fr-FR" dirty="0"/>
          </a:p>
          <a:p>
            <a:r>
              <a:rPr lang="fr-FR" dirty="0"/>
              <a:t>Les colonnes des tables dynamiques sont nommées de manière générique pour faciliter l’extension du CRM : • Strings : s0, s1, s2 … • </a:t>
            </a:r>
            <a:r>
              <a:rPr lang="fr-FR" dirty="0" err="1"/>
              <a:t>Floats</a:t>
            </a:r>
            <a:r>
              <a:rPr lang="fr-FR" dirty="0"/>
              <a:t> : f0, f1, f2 … • </a:t>
            </a:r>
            <a:r>
              <a:rPr lang="fr-FR" dirty="0" err="1"/>
              <a:t>Enums</a:t>
            </a:r>
            <a:r>
              <a:rPr lang="fr-FR" dirty="0"/>
              <a:t> : e0, e1, e2 … • Et ainsi de suite </a:t>
            </a:r>
          </a:p>
        </p:txBody>
      </p:sp>
    </p:spTree>
    <p:extLst>
      <p:ext uri="{BB962C8B-B14F-4D97-AF65-F5344CB8AC3E}">
        <p14:creationId xmlns:p14="http://schemas.microsoft.com/office/powerpoint/2010/main" val="4038995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La solution est de créer une application pour gérer les différents système.</a:t>
            </a:r>
          </a:p>
          <a:p>
            <a:r>
              <a:rPr lang="fr-FR" dirty="0"/>
              <a:t>Il aura pour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0828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Si l’application prenait 7 à 10 minutes avant pour faire l’import </a:t>
            </a:r>
          </a:p>
          <a:p>
            <a:r>
              <a:rPr lang="fr-FR" dirty="0"/>
              <a:t>Maintenant il prend 1 minutes  30 avec les 1000 lignes par exemple avec tout </a:t>
            </a:r>
            <a:r>
              <a:rPr lang="fr-FR"/>
              <a:t>les traitements</a:t>
            </a:r>
          </a:p>
        </p:txBody>
      </p:sp>
    </p:spTree>
    <p:extLst>
      <p:ext uri="{BB962C8B-B14F-4D97-AF65-F5344CB8AC3E}">
        <p14:creationId xmlns:p14="http://schemas.microsoft.com/office/powerpoint/2010/main" val="2855106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r>
              <a:rPr lang="fr-FR" b="1" dirty="0"/>
              <a:t>Objectif :</a:t>
            </a:r>
            <a:r>
              <a:rPr lang="fr-FR" dirty="0"/>
              <a:t> Rendre le système compatible avec des bases </a:t>
            </a:r>
            <a:r>
              <a:rPr lang="fr-FR" b="1" dirty="0"/>
              <a:t>NoSQL</a:t>
            </a:r>
            <a:r>
              <a:rPr lang="fr-FR" dirty="0"/>
              <a:t> (MongoDB, Cassandra, etc.) en plus des bases </a:t>
            </a:r>
            <a:r>
              <a:rPr lang="fr-FR" b="1" dirty="0"/>
              <a:t>SQL</a:t>
            </a:r>
            <a:r>
              <a:rPr lang="fr-FR" dirty="0"/>
              <a:t> (PostgreSQL, MySQL…).</a:t>
            </a:r>
          </a:p>
          <a:p>
            <a:r>
              <a:rPr lang="fr-FR" b="1" dirty="0"/>
              <a:t>Intérêt :</a:t>
            </a:r>
            <a:r>
              <a:rPr lang="fr-FR" dirty="0"/>
              <a:t> Offrir une </a:t>
            </a:r>
            <a:r>
              <a:rPr lang="fr-FR" b="1" dirty="0"/>
              <a:t>interopérabilité universelle</a:t>
            </a:r>
            <a:r>
              <a:rPr lang="fr-FR" dirty="0"/>
              <a:t>, quel que soit l’environnement des clients.</a:t>
            </a:r>
          </a:p>
          <a:p>
            <a:r>
              <a:rPr lang="fr-FR" b="1" dirty="0"/>
              <a:t>Impact :</a:t>
            </a:r>
            <a:r>
              <a:rPr lang="fr-FR" dirty="0"/>
              <a:t> Réduction des coûts d’intégration et amélioration de la portabilité.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2278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Le projet </a:t>
            </a:r>
            <a:r>
              <a:rPr lang="fr-FR" b="1" dirty="0"/>
              <a:t>Mapping Intelligente</a:t>
            </a:r>
            <a:r>
              <a:rPr lang="fr-FR" dirty="0"/>
              <a:t> apporte une réponse concrète aux défis d’automatisation et de fiabilité des processus d’importation de données.</a:t>
            </a:r>
            <a:br>
              <a:rPr lang="fr-FR" dirty="0"/>
            </a:br>
            <a:r>
              <a:rPr lang="fr-FR" dirty="0"/>
              <a:t>Grâce à la combinaison de </a:t>
            </a:r>
            <a:r>
              <a:rPr lang="fr-FR" b="1" dirty="0"/>
              <a:t>Spark</a:t>
            </a:r>
            <a:r>
              <a:rPr lang="fr-FR" dirty="0"/>
              <a:t>, du </a:t>
            </a:r>
            <a:r>
              <a:rPr lang="fr-FR" b="1" dirty="0"/>
              <a:t>NLP</a:t>
            </a:r>
            <a:r>
              <a:rPr lang="fr-FR" dirty="0"/>
              <a:t> et des </a:t>
            </a:r>
            <a:r>
              <a:rPr lang="fr-FR" b="1" dirty="0"/>
              <a:t>LLM</a:t>
            </a:r>
            <a:r>
              <a:rPr lang="fr-FR" dirty="0"/>
              <a:t>, le système offre :</a:t>
            </a:r>
          </a:p>
          <a:p>
            <a:r>
              <a:rPr lang="fr-FR" dirty="0"/>
              <a:t>une </a:t>
            </a:r>
            <a:r>
              <a:rPr lang="fr-FR" b="1" dirty="0"/>
              <a:t>automatisation complète</a:t>
            </a:r>
            <a:r>
              <a:rPr lang="fr-FR" dirty="0"/>
              <a:t> du mapping entre différents formats de fichiers,</a:t>
            </a:r>
          </a:p>
          <a:p>
            <a:r>
              <a:rPr lang="fr-FR" dirty="0"/>
              <a:t>une </a:t>
            </a:r>
            <a:r>
              <a:rPr lang="fr-FR" b="1" dirty="0"/>
              <a:t>réduction significative du temps de traitement</a:t>
            </a:r>
            <a:r>
              <a:rPr lang="fr-FR" dirty="0"/>
              <a:t>,</a:t>
            </a:r>
          </a:p>
          <a:p>
            <a:r>
              <a:rPr lang="fr-FR" dirty="0"/>
              <a:t>et une </a:t>
            </a:r>
            <a:r>
              <a:rPr lang="fr-FR" b="1" dirty="0"/>
              <a:t>garantie de cohérence et de qualité</a:t>
            </a:r>
            <a:r>
              <a:rPr lang="fr-FR" dirty="0"/>
              <a:t> des données à travers toutes les plateformes.</a:t>
            </a:r>
          </a:p>
          <a:p>
            <a:r>
              <a:rPr lang="fr-FR" dirty="0"/>
              <a:t>Ce projet illustre l’importance de l’intelligence artificielle dans la </a:t>
            </a:r>
            <a:r>
              <a:rPr lang="fr-FR" b="1" dirty="0"/>
              <a:t>transformation digitale</a:t>
            </a:r>
            <a:r>
              <a:rPr lang="fr-FR" dirty="0"/>
              <a:t> des entreprises, en rendant les systèmes d’information plus </a:t>
            </a:r>
            <a:r>
              <a:rPr lang="fr-FR" b="1" dirty="0"/>
              <a:t>autonomes, rapides et évolutifs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Il constitue une base solide pour des développements futurs intégrant davantage d’intelligence et d’interopérabilité entre les systèmes.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2910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C07FB-AAF8-E545-C404-6562D7D62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351292-370F-AB4D-9B1A-8AD02C1C1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46638" y="1028700"/>
            <a:ext cx="4937125" cy="2776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F4A9DBE-F6A4-9DBE-8121-0DD3A44EF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911" y="3960317"/>
            <a:ext cx="11706578" cy="3240583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Le projet </a:t>
            </a:r>
            <a:r>
              <a:rPr lang="fr-FR" b="1" dirty="0"/>
              <a:t>Mapping Intelligente</a:t>
            </a:r>
            <a:r>
              <a:rPr lang="fr-FR" dirty="0"/>
              <a:t> apporte une réponse concrète aux défis d’automatisation et de fiabilité des processus d’importation de données.</a:t>
            </a:r>
            <a:br>
              <a:rPr lang="fr-FR" dirty="0"/>
            </a:br>
            <a:r>
              <a:rPr lang="fr-FR" dirty="0"/>
              <a:t>Grâce à la combinaison de </a:t>
            </a:r>
            <a:r>
              <a:rPr lang="fr-FR" b="1" dirty="0"/>
              <a:t>Spark</a:t>
            </a:r>
            <a:r>
              <a:rPr lang="fr-FR" dirty="0"/>
              <a:t>, du </a:t>
            </a:r>
            <a:r>
              <a:rPr lang="fr-FR" b="1" dirty="0"/>
              <a:t>NLP</a:t>
            </a:r>
            <a:r>
              <a:rPr lang="fr-FR" dirty="0"/>
              <a:t> et des </a:t>
            </a:r>
            <a:r>
              <a:rPr lang="fr-FR" b="1" dirty="0"/>
              <a:t>LLM</a:t>
            </a:r>
            <a:r>
              <a:rPr lang="fr-FR" dirty="0"/>
              <a:t>, le système offre :</a:t>
            </a:r>
          </a:p>
          <a:p>
            <a:r>
              <a:rPr lang="fr-FR" dirty="0"/>
              <a:t>une </a:t>
            </a:r>
            <a:r>
              <a:rPr lang="fr-FR" b="1" dirty="0"/>
              <a:t>automatisation complète</a:t>
            </a:r>
            <a:r>
              <a:rPr lang="fr-FR" dirty="0"/>
              <a:t> du mapping entre différents formats de fichiers,</a:t>
            </a:r>
          </a:p>
          <a:p>
            <a:r>
              <a:rPr lang="fr-FR" dirty="0"/>
              <a:t>une </a:t>
            </a:r>
            <a:r>
              <a:rPr lang="fr-FR" b="1" dirty="0"/>
              <a:t>réduction significative du temps de traitement</a:t>
            </a:r>
            <a:r>
              <a:rPr lang="fr-FR" dirty="0"/>
              <a:t>,</a:t>
            </a:r>
          </a:p>
          <a:p>
            <a:r>
              <a:rPr lang="fr-FR" dirty="0"/>
              <a:t>et une </a:t>
            </a:r>
            <a:r>
              <a:rPr lang="fr-FR" b="1" dirty="0"/>
              <a:t>garantie de cohérence et de qualité</a:t>
            </a:r>
            <a:r>
              <a:rPr lang="fr-FR" dirty="0"/>
              <a:t> des données à travers toutes les plateformes.</a:t>
            </a:r>
          </a:p>
          <a:p>
            <a:r>
              <a:rPr lang="fr-FR" dirty="0"/>
              <a:t>Ce projet illustre l’importance de l’intelligence artificielle dans la </a:t>
            </a:r>
            <a:r>
              <a:rPr lang="fr-FR" b="1" dirty="0"/>
              <a:t>transformation digitale</a:t>
            </a:r>
            <a:r>
              <a:rPr lang="fr-FR" dirty="0"/>
              <a:t> des entreprises, en rendant les systèmes d’information plus </a:t>
            </a:r>
            <a:r>
              <a:rPr lang="fr-FR" b="1" dirty="0"/>
              <a:t>autonomes, rapides et évolutifs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Il constitue une base solide pour des développements futurs intégrant davantage d’intelligence et d’interopérabilité entre les systèmes.</a:t>
            </a:r>
          </a:p>
          <a:p>
            <a:endParaRPr lang="fr-FR" dirty="0"/>
          </a:p>
          <a:p>
            <a:r>
              <a:rPr lang="fr-FR" dirty="0"/>
              <a:t>Merci à l’ITU et université code d’azure de m’avoir donnée cette </a:t>
            </a:r>
            <a:r>
              <a:rPr lang="fr-FR" dirty="0" err="1"/>
              <a:t>oportunité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957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762C1-547F-4035-86D6-F410CD7B2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962160" y="1668190"/>
            <a:ext cx="13193760" cy="246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146280" rIns="146280" bIns="146280" anchor="b" anchorCtr="0">
            <a:normAutofit/>
          </a:bodyPr>
          <a:lstStyle/>
          <a:p>
            <a:pPr>
              <a:lnSpc>
                <a:spcPts val="5550"/>
              </a:lnSpc>
            </a:pPr>
            <a:r>
              <a:rPr lang="en-US" sz="7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		</a:t>
            </a:r>
            <a:r>
              <a:rPr lang="en-US" sz="7200" i="1" dirty="0">
                <a:solidFill>
                  <a:srgbClr val="345DA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Mapping </a:t>
            </a:r>
            <a:r>
              <a:rPr lang="en-US" sz="7200" i="1" dirty="0" err="1">
                <a:solidFill>
                  <a:srgbClr val="345DA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Intelligente</a:t>
            </a:r>
            <a:endParaRPr lang="en-US" sz="7200" i="1" dirty="0">
              <a:solidFill>
                <a:srgbClr val="345DA6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43840" y="5165040"/>
            <a:ext cx="14630400" cy="133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80" tIns="146280" rIns="146280" bIns="146280" anchor="t" anchorCtr="0">
            <a:noAutofit/>
          </a:bodyPr>
          <a:lstStyle/>
          <a:p>
            <a:pPr algn="ctr"/>
            <a:r>
              <a:rPr lang="en-US" sz="2880" i="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Octobre 2025</a:t>
            </a:r>
            <a:endParaRPr sz="2880" i="1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endParaRPr sz="288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en-US" sz="288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Présenté par: </a:t>
            </a:r>
            <a:r>
              <a:rPr lang="en-US" sz="2880" i="1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RAMAMONJISOANIAINA Hasina </a:t>
            </a:r>
            <a:r>
              <a:rPr lang="en-US" sz="2880" i="1" dirty="0" err="1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Fitiavana</a:t>
            </a:r>
            <a:endParaRPr sz="2880" i="1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718121" y="409670"/>
            <a:ext cx="9887061" cy="775841"/>
            <a:chOff x="448825" y="315165"/>
            <a:chExt cx="6179413" cy="484900"/>
          </a:xfrm>
        </p:grpSpPr>
        <p:pic>
          <p:nvPicPr>
            <p:cNvPr id="92" name="Google Shape;92;p1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48825" y="388704"/>
              <a:ext cx="1381375" cy="3378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863263" y="315165"/>
              <a:ext cx="1268646" cy="48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3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5099063" y="437865"/>
              <a:ext cx="1529175" cy="23957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0C54EB69-252F-2F65-997A-345FFD7C35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2628" y="668346"/>
            <a:ext cx="138874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C69094-9F53-C756-AB4B-38C09EB6F5F4}"/>
              </a:ext>
            </a:extLst>
          </p:cNvPr>
          <p:cNvSpPr/>
          <p:nvPr/>
        </p:nvSpPr>
        <p:spPr>
          <a:xfrm>
            <a:off x="676989" y="973295"/>
            <a:ext cx="6100524" cy="60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Présentation de l'entreprise</a:t>
            </a:r>
            <a:endParaRPr lang="en-US" sz="3800" dirty="0">
              <a:solidFill>
                <a:schemeClr val="accent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57FCA37-D720-8B76-3FF7-BA11B8069B42}"/>
              </a:ext>
            </a:extLst>
          </p:cNvPr>
          <p:cNvSpPr/>
          <p:nvPr/>
        </p:nvSpPr>
        <p:spPr>
          <a:xfrm>
            <a:off x="676989" y="5329237"/>
            <a:ext cx="2417802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1B1B27"/>
                </a:solidFill>
                <a:ea typeface="Raleway" pitchFamily="34" charset="-122"/>
                <a:cs typeface="Raleway" pitchFamily="34" charset="-120"/>
              </a:rPr>
              <a:t>Domaines d'expertise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1F4E4B-36C4-539D-751C-AA0BF266CEA6}"/>
              </a:ext>
            </a:extLst>
          </p:cNvPr>
          <p:cNvSpPr/>
          <p:nvPr/>
        </p:nvSpPr>
        <p:spPr>
          <a:xfrm>
            <a:off x="676989" y="5745948"/>
            <a:ext cx="7777043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Transformation digitale et innovation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CFA0EFD-0F02-ADCD-7B9F-44DBDD048AE5}"/>
              </a:ext>
            </a:extLst>
          </p:cNvPr>
          <p:cNvSpPr/>
          <p:nvPr/>
        </p:nvSpPr>
        <p:spPr>
          <a:xfrm>
            <a:off x="676989" y="6201965"/>
            <a:ext cx="7777043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Développement web et applications mobiles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EEF12C-6718-9E2F-0808-231BD20456AC}"/>
              </a:ext>
            </a:extLst>
          </p:cNvPr>
          <p:cNvSpPr/>
          <p:nvPr/>
        </p:nvSpPr>
        <p:spPr>
          <a:xfrm>
            <a:off x="676989" y="6579155"/>
            <a:ext cx="7777043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Intégration de systèmes et Business Intelligence</a:t>
            </a:r>
            <a:endParaRPr lang="en-US" sz="24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B9DC5D4-C860-A623-509E-B75BAAE48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17" y="1107868"/>
            <a:ext cx="5027295" cy="5027295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5C3E08BA-5E16-BD64-B094-EE06D8DB7711}"/>
              </a:ext>
            </a:extLst>
          </p:cNvPr>
          <p:cNvSpPr/>
          <p:nvPr/>
        </p:nvSpPr>
        <p:spPr>
          <a:xfrm>
            <a:off x="8933617" y="6258088"/>
            <a:ext cx="2417802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1B1B27"/>
                </a:solidFill>
                <a:ea typeface="Raleway" pitchFamily="34" charset="-122"/>
                <a:cs typeface="Raleway" pitchFamily="34" charset="-120"/>
              </a:rPr>
              <a:t>Effectif</a:t>
            </a:r>
            <a:endParaRPr lang="en-US" sz="2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B48EE01-BF8C-8283-BEE1-5A8F6093E402}"/>
              </a:ext>
            </a:extLst>
          </p:cNvPr>
          <p:cNvSpPr/>
          <p:nvPr/>
        </p:nvSpPr>
        <p:spPr>
          <a:xfrm>
            <a:off x="8933617" y="6753626"/>
            <a:ext cx="502729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Plus de </a:t>
            </a:r>
            <a:r>
              <a:rPr lang="en-US" sz="2400" b="1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150 ingénieurs</a:t>
            </a:r>
            <a:r>
              <a:rPr lang="en-US" sz="24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spécialisés répartis sur nos différents sites</a:t>
            </a:r>
            <a:endParaRPr lang="en-US" sz="24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72253BEE-26CD-0534-FE6B-47832349B74A}"/>
              </a:ext>
            </a:extLst>
          </p:cNvPr>
          <p:cNvSpPr/>
          <p:nvPr/>
        </p:nvSpPr>
        <p:spPr>
          <a:xfrm>
            <a:off x="676989" y="2295883"/>
            <a:ext cx="1998343" cy="1125233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fr-FR" sz="2400" dirty="0"/>
              <a:t>ENTREPRISE DE    SERVICES NUMÉRIQUES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2E78BEDA-EFA8-C7CE-BF66-85C92D2F6CF0}"/>
              </a:ext>
            </a:extLst>
          </p:cNvPr>
          <p:cNvSpPr/>
          <p:nvPr/>
        </p:nvSpPr>
        <p:spPr>
          <a:xfrm>
            <a:off x="3258506" y="2228928"/>
            <a:ext cx="1998343" cy="1192188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 anchor="ctr"/>
          <a:lstStyle/>
          <a:p>
            <a:pPr algn="ctr"/>
            <a:r>
              <a:rPr lang="fr-FR" sz="2400" dirty="0"/>
              <a:t>Madagascar</a:t>
            </a: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676AA7EE-E6BC-DCB0-5508-2628BC6D33BA}"/>
              </a:ext>
            </a:extLst>
          </p:cNvPr>
          <p:cNvSpPr/>
          <p:nvPr/>
        </p:nvSpPr>
        <p:spPr>
          <a:xfrm>
            <a:off x="5840023" y="2295883"/>
            <a:ext cx="1998343" cy="1125231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 anchor="ctr"/>
          <a:lstStyle/>
          <a:p>
            <a:pPr algn="ctr"/>
            <a:r>
              <a:rPr lang="fr-FR" sz="2400" dirty="0"/>
              <a:t>1999</a:t>
            </a:r>
          </a:p>
        </p:txBody>
      </p:sp>
      <p:sp>
        <p:nvSpPr>
          <p:cNvPr id="16" name="Accolade fermante 15">
            <a:extLst>
              <a:ext uri="{FF2B5EF4-FFF2-40B4-BE49-F238E27FC236}">
                <a16:creationId xmlns:a16="http://schemas.microsoft.com/office/drawing/2014/main" id="{9711587F-69E6-BCBA-D8EA-FFD25F4486F7}"/>
              </a:ext>
            </a:extLst>
          </p:cNvPr>
          <p:cNvSpPr/>
          <p:nvPr/>
        </p:nvSpPr>
        <p:spPr>
          <a:xfrm rot="5400000">
            <a:off x="3890009" y="-440052"/>
            <a:ext cx="604480" cy="7777043"/>
          </a:xfrm>
          <a:prstGeom prst="rightBrace">
            <a:avLst>
              <a:gd name="adj1" fmla="val 8333"/>
              <a:gd name="adj2" fmla="val 463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01CDDF5A-4E19-2DCD-5875-693A6835E4CA}"/>
              </a:ext>
            </a:extLst>
          </p:cNvPr>
          <p:cNvSpPr/>
          <p:nvPr/>
        </p:nvSpPr>
        <p:spPr>
          <a:xfrm>
            <a:off x="3410906" y="4053718"/>
            <a:ext cx="1998343" cy="850346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2400" dirty="0" err="1">
                <a:solidFill>
                  <a:srgbClr val="1B1B27"/>
                </a:solidFill>
                <a:ea typeface="Raleway" pitchFamily="34" charset="-122"/>
                <a:cs typeface="Raleway" pitchFamily="34" charset="-120"/>
              </a:rPr>
              <a:t>Ingenosya</a:t>
            </a:r>
            <a:endParaRPr lang="fr-FR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C59C1-8D69-6BDA-4FE1-9B8C68DCF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7223"/>
            <a:ext cx="12958720" cy="66620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EA99E-24E7-E3F2-F231-91F5E139D892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EB7471-6536-7C6A-24EC-C078E21F484D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916B0B-1656-7ACF-BE8E-87A46226015D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56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0FB91-15FD-2BE8-236A-0B963778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DCD55A-8E52-091F-98AA-F88DDD86C4C8}"/>
              </a:ext>
            </a:extLst>
          </p:cNvPr>
          <p:cNvSpPr/>
          <p:nvPr/>
        </p:nvSpPr>
        <p:spPr>
          <a:xfrm>
            <a:off x="793790" y="17121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</a:rPr>
              <a:t>Question</a:t>
            </a:r>
            <a:endParaRPr lang="en-US" sz="3800" dirty="0">
              <a:solidFill>
                <a:schemeClr val="accent1"/>
              </a:solidFill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C75592C2-7F91-7D55-FC56-CF87F4BEC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4414004"/>
            <a:ext cx="283488" cy="226814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9B7EDBE4-0830-8610-FE75-5B801433B226}"/>
              </a:ext>
            </a:extLst>
          </p:cNvPr>
          <p:cNvSpPr/>
          <p:nvPr/>
        </p:nvSpPr>
        <p:spPr>
          <a:xfrm>
            <a:off x="3523817" y="3264454"/>
            <a:ext cx="2563173" cy="850346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 anchor="ctr"/>
          <a:lstStyle/>
          <a:p>
            <a:r>
              <a:rPr lang="fr-FR" sz="2400" dirty="0"/>
              <a:t>   Automatisation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3DD711BE-B3AA-9577-0B86-B87FC7CE37FE}"/>
              </a:ext>
            </a:extLst>
          </p:cNvPr>
          <p:cNvSpPr/>
          <p:nvPr/>
        </p:nvSpPr>
        <p:spPr>
          <a:xfrm>
            <a:off x="7190426" y="3264454"/>
            <a:ext cx="3656250" cy="850346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 anchor="ctr"/>
          <a:lstStyle/>
          <a:p>
            <a:r>
              <a:rPr lang="fr-FR" sz="2400" b="1" dirty="0"/>
              <a:t>        </a:t>
            </a:r>
            <a:r>
              <a:rPr lang="fr-FR" sz="2400" dirty="0"/>
              <a:t>Rapidité d’exécution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1C6CF7-D6EF-4CAB-CE6B-62291B330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42" y="1458"/>
            <a:ext cx="12958720" cy="6662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BA2771-9E64-3AB1-5F03-C9A3EDB40946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E19637-3E7E-69DD-BD22-FB6A39882065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AE4930A-89A6-6552-41D9-8BD7CF2089BC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232CA-C92D-5003-8F82-8D411711D113}"/>
              </a:ext>
            </a:extLst>
          </p:cNvPr>
          <p:cNvSpPr txBox="1"/>
          <p:nvPr/>
        </p:nvSpPr>
        <p:spPr>
          <a:xfrm>
            <a:off x="934223" y="4374366"/>
            <a:ext cx="12512406" cy="53290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 anchor="ctr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Quelle </a:t>
            </a:r>
            <a:r>
              <a:rPr lang="fr-FR" sz="28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serait la spécificité de la gestion des données d’une grande entreprise?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19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D04BD3F-FAC4-5646-0187-0B16753C3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6" y="567566"/>
            <a:ext cx="4745421" cy="711813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3A14651-DA85-489C-BC99-EEFE28079539}"/>
              </a:ext>
            </a:extLst>
          </p:cNvPr>
          <p:cNvSpPr/>
          <p:nvPr/>
        </p:nvSpPr>
        <p:spPr>
          <a:xfrm>
            <a:off x="6271498" y="618887"/>
            <a:ext cx="6970633" cy="700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3800" noProof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Contexte et problématique</a:t>
            </a:r>
            <a:endParaRPr lang="fr-FR" sz="3800" noProof="0" dirty="0">
              <a:solidFill>
                <a:schemeClr val="accent1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B7127DF-32EE-819E-9688-CA17A640BE77}"/>
              </a:ext>
            </a:extLst>
          </p:cNvPr>
          <p:cNvSpPr/>
          <p:nvPr/>
        </p:nvSpPr>
        <p:spPr>
          <a:xfrm>
            <a:off x="6503432" y="5332095"/>
            <a:ext cx="7109936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fr-FR" sz="175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F9DF49-0344-FDB3-5084-457A7700FB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458"/>
            <a:ext cx="12958720" cy="6662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DF8AB2-8553-917A-184B-ACB929E94DF9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08E1FC-1694-2736-4052-600D6B02616C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ED3C712-29B1-E652-09FB-0984D8AE80D5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70AFD2-01E2-6627-BEC2-AE691B391C19}"/>
              </a:ext>
            </a:extLst>
          </p:cNvPr>
          <p:cNvSpPr txBox="1"/>
          <p:nvPr/>
        </p:nvSpPr>
        <p:spPr>
          <a:xfrm>
            <a:off x="5552836" y="4600790"/>
            <a:ext cx="8709542" cy="259417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Besoin d'automatisation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Nécessité d'automatiser le mapping entre différents formats de fichiers et bases multisites</a:t>
            </a:r>
          </a:p>
          <a:p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55E2B9-96AE-6989-A4A5-457260DFD2F0}"/>
              </a:ext>
            </a:extLst>
          </p:cNvPr>
          <p:cNvSpPr txBox="1"/>
          <p:nvPr/>
        </p:nvSpPr>
        <p:spPr>
          <a:xfrm>
            <a:off x="10058400" y="1549113"/>
            <a:ext cx="4203978" cy="23409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Processus manuel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sz="1800" noProof="0" dirty="0"/>
          </a:p>
          <a:p>
            <a:endParaRPr lang="en-C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ED8805-2402-077A-8880-2F88A94C135D}"/>
              </a:ext>
            </a:extLst>
          </p:cNvPr>
          <p:cNvSpPr txBox="1"/>
          <p:nvPr/>
        </p:nvSpPr>
        <p:spPr>
          <a:xfrm>
            <a:off x="5552836" y="1523418"/>
            <a:ext cx="4203978" cy="233339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Plusieurs sites CRM avec différentes conceptions de base de données</a:t>
            </a:r>
          </a:p>
          <a:p>
            <a:endParaRPr lang="fr-FR" sz="1800" noProof="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1336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5CEE5BF-8D55-2984-1159-F25BF32EE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7657"/>
            <a:ext cx="14609374" cy="185482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F56E657-F419-1B45-D9E4-B8D15E2348A9}"/>
              </a:ext>
            </a:extLst>
          </p:cNvPr>
          <p:cNvSpPr/>
          <p:nvPr/>
        </p:nvSpPr>
        <p:spPr>
          <a:xfrm>
            <a:off x="793790" y="2752068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Objectifs du projet</a:t>
            </a:r>
            <a:endParaRPr lang="en-US" sz="3800" dirty="0">
              <a:solidFill>
                <a:schemeClr val="accent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9C4DA5-2446-442F-3696-35A7A0946F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7222"/>
            <a:ext cx="12958720" cy="66620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0166B6-68B6-18D3-46E0-3102E5F28A83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6F2B95-4972-9340-1E18-F21D4DD78865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D9D1CCD7-9DA0-9F36-2E9D-CAC2FFFA0852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5F00E-2343-0641-C80C-25460AAFBB1D}"/>
              </a:ext>
            </a:extLst>
          </p:cNvPr>
          <p:cNvSpPr txBox="1"/>
          <p:nvPr/>
        </p:nvSpPr>
        <p:spPr>
          <a:xfrm>
            <a:off x="520262" y="4158533"/>
            <a:ext cx="4203978" cy="311585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Système centralisé</a:t>
            </a:r>
            <a:endParaRPr lang="en-CA" sz="2800" b="1" i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Tout le monde peut prendre en charge l’import de fichier sans savoir la conception de la base de données</a:t>
            </a:r>
            <a:endParaRPr lang="fr-FR" dirty="0"/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CA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8427AC-581E-0999-1E72-94BD6F2CBFC8}"/>
              </a:ext>
            </a:extLst>
          </p:cNvPr>
          <p:cNvSpPr txBox="1"/>
          <p:nvPr/>
        </p:nvSpPr>
        <p:spPr>
          <a:xfrm>
            <a:off x="5276217" y="4169039"/>
            <a:ext cx="4203978" cy="289701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Automatisation complète</a:t>
            </a:r>
            <a:endParaRPr lang="en-CA" sz="2800" b="1" i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Correction automatique des données, mapping vers les tables et gestion des doublons</a:t>
            </a:r>
          </a:p>
          <a:p>
            <a:endParaRPr lang="fr-FR" sz="1800" noProof="0" dirty="0"/>
          </a:p>
          <a:p>
            <a:endParaRPr lang="en-C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39A9C6-D524-F7D3-6A67-6D993E146438}"/>
              </a:ext>
            </a:extLst>
          </p:cNvPr>
          <p:cNvSpPr txBox="1"/>
          <p:nvPr/>
        </p:nvSpPr>
        <p:spPr>
          <a:xfrm>
            <a:off x="9890254" y="4179546"/>
            <a:ext cx="4203978" cy="32921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Garanties de qualité</a:t>
            </a:r>
            <a:endParaRPr lang="en-CA" sz="2800" b="1" i="1" u="sng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Assurer une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optimale, une scalabilité et une cohérence des données importées</a:t>
            </a:r>
            <a:endParaRPr lang="en-CA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8373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AD62E-B6AA-0F10-5D2D-8B6EC325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A68758-BAFD-C08D-19E9-65529BA10E71}"/>
              </a:ext>
            </a:extLst>
          </p:cNvPr>
          <p:cNvSpPr/>
          <p:nvPr/>
        </p:nvSpPr>
        <p:spPr>
          <a:xfrm>
            <a:off x="793790" y="743982"/>
            <a:ext cx="512611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fr-FR" sz="3800" noProof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</a:t>
            </a:r>
            <a:endParaRPr lang="fr-FR" sz="3800" noProof="0" dirty="0">
              <a:solidFill>
                <a:schemeClr val="accent1"/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73BDFC6-BD2A-2292-916B-854E37B5B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907" y="1247893"/>
            <a:ext cx="907256" cy="10887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BBE9564-A4AC-6E0D-9C4C-95E4C57D3464}"/>
              </a:ext>
            </a:extLst>
          </p:cNvPr>
          <p:cNvSpPr/>
          <p:nvPr/>
        </p:nvSpPr>
        <p:spPr>
          <a:xfrm>
            <a:off x="7008614" y="165050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400" noProof="0" dirty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Etat de l’art</a:t>
            </a:r>
            <a:endParaRPr lang="fr-FR" sz="2400" noProof="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85530F9C-DDDF-739A-2D63-CBAEFEF8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907" y="2336600"/>
            <a:ext cx="907256" cy="108870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34481E1-9C91-5140-BC13-033505C3084D}"/>
              </a:ext>
            </a:extLst>
          </p:cNvPr>
          <p:cNvSpPr/>
          <p:nvPr/>
        </p:nvSpPr>
        <p:spPr>
          <a:xfrm>
            <a:off x="7008614" y="284222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400" noProof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Etude de l’existant</a:t>
            </a:r>
            <a:endParaRPr lang="fr-FR" sz="2400" noProof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804B8219-829B-76C9-87BA-D82327FEC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907" y="3425308"/>
            <a:ext cx="907256" cy="108870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6695C74D-EA39-0D75-4382-9BF13FF4429C}"/>
              </a:ext>
            </a:extLst>
          </p:cNvPr>
          <p:cNvSpPr/>
          <p:nvPr/>
        </p:nvSpPr>
        <p:spPr>
          <a:xfrm>
            <a:off x="7008614" y="386636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400" noProof="0" dirty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Solution proposée</a:t>
            </a:r>
            <a:endParaRPr lang="fr-FR" sz="2400" noProof="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94233526-CCBB-C19B-7E99-66039EE00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907" y="4546935"/>
            <a:ext cx="907256" cy="1088708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EB39F168-4E1A-02B0-B913-23C4832C2432}"/>
              </a:ext>
            </a:extLst>
          </p:cNvPr>
          <p:cNvSpPr/>
          <p:nvPr/>
        </p:nvSpPr>
        <p:spPr>
          <a:xfrm>
            <a:off x="7008614" y="472838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400" noProof="0" dirty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Fonctionnalités principales</a:t>
            </a:r>
            <a:endParaRPr lang="fr-FR" sz="2400" noProof="0" dirty="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E269A6BE-0277-9D45-F7B2-61BCD7407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907" y="5665052"/>
            <a:ext cx="907256" cy="1088708"/>
          </a:xfrm>
          <a:prstGeom prst="rect">
            <a:avLst/>
          </a:prstGeom>
        </p:spPr>
      </p:pic>
      <p:sp>
        <p:nvSpPr>
          <p:cNvPr id="21" name="Text 9">
            <a:extLst>
              <a:ext uri="{FF2B5EF4-FFF2-40B4-BE49-F238E27FC236}">
                <a16:creationId xmlns:a16="http://schemas.microsoft.com/office/drawing/2014/main" id="{5EA5493E-DDA9-ECAE-051D-F8001E0BFC4A}"/>
              </a:ext>
            </a:extLst>
          </p:cNvPr>
          <p:cNvSpPr/>
          <p:nvPr/>
        </p:nvSpPr>
        <p:spPr>
          <a:xfrm>
            <a:off x="7008614" y="606766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400" noProof="0" dirty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Démonstration</a:t>
            </a:r>
            <a:endParaRPr lang="fr-FR" sz="24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F2790-EE0C-D331-6099-8029CDAC01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458"/>
            <a:ext cx="12958720" cy="66620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748F57-7C06-1CAB-D9D1-92A545D5FC44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880DED-8E87-AAAC-F31C-A25227EDEBA4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340139A6-5F5A-A5F2-FA23-63BC2F00ACFE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64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6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052A56-32C0-803E-3DB8-B04782E4C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4630400" cy="526830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20">
            <a:extLst>
              <a:ext uri="{FF2B5EF4-FFF2-40B4-BE49-F238E27FC236}">
                <a16:creationId xmlns:a16="http://schemas.microsoft.com/office/drawing/2014/main" id="{5EC53B0B-D220-96BE-0854-4B82EE675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8169" y="5773820"/>
            <a:ext cx="884327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au 2">
            <a:extLst>
              <a:ext uri="{FF2B5EF4-FFF2-40B4-BE49-F238E27FC236}">
                <a16:creationId xmlns:a16="http://schemas.microsoft.com/office/drawing/2014/main" id="{A1460415-9E85-E11D-C9EC-42CCF1170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36265"/>
              </p:ext>
            </p:extLst>
          </p:nvPr>
        </p:nvGraphicFramePr>
        <p:xfrm>
          <a:off x="1038169" y="2843529"/>
          <a:ext cx="12586392" cy="3448080"/>
        </p:xfrm>
        <a:graphic>
          <a:graphicData uri="http://schemas.openxmlformats.org/drawingml/2006/table">
            <a:tbl>
              <a:tblPr/>
              <a:tblGrid>
                <a:gridCol w="2945547">
                  <a:extLst>
                    <a:ext uri="{9D8B030D-6E8A-4147-A177-3AD203B41FA5}">
                      <a16:colId xmlns:a16="http://schemas.microsoft.com/office/drawing/2014/main" val="2495979420"/>
                    </a:ext>
                  </a:extLst>
                </a:gridCol>
                <a:gridCol w="4801947">
                  <a:extLst>
                    <a:ext uri="{9D8B030D-6E8A-4147-A177-3AD203B41FA5}">
                      <a16:colId xmlns:a16="http://schemas.microsoft.com/office/drawing/2014/main" val="2501993733"/>
                    </a:ext>
                  </a:extLst>
                </a:gridCol>
                <a:gridCol w="4838898">
                  <a:extLst>
                    <a:ext uri="{9D8B030D-6E8A-4147-A177-3AD203B41FA5}">
                      <a16:colId xmlns:a16="http://schemas.microsoft.com/office/drawing/2014/main" val="3709538169"/>
                    </a:ext>
                  </a:extLst>
                </a:gridCol>
              </a:tblGrid>
              <a:tr h="459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i="1" dirty="0"/>
                        <a:t>Technologie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i="1"/>
                        <a:t>Points forts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i="1" dirty="0"/>
                        <a:t>Limites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573828"/>
                  </a:ext>
                </a:extLst>
              </a:tr>
              <a:tr h="772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NLP</a:t>
                      </a:r>
                      <a:endParaRPr lang="fr-FR" sz="2400" dirty="0"/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Compréhension sémantique des noms de colonnes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Lourd à exécuter sur gros volume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657341"/>
                  </a:ext>
                </a:extLst>
              </a:tr>
              <a:tr h="772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LLM</a:t>
                      </a:r>
                      <a:endParaRPr lang="fr-FR" sz="2400" dirty="0"/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Génération de texte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Nécessite un encadrement et des prompts précis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892136"/>
                  </a:ext>
                </a:extLst>
              </a:tr>
              <a:tr h="772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Talend</a:t>
                      </a:r>
                      <a:endParaRPr lang="fr-FR" sz="2400" dirty="0"/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ETL puissant, interface graphique intuitive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Payant, peu flexible pour le Big Data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727496"/>
                  </a:ext>
                </a:extLst>
              </a:tr>
              <a:tr h="459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Informatica</a:t>
                      </a:r>
                      <a:endParaRPr lang="fr-FR" sz="2400" dirty="0"/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Très complet et stable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Coût élevé, complexité d’intégration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303975"/>
                  </a:ext>
                </a:extLst>
              </a:tr>
            </a:tbl>
          </a:graphicData>
        </a:graphic>
      </p:graphicFrame>
      <p:graphicFrame>
        <p:nvGraphicFramePr>
          <p:cNvPr id="7" name="Tableau 4">
            <a:extLst>
              <a:ext uri="{FF2B5EF4-FFF2-40B4-BE49-F238E27FC236}">
                <a16:creationId xmlns:a16="http://schemas.microsoft.com/office/drawing/2014/main" id="{652692A6-AD48-67DE-B743-C81DC22E4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16572"/>
              </p:ext>
            </p:extLst>
          </p:nvPr>
        </p:nvGraphicFramePr>
        <p:xfrm>
          <a:off x="1024763" y="6312957"/>
          <a:ext cx="12586392" cy="835920"/>
        </p:xfrm>
        <a:graphic>
          <a:graphicData uri="http://schemas.openxmlformats.org/drawingml/2006/table">
            <a:tbl>
              <a:tblPr/>
              <a:tblGrid>
                <a:gridCol w="2945547">
                  <a:extLst>
                    <a:ext uri="{9D8B030D-6E8A-4147-A177-3AD203B41FA5}">
                      <a16:colId xmlns:a16="http://schemas.microsoft.com/office/drawing/2014/main" val="3062845455"/>
                    </a:ext>
                  </a:extLst>
                </a:gridCol>
                <a:gridCol w="4801947">
                  <a:extLst>
                    <a:ext uri="{9D8B030D-6E8A-4147-A177-3AD203B41FA5}">
                      <a16:colId xmlns:a16="http://schemas.microsoft.com/office/drawing/2014/main" val="238445369"/>
                    </a:ext>
                  </a:extLst>
                </a:gridCol>
                <a:gridCol w="4838898">
                  <a:extLst>
                    <a:ext uri="{9D8B030D-6E8A-4147-A177-3AD203B41FA5}">
                      <a16:colId xmlns:a16="http://schemas.microsoft.com/office/drawing/2014/main" val="3842494956"/>
                    </a:ext>
                  </a:extLst>
                </a:gridCol>
              </a:tblGrid>
              <a:tr h="772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b="1" dirty="0"/>
                        <a:t>Apache Spark</a:t>
                      </a:r>
                      <a:endParaRPr lang="fr-FR" sz="2400" dirty="0"/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Traitement distribué, Big Data, très rapide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 dirty="0"/>
                        <a:t>Ne comprend pas la sémantique des données</a:t>
                      </a:r>
                    </a:p>
                  </a:txBody>
                  <a:tcPr marL="104401" marR="104401" marT="52200" marB="52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90045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2AA0E05-4AFF-E170-5E0A-66679E6E4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453"/>
            <a:ext cx="12958720" cy="66620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5D05D5-60DB-B35A-DCB6-230E75C1A69A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237446-0105-5072-CEB7-EA78B351AEFE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B55E37C-D117-F9C2-988F-1B9A8335A136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C7EED247-AA8F-854D-A9FD-9EF8C9AE1480}"/>
              </a:ext>
            </a:extLst>
          </p:cNvPr>
          <p:cNvSpPr/>
          <p:nvPr/>
        </p:nvSpPr>
        <p:spPr>
          <a:xfrm>
            <a:off x="793790" y="8702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État de l'art</a:t>
            </a:r>
            <a:endParaRPr lang="en-US" sz="3800" dirty="0">
              <a:solidFill>
                <a:schemeClr val="accent1"/>
              </a:solidFill>
            </a:endParaRPr>
          </a:p>
        </p:txBody>
      </p:sp>
      <p:sp>
        <p:nvSpPr>
          <p:cNvPr id="13" name="ZoneTexte 13">
            <a:extLst>
              <a:ext uri="{FF2B5EF4-FFF2-40B4-BE49-F238E27FC236}">
                <a16:creationId xmlns:a16="http://schemas.microsoft.com/office/drawing/2014/main" id="{91064B47-3C4E-AC73-94C7-1867F29C7DB6}"/>
              </a:ext>
            </a:extLst>
          </p:cNvPr>
          <p:cNvSpPr txBox="1"/>
          <p:nvPr/>
        </p:nvSpPr>
        <p:spPr>
          <a:xfrm>
            <a:off x="793790" y="1785774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Critères de comparaison</a:t>
            </a:r>
          </a:p>
        </p:txBody>
      </p:sp>
    </p:spTree>
    <p:extLst>
      <p:ext uri="{BB962C8B-B14F-4D97-AF65-F5344CB8AC3E}">
        <p14:creationId xmlns:p14="http://schemas.microsoft.com/office/powerpoint/2010/main" val="102099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C2CF53-3413-7DCA-9CDE-563394E59BAE}"/>
              </a:ext>
            </a:extLst>
          </p:cNvPr>
          <p:cNvSpPr/>
          <p:nvPr/>
        </p:nvSpPr>
        <p:spPr>
          <a:xfrm>
            <a:off x="793790" y="8702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État de l'art</a:t>
            </a:r>
            <a:endParaRPr lang="en-US" sz="3800" dirty="0">
              <a:solidFill>
                <a:schemeClr val="accent1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752C915-C5BE-1586-6967-608D387BBB80}"/>
              </a:ext>
            </a:extLst>
          </p:cNvPr>
          <p:cNvSpPr txBox="1"/>
          <p:nvPr/>
        </p:nvSpPr>
        <p:spPr>
          <a:xfrm>
            <a:off x="793790" y="1785774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Critères de comparaison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B87457-7C9E-567D-F881-A396E2150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458"/>
            <a:ext cx="12958720" cy="66620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9D2F76-408A-7DF8-83E3-015203CE067E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F93A91-0291-6D64-1629-70F93C486D5C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4D1DB6FF-216E-8B1C-C192-BCD16578FC00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87DBEB-F8FB-D6F4-532C-5E6D6D700745}"/>
              </a:ext>
            </a:extLst>
          </p:cNvPr>
          <p:cNvSpPr txBox="1"/>
          <p:nvPr/>
        </p:nvSpPr>
        <p:spPr>
          <a:xfrm>
            <a:off x="1087974" y="2925414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Formats supportés (CSV, JSON, Excel)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789B08-F9F6-851A-6714-B76F17F9E459}"/>
              </a:ext>
            </a:extLst>
          </p:cNvPr>
          <p:cNvSpPr txBox="1"/>
          <p:nvPr/>
        </p:nvSpPr>
        <p:spPr>
          <a:xfrm>
            <a:off x="1087974" y="4404664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CA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Scalabilité</a:t>
            </a:r>
            <a:endParaRPr lang="en-CA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5B6ECF-0782-2AB9-F69E-F033B0656CF8}"/>
              </a:ext>
            </a:extLst>
          </p:cNvPr>
          <p:cNvSpPr txBox="1"/>
          <p:nvPr/>
        </p:nvSpPr>
        <p:spPr>
          <a:xfrm>
            <a:off x="1072209" y="5818297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</a:t>
            </a:r>
            <a:endParaRPr lang="fr-FR" sz="1800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008105-C493-7141-EC7B-CB15E144C977}"/>
              </a:ext>
            </a:extLst>
          </p:cNvPr>
          <p:cNvSpPr txBox="1"/>
          <p:nvPr/>
        </p:nvSpPr>
        <p:spPr>
          <a:xfrm>
            <a:off x="7709340" y="2925414"/>
            <a:ext cx="5848852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Compréhension sémantique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1F4A2F-016D-9A4F-869D-5A85A83487CD}"/>
              </a:ext>
            </a:extLst>
          </p:cNvPr>
          <p:cNvSpPr txBox="1"/>
          <p:nvPr/>
        </p:nvSpPr>
        <p:spPr>
          <a:xfrm>
            <a:off x="7761730" y="4395360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Facilité d’Intégration via API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66D6EE-90E0-C9AD-77D6-8CE0AD8A6104}"/>
              </a:ext>
            </a:extLst>
          </p:cNvPr>
          <p:cNvSpPr txBox="1"/>
          <p:nvPr/>
        </p:nvSpPr>
        <p:spPr>
          <a:xfrm>
            <a:off x="7761730" y="5818297"/>
            <a:ext cx="5796462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Coût </a:t>
            </a:r>
          </a:p>
        </p:txBody>
      </p:sp>
    </p:spTree>
    <p:extLst>
      <p:ext uri="{BB962C8B-B14F-4D97-AF65-F5344CB8AC3E}">
        <p14:creationId xmlns:p14="http://schemas.microsoft.com/office/powerpoint/2010/main" val="154691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FACB-321F-AF08-8B8D-0638FB5FD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193B40-07F3-1BAF-229E-3DE947CF6705}"/>
              </a:ext>
            </a:extLst>
          </p:cNvPr>
          <p:cNvSpPr/>
          <p:nvPr/>
        </p:nvSpPr>
        <p:spPr>
          <a:xfrm>
            <a:off x="725964" y="6633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fr-FR" sz="3800" noProof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État de l'art</a:t>
            </a:r>
            <a:endParaRPr lang="fr-FR" sz="3800" noProof="0" dirty="0">
              <a:solidFill>
                <a:schemeClr val="accent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D69A96-1E66-FE4A-E051-293E295971F4}"/>
              </a:ext>
            </a:extLst>
          </p:cNvPr>
          <p:cNvSpPr/>
          <p:nvPr/>
        </p:nvSpPr>
        <p:spPr>
          <a:xfrm>
            <a:off x="510002" y="1411058"/>
            <a:ext cx="13042821" cy="877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fr-FR" sz="2400" noProof="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Une analyse approfondie de trois technologies de pointe gratuites a été réalisée pour identifier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fr-FR" sz="2400" noProof="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la meilleure approche technique</a:t>
            </a:r>
            <a:r>
              <a:rPr lang="fr-FR" sz="1750" noProof="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fr-FR" sz="1750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F149BA1-A651-5326-6583-5D65FD7C0EFF}"/>
              </a:ext>
            </a:extLst>
          </p:cNvPr>
          <p:cNvSpPr/>
          <p:nvPr/>
        </p:nvSpPr>
        <p:spPr>
          <a:xfrm>
            <a:off x="793790" y="6010583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9AD34D22-B0B6-1C2E-F541-DAEE72D71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534858"/>
            <a:ext cx="283488" cy="226814"/>
          </a:xfrm>
          <a:prstGeom prst="rect">
            <a:avLst/>
          </a:prstGeom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4C5FAEC9-E16A-6A24-FD56-51AC4531AD19}"/>
              </a:ext>
            </a:extLst>
          </p:cNvPr>
          <p:cNvSpPr/>
          <p:nvPr/>
        </p:nvSpPr>
        <p:spPr>
          <a:xfrm>
            <a:off x="1530906" y="6294071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fr-FR" sz="2400" b="1" noProof="0" dirty="0">
                <a:solidFill>
                  <a:srgbClr val="000000"/>
                </a:solidFill>
                <a:ea typeface="Roboto" pitchFamily="34" charset="-122"/>
                <a:cs typeface="Roboto" pitchFamily="34" charset="-120"/>
              </a:rPr>
              <a:t>Choix technologique :</a:t>
            </a:r>
            <a:r>
              <a:rPr lang="fr-FR" sz="2400" noProof="0" dirty="0">
                <a:solidFill>
                  <a:srgbClr val="000000"/>
                </a:solidFill>
                <a:ea typeface="Roboto" pitchFamily="34" charset="-122"/>
                <a:cs typeface="Roboto" pitchFamily="34" charset="-120"/>
              </a:rPr>
              <a:t> Une combinaison synergique de Spark, NLP et LLM pour maximiser l'intelligence et la performance du système</a:t>
            </a:r>
            <a:endParaRPr lang="fr-FR" sz="2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9F1F4-F7FE-05C5-38A1-9A77D1F7C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458"/>
            <a:ext cx="12958720" cy="66620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D69A32-7C90-11E0-4AF7-EE3CB7AC4C60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A33786-9EF7-7985-04FD-0D7C7797BC8C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0A21BEC-43DC-540F-AB00-E0501FD8D8E3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7E0E1E-52DD-453D-310D-D5765F2F89C3}"/>
              </a:ext>
            </a:extLst>
          </p:cNvPr>
          <p:cNvSpPr txBox="1"/>
          <p:nvPr/>
        </p:nvSpPr>
        <p:spPr>
          <a:xfrm>
            <a:off x="520262" y="2790092"/>
            <a:ext cx="4203978" cy="26200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Apache Spark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Traitement distribué de gros volume de données en temps réel</a:t>
            </a:r>
          </a:p>
          <a:p>
            <a:endParaRPr lang="fr-FR" sz="18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687817-3797-4163-6C2F-95AD320159FE}"/>
              </a:ext>
            </a:extLst>
          </p:cNvPr>
          <p:cNvSpPr txBox="1"/>
          <p:nvPr/>
        </p:nvSpPr>
        <p:spPr>
          <a:xfrm>
            <a:off x="5137012" y="2809421"/>
            <a:ext cx="4203978" cy="26200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NLP avec BERT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Compréhension sémantique avancée des noms et structures de colonnes</a:t>
            </a:r>
          </a:p>
          <a:p>
            <a:endParaRPr lang="fr-FR" sz="1800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ECB768-54A6-35A4-638E-55FA24AB32E0}"/>
              </a:ext>
            </a:extLst>
          </p:cNvPr>
          <p:cNvSpPr txBox="1"/>
          <p:nvPr/>
        </p:nvSpPr>
        <p:spPr>
          <a:xfrm>
            <a:off x="9753762" y="2833593"/>
            <a:ext cx="4203978" cy="26200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LLM Mistral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Génération automatique et intelligente de requêtes SQL contextuelles</a:t>
            </a:r>
          </a:p>
          <a:p>
            <a:endParaRPr lang="fr-FR" sz="1800" noProof="0" dirty="0"/>
          </a:p>
        </p:txBody>
      </p:sp>
    </p:spTree>
    <p:extLst>
      <p:ext uri="{BB962C8B-B14F-4D97-AF65-F5344CB8AC3E}">
        <p14:creationId xmlns:p14="http://schemas.microsoft.com/office/powerpoint/2010/main" val="143774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414AC12-3EBB-CF06-5CA0-AC34A5AB23F1}"/>
              </a:ext>
            </a:extLst>
          </p:cNvPr>
          <p:cNvSpPr/>
          <p:nvPr/>
        </p:nvSpPr>
        <p:spPr>
          <a:xfrm>
            <a:off x="643999" y="1862058"/>
            <a:ext cx="142339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fr-FR" sz="2800" noProof="0" dirty="0">
                <a:solidFill>
                  <a:srgbClr val="1B1B27"/>
                </a:solidFill>
                <a:latin typeface="Raleway" pitchFamily="34" charset="0"/>
              </a:rPr>
              <a:t>Modules</a:t>
            </a:r>
            <a:endParaRPr lang="fr-FR" sz="2800" noProof="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5DBEDF88-F60C-F890-0F34-32991A8EC084}"/>
              </a:ext>
            </a:extLst>
          </p:cNvPr>
          <p:cNvSpPr/>
          <p:nvPr/>
        </p:nvSpPr>
        <p:spPr>
          <a:xfrm>
            <a:off x="624874" y="7314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fr-FR" sz="3800" noProof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Étude de l'existant</a:t>
            </a:r>
            <a:endParaRPr lang="fr-FR" sz="3800" noProof="0" dirty="0">
              <a:solidFill>
                <a:schemeClr val="accen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209583-BE85-45D9-800D-CEF19C55C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32988"/>
            <a:ext cx="12958720" cy="66620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A1F706-F7DD-246A-7418-487CBC7D5CB0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FD8986-D2D9-53B2-E190-336251583323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B70C1D2-DD8B-ABF7-DB8B-D726CBB70835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A6D0D-014B-B5F6-6ED4-881C85E3780B}"/>
              </a:ext>
            </a:extLst>
          </p:cNvPr>
          <p:cNvSpPr txBox="1"/>
          <p:nvPr/>
        </p:nvSpPr>
        <p:spPr>
          <a:xfrm>
            <a:off x="1087974" y="2925414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Sélection de fichier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84E61A-6ED2-26EE-24EE-42D5B31F01B7}"/>
              </a:ext>
            </a:extLst>
          </p:cNvPr>
          <p:cNvSpPr txBox="1"/>
          <p:nvPr/>
        </p:nvSpPr>
        <p:spPr>
          <a:xfrm>
            <a:off x="1087974" y="4404664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CA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Encodage</a:t>
            </a:r>
            <a:endParaRPr lang="en-CA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E7D3E4-BC17-8197-67C9-65116A70EB9E}"/>
              </a:ext>
            </a:extLst>
          </p:cNvPr>
          <p:cNvSpPr txBox="1"/>
          <p:nvPr/>
        </p:nvSpPr>
        <p:spPr>
          <a:xfrm>
            <a:off x="1072209" y="5818297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Correspondance des colonnes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220460-8257-1183-F9BF-06E4467C873C}"/>
              </a:ext>
            </a:extLst>
          </p:cNvPr>
          <p:cNvSpPr txBox="1"/>
          <p:nvPr/>
        </p:nvSpPr>
        <p:spPr>
          <a:xfrm>
            <a:off x="7693576" y="3644239"/>
            <a:ext cx="5848852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Dédoublonnage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2FD2D4-823F-B702-B8C8-76EA21CE5364}"/>
              </a:ext>
            </a:extLst>
          </p:cNvPr>
          <p:cNvSpPr txBox="1"/>
          <p:nvPr/>
        </p:nvSpPr>
        <p:spPr>
          <a:xfrm>
            <a:off x="7709340" y="5151637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277402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4908-BE87-A064-22F2-6B98B3C9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3">
            <a:extLst>
              <a:ext uri="{FF2B5EF4-FFF2-40B4-BE49-F238E27FC236}">
                <a16:creationId xmlns:a16="http://schemas.microsoft.com/office/drawing/2014/main" id="{84E604A1-7213-DC56-5C96-42745BBF3376}"/>
              </a:ext>
            </a:extLst>
          </p:cNvPr>
          <p:cNvSpPr/>
          <p:nvPr/>
        </p:nvSpPr>
        <p:spPr>
          <a:xfrm>
            <a:off x="391060" y="1773236"/>
            <a:ext cx="142339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fr-FR" sz="2800" noProof="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Points forts</a:t>
            </a:r>
            <a:endParaRPr lang="fr-FR" sz="2800" noProof="0" dirty="0"/>
          </a:p>
        </p:txBody>
      </p:sp>
      <p:pic>
        <p:nvPicPr>
          <p:cNvPr id="14" name="drawing">
            <a:extLst>
              <a:ext uri="{FF2B5EF4-FFF2-40B4-BE49-F238E27FC236}">
                <a16:creationId xmlns:a16="http://schemas.microsoft.com/office/drawing/2014/main" id="{A895B45D-E748-6C03-A8D3-CE43B9FA4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726" y="3730265"/>
            <a:ext cx="2191038" cy="1465529"/>
          </a:xfrm>
          <a:prstGeom prst="rect">
            <a:avLst/>
          </a:prstGeom>
        </p:spPr>
      </p:pic>
      <p:sp>
        <p:nvSpPr>
          <p:cNvPr id="52" name="Text 0">
            <a:extLst>
              <a:ext uri="{FF2B5EF4-FFF2-40B4-BE49-F238E27FC236}">
                <a16:creationId xmlns:a16="http://schemas.microsoft.com/office/drawing/2014/main" id="{E2E1ADC4-24BD-8B79-B7DA-9DDBB5AFDC35}"/>
              </a:ext>
            </a:extLst>
          </p:cNvPr>
          <p:cNvSpPr/>
          <p:nvPr/>
        </p:nvSpPr>
        <p:spPr>
          <a:xfrm>
            <a:off x="391060" y="7134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fr-FR" sz="3800" noProof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Étude de l'existant</a:t>
            </a:r>
            <a:endParaRPr lang="fr-FR" sz="3800" noProof="0" dirty="0">
              <a:solidFill>
                <a:schemeClr val="accen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4F3A50-B15F-7824-A8B9-D911D7BC2D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457"/>
            <a:ext cx="12958720" cy="66620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E866C0-3106-9FF3-9377-4203729FA51C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D33F24-C83A-E287-16A3-7C3AE6149477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4ACFADC-87DE-328E-C276-CCB1DBEF2233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BE2E9A-62CF-D3D0-BF3D-965031889B4E}"/>
              </a:ext>
            </a:extLst>
          </p:cNvPr>
          <p:cNvSpPr txBox="1"/>
          <p:nvPr/>
        </p:nvSpPr>
        <p:spPr>
          <a:xfrm>
            <a:off x="520261" y="2137260"/>
            <a:ext cx="6637283" cy="55284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dynamique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fr-FR" sz="2400" noProof="0" dirty="0">
                <a:solidFill>
                  <a:srgbClr val="3C3939"/>
                </a:solidFill>
                <a:ea typeface="Roboto" panose="02000000000000000000" pitchFamily="2" charset="0"/>
                <a:cs typeface="Roboto" panose="02000000000000000000" pitchFamily="2" charset="0"/>
              </a:rPr>
              <a:t>Tables dynamiques</a:t>
            </a:r>
          </a:p>
          <a:p>
            <a:pPr marL="1257300" lvl="2" indent="-342900">
              <a:lnSpc>
                <a:spcPct val="150000"/>
              </a:lnSpc>
              <a:buSzPct val="100000"/>
              <a:buChar char="•"/>
            </a:pPr>
            <a:r>
              <a:rPr lang="fr-FR" sz="2400" noProof="0" dirty="0" err="1">
                <a:ea typeface="Roboto" panose="02000000000000000000" pitchFamily="2" charset="0"/>
                <a:cs typeface="Roboto" panose="02000000000000000000" pitchFamily="2" charset="0"/>
              </a:rPr>
              <a:t>Dynamic_schema_klasses</a:t>
            </a:r>
            <a:endParaRPr lang="fr-FR" sz="2400" noProof="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57300" lvl="2" indent="-342900">
              <a:lnSpc>
                <a:spcPct val="150000"/>
              </a:lnSpc>
              <a:buSzPct val="100000"/>
              <a:buChar char="•"/>
            </a:pPr>
            <a:r>
              <a:rPr lang="fr-FR" sz="2400" noProof="0" dirty="0" err="1">
                <a:ea typeface="Roboto" panose="02000000000000000000" pitchFamily="2" charset="0"/>
                <a:cs typeface="Roboto" panose="02000000000000000000" pitchFamily="2" charset="0"/>
              </a:rPr>
              <a:t>Dynamic_schema</a:t>
            </a:r>
            <a:endParaRPr lang="fr-FR" sz="2400" noProof="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57300" lvl="2" indent="-342900">
              <a:lnSpc>
                <a:spcPct val="150000"/>
              </a:lnSpc>
              <a:buSzPct val="100000"/>
              <a:buChar char="•"/>
            </a:pPr>
            <a:r>
              <a:rPr lang="fr-FR" sz="2400" noProof="0" dirty="0" err="1">
                <a:ea typeface="Roboto" panose="02000000000000000000" pitchFamily="2" charset="0"/>
                <a:cs typeface="Roboto" panose="02000000000000000000" pitchFamily="2" charset="0"/>
              </a:rPr>
              <a:t>Dynamic_schema_attributes</a:t>
            </a:r>
            <a:endParaRPr lang="fr-FR" sz="2400" noProof="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>
              <a:lnSpc>
                <a:spcPct val="150000"/>
              </a:lnSpc>
              <a:buSzPct val="100000"/>
            </a:pPr>
            <a:r>
              <a:rPr lang="fr-FR" sz="2400" noProof="0" dirty="0">
                <a:solidFill>
                  <a:srgbClr val="3C3939"/>
                </a:solidFill>
                <a:ea typeface="Roboto" panose="02000000000000000000" pitchFamily="2" charset="0"/>
                <a:cs typeface="Roboto" panose="02000000000000000000" pitchFamily="2" charset="0"/>
              </a:rPr>
              <a:t>Colonnes dynamiques</a:t>
            </a:r>
          </a:p>
          <a:p>
            <a:pPr marL="1257300" lvl="2" indent="-342900">
              <a:lnSpc>
                <a:spcPct val="150000"/>
              </a:lnSpc>
              <a:buSzPct val="100000"/>
              <a:buChar char="•"/>
            </a:pPr>
            <a:r>
              <a:rPr lang="fr-FR" sz="2400" noProof="0" dirty="0">
                <a:ea typeface="Roboto" panose="02000000000000000000" pitchFamily="2" charset="0"/>
                <a:cs typeface="Roboto" panose="02000000000000000000" pitchFamily="2" charset="0"/>
              </a:rPr>
              <a:t>Strings : s0, s1, s2 … </a:t>
            </a:r>
          </a:p>
          <a:p>
            <a:pPr marL="1257300" lvl="2" indent="-342900">
              <a:lnSpc>
                <a:spcPct val="150000"/>
              </a:lnSpc>
              <a:buSzPct val="100000"/>
              <a:buChar char="•"/>
            </a:pPr>
            <a:r>
              <a:rPr lang="fr-FR" sz="2400" noProof="0" dirty="0" err="1">
                <a:ea typeface="Roboto" panose="02000000000000000000" pitchFamily="2" charset="0"/>
                <a:cs typeface="Roboto" panose="02000000000000000000" pitchFamily="2" charset="0"/>
              </a:rPr>
              <a:t>Floats</a:t>
            </a:r>
            <a:r>
              <a:rPr lang="fr-FR" sz="2400" noProof="0" dirty="0">
                <a:ea typeface="Roboto" panose="02000000000000000000" pitchFamily="2" charset="0"/>
                <a:cs typeface="Roboto" panose="02000000000000000000" pitchFamily="2" charset="0"/>
              </a:rPr>
              <a:t> : f0, f1, f2 …</a:t>
            </a:r>
          </a:p>
          <a:p>
            <a:pPr marL="1257300" lvl="2" indent="-342900">
              <a:lnSpc>
                <a:spcPct val="150000"/>
              </a:lnSpc>
              <a:buSzPct val="100000"/>
              <a:buChar char="•"/>
            </a:pPr>
            <a:r>
              <a:rPr lang="fr-FR" sz="2400" noProof="0" dirty="0" err="1">
                <a:ea typeface="Roboto" panose="02000000000000000000" pitchFamily="2" charset="0"/>
                <a:cs typeface="Roboto" panose="02000000000000000000" pitchFamily="2" charset="0"/>
              </a:rPr>
              <a:t>Enums</a:t>
            </a:r>
            <a:r>
              <a:rPr lang="fr-FR" sz="2400" noProof="0" dirty="0">
                <a:ea typeface="Roboto" panose="02000000000000000000" pitchFamily="2" charset="0"/>
                <a:cs typeface="Roboto" panose="02000000000000000000" pitchFamily="2" charset="0"/>
              </a:rPr>
              <a:t> : e0, e1, e2 … </a:t>
            </a:r>
          </a:p>
          <a:p>
            <a:pPr marL="1257300" lvl="2" indent="-342900">
              <a:lnSpc>
                <a:spcPct val="150000"/>
              </a:lnSpc>
              <a:buSzPct val="100000"/>
              <a:buChar char="•"/>
            </a:pPr>
            <a:r>
              <a:rPr lang="fr-FR" sz="2400" noProof="0" dirty="0">
                <a:ea typeface="Roboto" panose="02000000000000000000" pitchFamily="2" charset="0"/>
                <a:cs typeface="Roboto" panose="02000000000000000000" pitchFamily="2" charset="0"/>
              </a:rPr>
              <a:t>Et ainsi de suite </a:t>
            </a:r>
            <a:endParaRPr lang="fr-FR" sz="2400" noProof="0" dirty="0">
              <a:solidFill>
                <a:srgbClr val="3C3939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0E4237-0F76-C13E-7D30-2EE520FE7F7A}"/>
              </a:ext>
            </a:extLst>
          </p:cNvPr>
          <p:cNvSpPr txBox="1"/>
          <p:nvPr/>
        </p:nvSpPr>
        <p:spPr>
          <a:xfrm>
            <a:off x="7693576" y="2698297"/>
            <a:ext cx="5848852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Scaffolding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1DD441-B838-2B83-4494-E5B32F3143BE}"/>
              </a:ext>
            </a:extLst>
          </p:cNvPr>
          <p:cNvSpPr txBox="1"/>
          <p:nvPr/>
        </p:nvSpPr>
        <p:spPr>
          <a:xfrm>
            <a:off x="7693576" y="5756831"/>
            <a:ext cx="5848852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Bien contrôlé manuellement </a:t>
            </a:r>
          </a:p>
        </p:txBody>
      </p:sp>
    </p:spTree>
    <p:extLst>
      <p:ext uri="{BB962C8B-B14F-4D97-AF65-F5344CB8AC3E}">
        <p14:creationId xmlns:p14="http://schemas.microsoft.com/office/powerpoint/2010/main" val="244516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CE712-B48E-DA8C-14FB-ABCA98A4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4998AA5C-9AD3-5E2A-651C-73E960BD8935}"/>
              </a:ext>
            </a:extLst>
          </p:cNvPr>
          <p:cNvSpPr/>
          <p:nvPr/>
        </p:nvSpPr>
        <p:spPr>
          <a:xfrm>
            <a:off x="389215" y="2140825"/>
            <a:ext cx="142339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fr-FR" sz="2800" noProof="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 identifiées</a:t>
            </a:r>
            <a:endParaRPr lang="fr-FR" sz="2800" noProof="0" dirty="0"/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CB5ACC13-6934-0ADA-080B-BCF307CA9EB4}"/>
              </a:ext>
            </a:extLst>
          </p:cNvPr>
          <p:cNvSpPr/>
          <p:nvPr/>
        </p:nvSpPr>
        <p:spPr>
          <a:xfrm>
            <a:off x="389215" y="9420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fr-FR" sz="3800" noProof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Étude de l'existant</a:t>
            </a:r>
            <a:endParaRPr lang="fr-FR" sz="3800" noProof="0" dirty="0">
              <a:solidFill>
                <a:schemeClr val="accen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FEB67F-23D9-8A8B-D805-5200BD29F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457"/>
            <a:ext cx="12958720" cy="66620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A89327-3C03-E195-09BA-AB23876D1A21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C3E9A7-E2EE-D753-A360-1F3751F560B4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2AA80F8-36A7-6BEF-7BE8-CB9DF619A4CA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28C4E-484E-3B35-01DB-7359F823670D}"/>
              </a:ext>
            </a:extLst>
          </p:cNvPr>
          <p:cNvSpPr txBox="1"/>
          <p:nvPr/>
        </p:nvSpPr>
        <p:spPr>
          <a:xfrm>
            <a:off x="1087974" y="2925414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Bases de données multiples et non uniformes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FF320-73FC-0B56-75A7-6C1DF786A170}"/>
              </a:ext>
            </a:extLst>
          </p:cNvPr>
          <p:cNvSpPr txBox="1"/>
          <p:nvPr/>
        </p:nvSpPr>
        <p:spPr>
          <a:xfrm>
            <a:off x="1087974" y="4404664"/>
            <a:ext cx="5833088" cy="46903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noProof="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Processus d'import entièrement manuel</a:t>
            </a:r>
            <a:endParaRPr lang="fr-FR" sz="24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0E19D-6E48-BB18-F509-C9DA7CDFF4CE}"/>
              </a:ext>
            </a:extLst>
          </p:cNvPr>
          <p:cNvSpPr txBox="1"/>
          <p:nvPr/>
        </p:nvSpPr>
        <p:spPr>
          <a:xfrm>
            <a:off x="1072209" y="5818297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Temps de traitement excessivement long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2B5C33-D209-2D63-E222-A319A5490879}"/>
              </a:ext>
            </a:extLst>
          </p:cNvPr>
          <p:cNvSpPr txBox="1"/>
          <p:nvPr/>
        </p:nvSpPr>
        <p:spPr>
          <a:xfrm>
            <a:off x="7709340" y="2925414"/>
            <a:ext cx="5848852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Erreurs humaines fréquentes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874C91-7B8E-CF33-9639-1A140D47CB3C}"/>
              </a:ext>
            </a:extLst>
          </p:cNvPr>
          <p:cNvSpPr txBox="1"/>
          <p:nvPr/>
        </p:nvSpPr>
        <p:spPr>
          <a:xfrm>
            <a:off x="7761730" y="4395360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dynamique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4D0D28-9BF6-EE51-C4D9-9A81552BF0BB}"/>
              </a:ext>
            </a:extLst>
          </p:cNvPr>
          <p:cNvSpPr txBox="1"/>
          <p:nvPr/>
        </p:nvSpPr>
        <p:spPr>
          <a:xfrm>
            <a:off x="7761730" y="5818297"/>
            <a:ext cx="5796462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Difficulté de maintenance et évolution</a:t>
            </a:r>
          </a:p>
        </p:txBody>
      </p:sp>
    </p:spTree>
    <p:extLst>
      <p:ext uri="{BB962C8B-B14F-4D97-AF65-F5344CB8AC3E}">
        <p14:creationId xmlns:p14="http://schemas.microsoft.com/office/powerpoint/2010/main" val="281706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5545E8-DDB7-4E1C-779E-68120513DC01}"/>
              </a:ext>
            </a:extLst>
          </p:cNvPr>
          <p:cNvSpPr/>
          <p:nvPr/>
        </p:nvSpPr>
        <p:spPr>
          <a:xfrm>
            <a:off x="793790" y="1293661"/>
            <a:ext cx="463455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fr-FR" sz="2800" noProof="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du système</a:t>
            </a:r>
            <a:endParaRPr lang="fr-FR" sz="2800" noProof="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3FA5AC6-8109-DC1C-AD50-0E04EF93E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78818"/>
            <a:ext cx="907256" cy="10887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65EB19A-69FE-1557-3007-3F1A67737A39}"/>
              </a:ext>
            </a:extLst>
          </p:cNvPr>
          <p:cNvSpPr/>
          <p:nvPr/>
        </p:nvSpPr>
        <p:spPr>
          <a:xfrm>
            <a:off x="1882497" y="204450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800" b="1" i="1" noProof="0" dirty="0" err="1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Front-end</a:t>
            </a:r>
            <a:r>
              <a:rPr lang="fr-FR" sz="2800" b="1" i="1" noProof="0" dirty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 </a:t>
            </a:r>
            <a:r>
              <a:rPr lang="fr-FR" sz="2800" b="1" i="1" noProof="0" dirty="0" err="1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React</a:t>
            </a:r>
            <a:endParaRPr lang="fr-FR" sz="2800" b="1" i="1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D97754D-A176-5338-6DF5-EB049B4BD66F}"/>
              </a:ext>
            </a:extLst>
          </p:cNvPr>
          <p:cNvSpPr/>
          <p:nvPr/>
        </p:nvSpPr>
        <p:spPr>
          <a:xfrm>
            <a:off x="1882497" y="2436815"/>
            <a:ext cx="119541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fr-FR" sz="2400" noProof="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Interface utilisateur moderne et réactive</a:t>
            </a:r>
            <a:endParaRPr lang="fr-FR" sz="2400" noProof="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BF82FE46-E6A7-8ADB-900C-B7DCEBB4F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51760"/>
            <a:ext cx="907256" cy="108870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7284F6E-B1FC-46FF-B972-9649F0AD3F29}"/>
              </a:ext>
            </a:extLst>
          </p:cNvPr>
          <p:cNvSpPr/>
          <p:nvPr/>
        </p:nvSpPr>
        <p:spPr>
          <a:xfrm>
            <a:off x="1882497" y="313321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800" b="1" i="1" noProof="0" err="1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Back-end</a:t>
            </a:r>
            <a:r>
              <a:rPr lang="fr-FR" sz="2800" b="1" i="1" noProof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 FastAPI</a:t>
            </a:r>
            <a:endParaRPr lang="fr-FR" sz="2800" b="1" i="1" noProof="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A086EE8-3F8E-8FB7-7D4D-E4C7CCB45A56}"/>
              </a:ext>
            </a:extLst>
          </p:cNvPr>
          <p:cNvSpPr/>
          <p:nvPr/>
        </p:nvSpPr>
        <p:spPr>
          <a:xfrm>
            <a:off x="1882497" y="3525522"/>
            <a:ext cx="119541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fr-FR" sz="2400" noProof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API Python performante et asynchrone</a:t>
            </a:r>
            <a:endParaRPr lang="fr-FR" sz="2400" noProof="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3E9B61DA-31BA-6F7E-2E89-0409EBBC3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40468"/>
            <a:ext cx="907256" cy="108870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84DDA24D-4239-D508-D08E-BEBA612C72D0}"/>
              </a:ext>
            </a:extLst>
          </p:cNvPr>
          <p:cNvSpPr/>
          <p:nvPr/>
        </p:nvSpPr>
        <p:spPr>
          <a:xfrm>
            <a:off x="1882497" y="422191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800" b="1" i="1" noProof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Apache Spark</a:t>
            </a:r>
            <a:endParaRPr lang="fr-FR" sz="2800" b="1" i="1" noProof="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A3E0E85-F159-59FC-98FD-1868E4C2C965}"/>
              </a:ext>
            </a:extLst>
          </p:cNvPr>
          <p:cNvSpPr/>
          <p:nvPr/>
        </p:nvSpPr>
        <p:spPr>
          <a:xfrm>
            <a:off x="1882497" y="4614230"/>
            <a:ext cx="119541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fr-FR" sz="2400" noProof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Traitement distribué des données massives</a:t>
            </a:r>
            <a:endParaRPr lang="fr-FR" sz="2400" noProof="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C95C6666-D54D-4EE6-1B15-2E4EDC867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29175"/>
            <a:ext cx="907256" cy="1088708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FC21637A-7C8D-E1DE-4986-9630B209BDDD}"/>
              </a:ext>
            </a:extLst>
          </p:cNvPr>
          <p:cNvSpPr/>
          <p:nvPr/>
        </p:nvSpPr>
        <p:spPr>
          <a:xfrm>
            <a:off x="1882497" y="531062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800" b="1" i="1" noProof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PostgreSQL</a:t>
            </a:r>
            <a:endParaRPr lang="fr-FR" sz="2800" b="1" i="1" noProof="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5DE7AA0-BB05-B606-2F8E-FF0F79FB4489}"/>
              </a:ext>
            </a:extLst>
          </p:cNvPr>
          <p:cNvSpPr/>
          <p:nvPr/>
        </p:nvSpPr>
        <p:spPr>
          <a:xfrm>
            <a:off x="1882497" y="5702937"/>
            <a:ext cx="119541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fr-FR" sz="2400" noProof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Stockage relationnel robuste et fiable</a:t>
            </a:r>
            <a:endParaRPr lang="fr-FR" sz="2400" noProof="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1008C061-A5B1-3FA9-77AA-657A02C83F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217883"/>
            <a:ext cx="907256" cy="1088708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404CCB79-D047-8660-E963-04895073A786}"/>
              </a:ext>
            </a:extLst>
          </p:cNvPr>
          <p:cNvSpPr/>
          <p:nvPr/>
        </p:nvSpPr>
        <p:spPr>
          <a:xfrm>
            <a:off x="1882497" y="639933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fr-FR" sz="2800" b="1" i="1" noProof="0">
                <a:solidFill>
                  <a:srgbClr val="3C3939"/>
                </a:solidFill>
                <a:ea typeface="Raleway" pitchFamily="34" charset="-122"/>
                <a:cs typeface="Raleway" pitchFamily="34" charset="-120"/>
              </a:rPr>
              <a:t>Docker + Contabo</a:t>
            </a:r>
            <a:endParaRPr lang="fr-FR" sz="2800" b="1" i="1" noProof="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E76E94D-B71F-DAD6-1497-A83CC6BC00A1}"/>
              </a:ext>
            </a:extLst>
          </p:cNvPr>
          <p:cNvSpPr/>
          <p:nvPr/>
        </p:nvSpPr>
        <p:spPr>
          <a:xfrm>
            <a:off x="1882497" y="6791645"/>
            <a:ext cx="119541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fr-FR" sz="2400" noProof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Déploiement containerisé et infrastructure cloud</a:t>
            </a:r>
            <a:endParaRPr lang="fr-FR" sz="2400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79CFA560-C8DC-178A-E8DD-6BAAAAC62990}"/>
              </a:ext>
            </a:extLst>
          </p:cNvPr>
          <p:cNvSpPr/>
          <p:nvPr/>
        </p:nvSpPr>
        <p:spPr>
          <a:xfrm>
            <a:off x="793790" y="7337240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fr-FR" sz="2400" b="1" i="1" noProof="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Une architecture multi-tiers qui garantit</a:t>
            </a:r>
            <a:r>
              <a:rPr lang="fr-FR" sz="2400" b="1" i="1" noProof="0" dirty="0">
                <a:solidFill>
                  <a:srgbClr val="1B1B27"/>
                </a:solidFill>
                <a:ea typeface="Roboto" pitchFamily="34" charset="-122"/>
                <a:cs typeface="Roboto" pitchFamily="34" charset="-120"/>
              </a:rPr>
              <a:t> évolutivité et maintenabilité</a:t>
            </a:r>
            <a:r>
              <a:rPr lang="fr-FR" sz="2400" b="1" i="1" noProof="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du système.</a:t>
            </a:r>
            <a:endParaRPr lang="fr-FR" sz="2400" b="1" i="1" noProof="0" dirty="0"/>
          </a:p>
        </p:txBody>
      </p:sp>
      <p:pic>
        <p:nvPicPr>
          <p:cNvPr id="19" name="drawing">
            <a:extLst>
              <a:ext uri="{FF2B5EF4-FFF2-40B4-BE49-F238E27FC236}">
                <a16:creationId xmlns:a16="http://schemas.microsoft.com/office/drawing/2014/main" id="{348797B8-D825-0DFF-9AB7-8089B5C162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4000" y="3539172"/>
            <a:ext cx="1151255" cy="1151255"/>
          </a:xfrm>
          <a:prstGeom prst="rect">
            <a:avLst/>
          </a:prstGeom>
        </p:spPr>
      </p:pic>
      <p:pic>
        <p:nvPicPr>
          <p:cNvPr id="20" name="drawing">
            <a:extLst>
              <a:ext uri="{FF2B5EF4-FFF2-40B4-BE49-F238E27FC236}">
                <a16:creationId xmlns:a16="http://schemas.microsoft.com/office/drawing/2014/main" id="{C1B80773-1AA7-1EEF-909A-2753016100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912" y="2184559"/>
            <a:ext cx="1438275" cy="514350"/>
          </a:xfrm>
          <a:prstGeom prst="rect">
            <a:avLst/>
          </a:prstGeom>
        </p:spPr>
      </p:pic>
      <p:pic>
        <p:nvPicPr>
          <p:cNvPr id="21" name="drawing">
            <a:extLst>
              <a:ext uri="{FF2B5EF4-FFF2-40B4-BE49-F238E27FC236}">
                <a16:creationId xmlns:a16="http://schemas.microsoft.com/office/drawing/2014/main" id="{7ECD913D-BBA6-D4CC-D70B-9543CEB905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744" y="5130521"/>
            <a:ext cx="1428750" cy="1438275"/>
          </a:xfrm>
          <a:prstGeom prst="rect">
            <a:avLst/>
          </a:prstGeom>
        </p:spPr>
      </p:pic>
      <p:pic>
        <p:nvPicPr>
          <p:cNvPr id="22" name="drawing">
            <a:extLst>
              <a:ext uri="{FF2B5EF4-FFF2-40B4-BE49-F238E27FC236}">
                <a16:creationId xmlns:a16="http://schemas.microsoft.com/office/drawing/2014/main" id="{FA3E1F3D-B0D6-F90E-65A2-0992BD761E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119" y="2840534"/>
            <a:ext cx="1438275" cy="1438275"/>
          </a:xfrm>
          <a:prstGeom prst="rect">
            <a:avLst/>
          </a:prstGeom>
        </p:spPr>
      </p:pic>
      <p:pic>
        <p:nvPicPr>
          <p:cNvPr id="23" name="drawing">
            <a:extLst>
              <a:ext uri="{FF2B5EF4-FFF2-40B4-BE49-F238E27FC236}">
                <a16:creationId xmlns:a16="http://schemas.microsoft.com/office/drawing/2014/main" id="{6AF2A010-B3B5-583D-9B82-74AC777D88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8004" y="4827950"/>
            <a:ext cx="1438275" cy="895350"/>
          </a:xfrm>
          <a:prstGeom prst="rect">
            <a:avLst/>
          </a:prstGeom>
        </p:spPr>
      </p:pic>
      <p:pic>
        <p:nvPicPr>
          <p:cNvPr id="24" name="drawing">
            <a:extLst>
              <a:ext uri="{FF2B5EF4-FFF2-40B4-BE49-F238E27FC236}">
                <a16:creationId xmlns:a16="http://schemas.microsoft.com/office/drawing/2014/main" id="{B10DB927-8834-8A33-C874-C2E3E0CFBA8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980" y="5450681"/>
            <a:ext cx="1438275" cy="742950"/>
          </a:xfrm>
          <a:prstGeom prst="rect">
            <a:avLst/>
          </a:prstGeom>
        </p:spPr>
      </p:pic>
      <p:pic>
        <p:nvPicPr>
          <p:cNvPr id="25" name="drawing">
            <a:extLst>
              <a:ext uri="{FF2B5EF4-FFF2-40B4-BE49-F238E27FC236}">
                <a16:creationId xmlns:a16="http://schemas.microsoft.com/office/drawing/2014/main" id="{89974E75-0A89-310E-E490-CAA1AB2BB2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455" y="4493181"/>
            <a:ext cx="1438275" cy="323850"/>
          </a:xfrm>
          <a:prstGeom prst="rect">
            <a:avLst/>
          </a:prstGeom>
        </p:spPr>
      </p:pic>
      <p:pic>
        <p:nvPicPr>
          <p:cNvPr id="26" name="drawing">
            <a:extLst>
              <a:ext uri="{FF2B5EF4-FFF2-40B4-BE49-F238E27FC236}">
                <a16:creationId xmlns:a16="http://schemas.microsoft.com/office/drawing/2014/main" id="{9AA735CE-CC71-3A8B-F83E-93A3EC61C3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10414" y="2501305"/>
            <a:ext cx="1349375" cy="269875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23FE50F4-12F1-51AB-CB57-391EA60C6E02}"/>
              </a:ext>
            </a:extLst>
          </p:cNvPr>
          <p:cNvSpPr/>
          <p:nvPr/>
        </p:nvSpPr>
        <p:spPr>
          <a:xfrm>
            <a:off x="781962" y="6565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 proposée</a:t>
            </a:r>
            <a:endParaRPr lang="en-US" sz="3800" dirty="0">
              <a:solidFill>
                <a:schemeClr val="accent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40CAEF4-ADCE-CF15-C2AD-E2303A178F5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95" y="1465"/>
            <a:ext cx="12958720" cy="666203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73B2CB-EB27-A55F-FFC3-8BF7ECB2DFF4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8412A6-BAEB-56BD-4F81-8D47650EE8B9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FF875F29-96F6-95DA-EC12-60DE8ECF4906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2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95BC1B-7624-C2BE-E808-4EED766B35D0}"/>
              </a:ext>
            </a:extLst>
          </p:cNvPr>
          <p:cNvSpPr/>
          <p:nvPr/>
        </p:nvSpPr>
        <p:spPr>
          <a:xfrm>
            <a:off x="793790" y="877133"/>
            <a:ext cx="6986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Fonctionnalités principales</a:t>
            </a:r>
            <a:endParaRPr lang="en-US" sz="3800" dirty="0">
              <a:solidFill>
                <a:schemeClr val="accent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C2E034-FA40-F703-F5A0-2543CB5BA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457"/>
            <a:ext cx="12958720" cy="66620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ED5839-1756-69A9-9AB3-7C2B0F1B4A5B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3973B3-E91F-98E8-A1DC-B987E2F9381B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6D855355-DE7E-28A5-0B20-33A1A97CD9F4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A257BD-998B-BC6C-CD83-53D7C0B74063}"/>
              </a:ext>
            </a:extLst>
          </p:cNvPr>
          <p:cNvSpPr txBox="1"/>
          <p:nvPr/>
        </p:nvSpPr>
        <p:spPr>
          <a:xfrm>
            <a:off x="520262" y="1891451"/>
            <a:ext cx="4203978" cy="27827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2800" b="1" i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fr-FR" sz="2800" b="1" i="1" u="sng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multi-formats</a:t>
            </a:r>
            <a:endParaRPr lang="fr-FR" sz="2800" b="1" i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 natif des fichiers CSV, JSON et Excel avec détection automatique du format et de l'encodage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BCF6F2-FEBC-F399-7326-2A347DCD6B4E}"/>
              </a:ext>
            </a:extLst>
          </p:cNvPr>
          <p:cNvSpPr txBox="1"/>
          <p:nvPr/>
        </p:nvSpPr>
        <p:spPr>
          <a:xfrm>
            <a:off x="5192185" y="1891450"/>
            <a:ext cx="4203978" cy="27827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2800" b="1" i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Correction intelligente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Suggestions automatiques de corrections avec possibilité d'ajustement manuel pour les cas particuliers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0F4285-0598-B993-55D4-F55B1403FE5B}"/>
              </a:ext>
            </a:extLst>
          </p:cNvPr>
          <p:cNvSpPr txBox="1"/>
          <p:nvPr/>
        </p:nvSpPr>
        <p:spPr>
          <a:xfrm>
            <a:off x="9864108" y="1891451"/>
            <a:ext cx="4203978" cy="27827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2800" b="1" i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Mapping automatique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Association intelligente des colonnes sources vers les tables et champs de destination appropriés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878327-D10D-D644-E907-9A1C317545FF}"/>
              </a:ext>
            </a:extLst>
          </p:cNvPr>
          <p:cNvSpPr txBox="1"/>
          <p:nvPr/>
        </p:nvSpPr>
        <p:spPr>
          <a:xfrm>
            <a:off x="2622251" y="4770881"/>
            <a:ext cx="4203978" cy="27827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2800" b="1" i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Analyse de doublons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Statistiques détaillées sur les doublons détectés et estimation des clés uniques dans les données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0EF429-1BBD-D5C2-C792-7971F97E76CE}"/>
              </a:ext>
            </a:extLst>
          </p:cNvPr>
          <p:cNvSpPr txBox="1"/>
          <p:nvPr/>
        </p:nvSpPr>
        <p:spPr>
          <a:xfrm>
            <a:off x="7504386" y="4793941"/>
            <a:ext cx="4203978" cy="278274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fr-FR" sz="2800" b="1" i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8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Validation finale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Prévisualisation complète et validation avant l'exécution définitive de l'import dans la base</a:t>
            </a: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734F87FF-F065-96B6-3EF2-FF8284EFE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8763" y="1891451"/>
            <a:ext cx="566976" cy="566976"/>
          </a:xfrm>
          <a:prstGeom prst="rect">
            <a:avLst/>
          </a:prstGeom>
        </p:spPr>
      </p:pic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85FE537A-3B37-20D9-05D4-3231A9246B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686" y="1976654"/>
            <a:ext cx="566976" cy="566976"/>
          </a:xfrm>
          <a:prstGeom prst="rect">
            <a:avLst/>
          </a:prstGeom>
        </p:spPr>
      </p:pic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A7ACEDFB-E201-4D86-85D7-29C2AA4003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82609" y="1897124"/>
            <a:ext cx="566976" cy="566976"/>
          </a:xfrm>
          <a:prstGeom prst="rect">
            <a:avLst/>
          </a:prstGeom>
        </p:spPr>
      </p:pic>
      <p:pic>
        <p:nvPicPr>
          <p:cNvPr id="33" name="Image 3" descr="preencoded.png">
            <a:extLst>
              <a:ext uri="{FF2B5EF4-FFF2-40B4-BE49-F238E27FC236}">
                <a16:creationId xmlns:a16="http://schemas.microsoft.com/office/drawing/2014/main" id="{F9C16FC9-1456-B0AB-C6BB-03F7C7695B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40752" y="4770881"/>
            <a:ext cx="566976" cy="566976"/>
          </a:xfrm>
          <a:prstGeom prst="rect">
            <a:avLst/>
          </a:prstGeom>
        </p:spPr>
      </p:pic>
      <p:pic>
        <p:nvPicPr>
          <p:cNvPr id="34" name="Image 4" descr="preencoded.png">
            <a:extLst>
              <a:ext uri="{FF2B5EF4-FFF2-40B4-BE49-F238E27FC236}">
                <a16:creationId xmlns:a16="http://schemas.microsoft.com/office/drawing/2014/main" id="{54EDAB42-2217-E20B-8941-11EA7E80ED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22887" y="4793941"/>
            <a:ext cx="566976" cy="56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9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2CB00B-D948-F696-049A-C409FED4A68A}"/>
              </a:ext>
            </a:extLst>
          </p:cNvPr>
          <p:cNvSpPr/>
          <p:nvPr/>
        </p:nvSpPr>
        <p:spPr>
          <a:xfrm>
            <a:off x="793790" y="877133"/>
            <a:ext cx="6986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 </a:t>
            </a:r>
            <a:r>
              <a:rPr lang="en-US" sz="3800" dirty="0" err="1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d’utilisation</a:t>
            </a:r>
            <a:endParaRPr lang="en-US" sz="3800" dirty="0">
              <a:solidFill>
                <a:schemeClr val="accent1"/>
              </a:solidFill>
            </a:endParaRP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661C05C0-32EF-1474-FC55-3C7C660A7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220" y="1633209"/>
            <a:ext cx="3479800" cy="492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AB73CA13-DA8C-C1BD-FAFF-76E1AF5FD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90" y="1396989"/>
            <a:ext cx="4933950" cy="553021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FE3B90C-D632-4F18-1F1A-81AD7726D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710" y="548262"/>
            <a:ext cx="4304118" cy="7174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F5C142-3300-EDD7-01B8-B9DB6070BA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7223"/>
            <a:ext cx="12958720" cy="6662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960ED-B288-CF6E-12A4-D0868E485D0E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C9F1E7-99D1-379C-716B-9C4F23440A1C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B6A5424-6FF3-64CD-43FB-64B184255953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23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2B55A-8BD5-C591-4B44-4FFDD6CC2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F28E9B-D44F-20C3-25D1-EC40574078CF}"/>
              </a:ext>
            </a:extLst>
          </p:cNvPr>
          <p:cNvSpPr/>
          <p:nvPr/>
        </p:nvSpPr>
        <p:spPr>
          <a:xfrm>
            <a:off x="793790" y="877133"/>
            <a:ext cx="6986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 </a:t>
            </a:r>
            <a:r>
              <a:rPr lang="en-US" sz="3800" dirty="0" err="1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d’utilisation</a:t>
            </a:r>
            <a:endParaRPr lang="en-US" sz="3800" dirty="0">
              <a:solidFill>
                <a:schemeClr val="accent1"/>
              </a:solidFill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F277A349-02ED-DDE2-3CAC-11F0ACBA8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972" y="1469752"/>
            <a:ext cx="4132580" cy="6331585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25742870-0929-2A68-DE4D-FB0186B57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735" y="380579"/>
            <a:ext cx="6191885" cy="74587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31C1CB-480E-72E2-2C67-91D5D4C01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7224"/>
            <a:ext cx="12958720" cy="6662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7D3982-E862-BF5E-4E99-D97503064191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1E9EF1-1E71-2A97-26FD-227E9C9072C7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5D946DF-C0DC-168A-A118-6BDA6432848C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12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495E-FD8F-5BFA-6654-97ECD578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E358BC-29C4-B8EA-76BC-E5CD1DB2ACF2}"/>
              </a:ext>
            </a:extLst>
          </p:cNvPr>
          <p:cNvSpPr/>
          <p:nvPr/>
        </p:nvSpPr>
        <p:spPr>
          <a:xfrm>
            <a:off x="793790" y="877133"/>
            <a:ext cx="6986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80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 </a:t>
            </a:r>
            <a:r>
              <a:rPr lang="en-US" sz="3800" dirty="0" err="1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d’utilisation</a:t>
            </a:r>
            <a:endParaRPr lang="en-US" sz="3800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159B6-16C0-4CC3-6C67-D22DCD095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7224"/>
            <a:ext cx="12958720" cy="6662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BDEF2E-A597-41E1-8024-BE4DA12EDC2C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1316ED-9E76-777E-A22E-DB59C1FD4B69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172B3AF-F242-967D-DE99-A8118496B73D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C5F3440-589E-875A-7EC3-8ACBC0F91320}"/>
              </a:ext>
            </a:extLst>
          </p:cNvPr>
          <p:cNvSpPr txBox="1"/>
          <p:nvPr/>
        </p:nvSpPr>
        <p:spPr>
          <a:xfrm>
            <a:off x="1087975" y="2925414"/>
            <a:ext cx="2047112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 à 10 minutes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737E13D3-2068-CA8D-B160-40BF7811C5B1}"/>
              </a:ext>
            </a:extLst>
          </p:cNvPr>
          <p:cNvSpPr txBox="1"/>
          <p:nvPr/>
        </p:nvSpPr>
        <p:spPr>
          <a:xfrm>
            <a:off x="10365454" y="2925414"/>
            <a:ext cx="1710431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minute 30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1B39147A-38AD-C8E7-5838-00B5C0226E49}"/>
              </a:ext>
            </a:extLst>
          </p:cNvPr>
          <p:cNvSpPr/>
          <p:nvPr/>
        </p:nvSpPr>
        <p:spPr>
          <a:xfrm>
            <a:off x="5050971" y="2925414"/>
            <a:ext cx="3918858" cy="47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80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4FABA6-1A10-993F-CCF4-ABDC32969A53}"/>
              </a:ext>
            </a:extLst>
          </p:cNvPr>
          <p:cNvSpPr/>
          <p:nvPr/>
        </p:nvSpPr>
        <p:spPr>
          <a:xfrm>
            <a:off x="793790" y="924429"/>
            <a:ext cx="6986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fr-FR" sz="3800" noProof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Démonstration</a:t>
            </a:r>
            <a:endParaRPr lang="fr-FR" sz="3800" noProof="0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9DE9BC-B1DA-552B-DDF5-B07A2CC1F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459"/>
            <a:ext cx="12958720" cy="6662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EE0ACE-018C-787F-4B2E-A5EBA1EA5CCD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7D3987-15AE-91C6-B458-DD0E98FE6055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B66A189-3F58-7931-B23C-CB36EFDCC61B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450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539CD-5011-3523-8981-8185204B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C20036-8902-4495-705B-227463EEDB89}"/>
              </a:ext>
            </a:extLst>
          </p:cNvPr>
          <p:cNvSpPr/>
          <p:nvPr/>
        </p:nvSpPr>
        <p:spPr>
          <a:xfrm>
            <a:off x="793790" y="877133"/>
            <a:ext cx="6986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fr-FR" sz="3800" noProof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Perspective</a:t>
            </a:r>
            <a:endParaRPr lang="fr-FR" sz="3800" noProof="0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55B6B3-419E-5B9E-980F-ECF6ABD11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7224"/>
            <a:ext cx="12958720" cy="66620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ECFF16-DC19-6EF0-E62A-0D56E837D78B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C4ADB5-B790-D31B-0956-1AA0288469F3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0B9AEAC-F937-CF16-EFAD-50ECC1586AF2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9221605F-46B1-9DD1-13E3-BB139B073F7F}"/>
              </a:ext>
            </a:extLst>
          </p:cNvPr>
          <p:cNvSpPr txBox="1"/>
          <p:nvPr/>
        </p:nvSpPr>
        <p:spPr>
          <a:xfrm>
            <a:off x="1087974" y="2925414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/>
              <a:t>NoSQL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44F306EC-16D7-7669-DC02-7D20A5BAA7EB}"/>
              </a:ext>
            </a:extLst>
          </p:cNvPr>
          <p:cNvSpPr txBox="1"/>
          <p:nvPr/>
        </p:nvSpPr>
        <p:spPr>
          <a:xfrm>
            <a:off x="1087974" y="4404664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/>
              <a:t>Réduction des coûts</a:t>
            </a:r>
            <a:endParaRPr lang="fr-FR" sz="2400" noProof="0" dirty="0"/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6092C267-5B20-4CA9-3120-B584469B924F}"/>
              </a:ext>
            </a:extLst>
          </p:cNvPr>
          <p:cNvSpPr txBox="1"/>
          <p:nvPr/>
        </p:nvSpPr>
        <p:spPr>
          <a:xfrm>
            <a:off x="7709340" y="2925414"/>
            <a:ext cx="5848852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/>
              <a:t>Interopérabilité universelle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88B0F2A9-2BFC-19E8-4B89-9ADB94DC0E3C}"/>
              </a:ext>
            </a:extLst>
          </p:cNvPr>
          <p:cNvSpPr txBox="1"/>
          <p:nvPr/>
        </p:nvSpPr>
        <p:spPr>
          <a:xfrm>
            <a:off x="7761730" y="4395360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/>
              <a:t>Amélioration de la portabilité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7963AE1-2555-B42E-AF13-1D709B487D4F}"/>
              </a:ext>
            </a:extLst>
          </p:cNvPr>
          <p:cNvSpPr txBox="1"/>
          <p:nvPr/>
        </p:nvSpPr>
        <p:spPr>
          <a:xfrm>
            <a:off x="1087974" y="1792052"/>
            <a:ext cx="874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Extension vers différents types de bases de données</a:t>
            </a:r>
          </a:p>
        </p:txBody>
      </p:sp>
    </p:spTree>
    <p:extLst>
      <p:ext uri="{BB962C8B-B14F-4D97-AF65-F5344CB8AC3E}">
        <p14:creationId xmlns:p14="http://schemas.microsoft.com/office/powerpoint/2010/main" val="109383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BC953-E495-9453-5D5B-F0A59B81C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FEC8ED-B924-4201-0620-4306D0419047}"/>
              </a:ext>
            </a:extLst>
          </p:cNvPr>
          <p:cNvSpPr/>
          <p:nvPr/>
        </p:nvSpPr>
        <p:spPr>
          <a:xfrm>
            <a:off x="793790" y="877133"/>
            <a:ext cx="6986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kumimoji="0" lang="fr-FR" sz="3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8F5BAD-4877-A345-9F5F-A39BDD3E3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7223"/>
            <a:ext cx="12958720" cy="6662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C42E23-A817-7C05-9D71-405563AA3EFF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15CA93-9BF6-9EA6-8DBF-6D558CCDAF78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9E45507D-B923-AB29-C898-06A1FECCD63A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412CF4F-7060-60AE-7D4C-CA20223A52BA}"/>
              </a:ext>
            </a:extLst>
          </p:cNvPr>
          <p:cNvSpPr txBox="1"/>
          <p:nvPr/>
        </p:nvSpPr>
        <p:spPr>
          <a:xfrm>
            <a:off x="1087974" y="2925414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/>
              <a:t>Défis d’automatisation et de fiabilité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0DABB9F-C8A8-1999-7ADC-53B3BF1BFFF8}"/>
              </a:ext>
            </a:extLst>
          </p:cNvPr>
          <p:cNvSpPr txBox="1"/>
          <p:nvPr/>
        </p:nvSpPr>
        <p:spPr>
          <a:xfrm>
            <a:off x="1087974" y="4404664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/>
              <a:t>Importance de l’intelligence artificielle</a:t>
            </a:r>
            <a:endParaRPr lang="fr-FR" sz="2400" noProof="0" dirty="0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113E3BCD-DA15-62AC-9758-57D3FE0076A8}"/>
              </a:ext>
            </a:extLst>
          </p:cNvPr>
          <p:cNvSpPr txBox="1"/>
          <p:nvPr/>
        </p:nvSpPr>
        <p:spPr>
          <a:xfrm>
            <a:off x="7709340" y="2925414"/>
            <a:ext cx="5848852" cy="86517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/>
              <a:t>Réduction significative du temps de traitement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8ED01E68-E70C-1748-54B5-8533C19317A5}"/>
              </a:ext>
            </a:extLst>
          </p:cNvPr>
          <p:cNvSpPr txBox="1"/>
          <p:nvPr/>
        </p:nvSpPr>
        <p:spPr>
          <a:xfrm>
            <a:off x="7761730" y="4395360"/>
            <a:ext cx="5833088" cy="470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41275" cmpd="thinThick"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203978"/>
                      <a:gd name="connsiteY0" fmla="*/ 0 h 2435923"/>
                      <a:gd name="connsiteX1" fmla="*/ 4203978 w 4203978"/>
                      <a:gd name="connsiteY1" fmla="*/ 0 h 2435923"/>
                      <a:gd name="connsiteX2" fmla="*/ 4203978 w 4203978"/>
                      <a:gd name="connsiteY2" fmla="*/ 2435923 h 2435923"/>
                      <a:gd name="connsiteX3" fmla="*/ 0 w 4203978"/>
                      <a:gd name="connsiteY3" fmla="*/ 2435923 h 2435923"/>
                      <a:gd name="connsiteX4" fmla="*/ 0 w 4203978"/>
                      <a:gd name="connsiteY4" fmla="*/ 0 h 24359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203978" h="2435923" fill="none" extrusionOk="0">
                        <a:moveTo>
                          <a:pt x="0" y="0"/>
                        </a:moveTo>
                        <a:cubicBezTo>
                          <a:pt x="448084" y="-49533"/>
                          <a:pt x="3568627" y="-14809"/>
                          <a:pt x="4203978" y="0"/>
                        </a:cubicBezTo>
                        <a:cubicBezTo>
                          <a:pt x="4291617" y="627823"/>
                          <a:pt x="4131299" y="2009145"/>
                          <a:pt x="4203978" y="2435923"/>
                        </a:cubicBezTo>
                        <a:cubicBezTo>
                          <a:pt x="2890868" y="2387692"/>
                          <a:pt x="1307406" y="2520378"/>
                          <a:pt x="0" y="2435923"/>
                        </a:cubicBezTo>
                        <a:cubicBezTo>
                          <a:pt x="-38581" y="1242566"/>
                          <a:pt x="63341" y="629816"/>
                          <a:pt x="0" y="0"/>
                        </a:cubicBezTo>
                        <a:close/>
                      </a:path>
                      <a:path w="4203978" h="2435923" stroke="0" extrusionOk="0">
                        <a:moveTo>
                          <a:pt x="0" y="0"/>
                        </a:moveTo>
                        <a:cubicBezTo>
                          <a:pt x="2011609" y="118645"/>
                          <a:pt x="2851632" y="116012"/>
                          <a:pt x="4203978" y="0"/>
                        </a:cubicBezTo>
                        <a:cubicBezTo>
                          <a:pt x="4071096" y="265862"/>
                          <a:pt x="4288929" y="1275398"/>
                          <a:pt x="4203978" y="2435923"/>
                        </a:cubicBezTo>
                        <a:cubicBezTo>
                          <a:pt x="2593819" y="2570523"/>
                          <a:pt x="594628" y="2278727"/>
                          <a:pt x="0" y="2435923"/>
                        </a:cubicBezTo>
                        <a:cubicBezTo>
                          <a:pt x="-20187" y="1756634"/>
                          <a:pt x="-152480" y="58474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/>
              <a:t>Interopérabilité entre les systèmes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71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8383A-918E-3A5F-D74C-D29D8C509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51A9AB-2E87-D80C-384B-6BB391584ABA}"/>
              </a:ext>
            </a:extLst>
          </p:cNvPr>
          <p:cNvSpPr/>
          <p:nvPr/>
        </p:nvSpPr>
        <p:spPr>
          <a:xfrm>
            <a:off x="6236648" y="3453419"/>
            <a:ext cx="6986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Merci</a:t>
            </a:r>
            <a:endParaRPr kumimoji="0" lang="fr-FR" sz="3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8F9583-9917-D552-C490-929BB1D83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8" y="17223"/>
            <a:ext cx="12958720" cy="6662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2C6818-E296-1E9C-FDF6-871AB5449DCD}"/>
              </a:ext>
            </a:extLst>
          </p:cNvPr>
          <p:cNvCxnSpPr/>
          <p:nvPr/>
        </p:nvCxnSpPr>
        <p:spPr>
          <a:xfrm>
            <a:off x="0" y="667657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012D5E-AE80-D3F8-F398-92C450291244}"/>
              </a:ext>
            </a:extLst>
          </p:cNvPr>
          <p:cNvCxnSpPr/>
          <p:nvPr/>
        </p:nvCxnSpPr>
        <p:spPr>
          <a:xfrm>
            <a:off x="-21026" y="7709584"/>
            <a:ext cx="14630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DABA84E-F8D8-7931-CF0F-F0645DBA7BDF}"/>
              </a:ext>
            </a:extLst>
          </p:cNvPr>
          <p:cNvSpPr txBox="1">
            <a:spLocks/>
          </p:cNvSpPr>
          <p:nvPr/>
        </p:nvSpPr>
        <p:spPr>
          <a:xfrm>
            <a:off x="-21025" y="7696433"/>
            <a:ext cx="14630400" cy="5740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« Mapping Intelligente » présenté par RAMAMONJISOANIAINA Hasina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Fitiavana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 						Octobre 2025</a:t>
            </a:r>
          </a:p>
          <a:p>
            <a:endParaRPr lang="en-CA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99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1904</Words>
  <Application>Microsoft Office PowerPoint</Application>
  <PresentationFormat>Personnalisé</PresentationFormat>
  <Paragraphs>242</Paragraphs>
  <Slides>21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Raleway</vt:lpstr>
      <vt:lpstr>Roboto</vt:lpstr>
      <vt:lpstr>Arial</vt:lpstr>
      <vt:lpstr>Calibri</vt:lpstr>
      <vt:lpstr>Aptos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Ando Niaina</dc:creator>
  <cp:lastModifiedBy>Hasina RAMAMONJISOANIAINA</cp:lastModifiedBy>
  <cp:revision>118</cp:revision>
  <dcterms:created xsi:type="dcterms:W3CDTF">2025-10-18T18:48:19Z</dcterms:created>
  <dcterms:modified xsi:type="dcterms:W3CDTF">2025-10-21T18:50:19Z</dcterms:modified>
</cp:coreProperties>
</file>