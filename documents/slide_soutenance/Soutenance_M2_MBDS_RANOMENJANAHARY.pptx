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130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c:v>
                </c:pt>
                <c:pt idx="1">
                  <c:v>1</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0,179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c:v>
                </c:pt>
                <c:pt idx="1">
                  <c:v>0.82399999999999995</c:v>
                </c:pt>
                <c:pt idx="2">
                  <c:v>0.17899999999999999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0,303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c:v>
                </c:pt>
                <c:pt idx="1">
                  <c:v>0.90300000000000002</c:v>
                </c:pt>
                <c:pt idx="2">
                  <c:v>0.30299999999999999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Merci </a:t>
            </a:r>
            <a:r>
              <a:rPr lang="en-US" dirty="0" err="1"/>
              <a:t>Mr</a:t>
            </a:r>
            <a:r>
              <a:rPr lang="en-US" dirty="0"/>
              <a:t> le Jury de </a:t>
            </a:r>
            <a:r>
              <a:rPr lang="en-US" dirty="0" err="1"/>
              <a:t>m’avoir</a:t>
            </a:r>
            <a:r>
              <a:rPr lang="en-US" dirty="0"/>
              <a:t> donner la </a:t>
            </a:r>
            <a:r>
              <a:rPr lang="en-US"/>
              <a:t>parole. </a:t>
            </a:r>
            <a:r>
              <a:t>Je </a:t>
            </a:r>
            <a:r>
              <a:rPr dirty="0"/>
              <a:t>suis Ranomenjanahary Manjaka Alpha, </a:t>
            </a:r>
            <a:r>
              <a:rPr dirty="0" err="1"/>
              <a:t>en</a:t>
            </a:r>
            <a:r>
              <a:rPr dirty="0"/>
              <a:t> master MBDS. Je </a:t>
            </a:r>
            <a:r>
              <a:rPr dirty="0" err="1"/>
              <a:t>vais</a:t>
            </a:r>
            <a:r>
              <a:rPr dirty="0"/>
              <a:t> vous </a:t>
            </a:r>
            <a:r>
              <a:rPr dirty="0" err="1"/>
              <a:t>présenter</a:t>
            </a:r>
            <a:r>
              <a:rPr dirty="0"/>
              <a:t> </a:t>
            </a:r>
            <a:r>
              <a:rPr dirty="0" err="1"/>
              <a:t>mon</a:t>
            </a:r>
            <a:r>
              <a:rPr dirty="0"/>
              <a:t> stage chez Madagascar Medical Technology : </a:t>
            </a:r>
            <a:r>
              <a:rPr dirty="0" err="1"/>
              <a:t>une</a:t>
            </a:r>
            <a:r>
              <a:rPr dirty="0"/>
              <a:t> </a:t>
            </a:r>
            <a:r>
              <a:rPr dirty="0" err="1"/>
              <a:t>plateforme</a:t>
            </a:r>
            <a:r>
              <a:rPr dirty="0"/>
              <a:t> qui </a:t>
            </a:r>
            <a:r>
              <a:rPr dirty="0" err="1"/>
              <a:t>rassemble</a:t>
            </a:r>
            <a:r>
              <a:rPr dirty="0"/>
              <a:t> les dossiers d'un </a:t>
            </a:r>
            <a:r>
              <a:rPr dirty="0" err="1"/>
              <a:t>même</a:t>
            </a:r>
            <a:r>
              <a:rPr dirty="0"/>
              <a:t> patient </a:t>
            </a:r>
            <a:r>
              <a:rPr dirty="0" err="1"/>
              <a:t>dispersés</a:t>
            </a:r>
            <a:r>
              <a:rPr dirty="0"/>
              <a:t> entre </a:t>
            </a:r>
            <a:r>
              <a:rPr dirty="0" err="1"/>
              <a:t>plusieurs</a:t>
            </a:r>
            <a:r>
              <a:rPr dirty="0"/>
              <a:t> services, et qui ne laisse lire </a:t>
            </a:r>
            <a:r>
              <a:rPr dirty="0" err="1"/>
              <a:t>ces</a:t>
            </a:r>
            <a:r>
              <a:rPr dirty="0"/>
              <a:t> dossiers </a:t>
            </a:r>
            <a:r>
              <a:rPr dirty="0" err="1"/>
              <a:t>que</a:t>
            </a:r>
            <a:r>
              <a:rPr dirty="0"/>
              <a:t> </a:t>
            </a:r>
            <a:r>
              <a:rPr dirty="0" err="1"/>
              <a:t>si</a:t>
            </a:r>
            <a:r>
              <a:rPr dirty="0"/>
              <a:t> le patient </a:t>
            </a:r>
            <a:r>
              <a:rPr dirty="0" err="1"/>
              <a:t>l'a</a:t>
            </a:r>
            <a:r>
              <a:rPr dirty="0"/>
              <a:t> </a:t>
            </a:r>
            <a:r>
              <a:rPr dirty="0" err="1"/>
              <a:t>accepté</a:t>
            </a:r>
            <a:r>
              <a:rPr dirty="0"/>
              <a:t>. </a:t>
            </a:r>
            <a:r>
              <a:rPr dirty="0" err="1"/>
              <a:t>Toutes</a:t>
            </a:r>
            <a:r>
              <a:rPr dirty="0"/>
              <a:t> les données </a:t>
            </a:r>
            <a:r>
              <a:rPr dirty="0" err="1"/>
              <a:t>que</a:t>
            </a:r>
            <a:r>
              <a:rPr dirty="0"/>
              <a:t> je </a:t>
            </a:r>
            <a:r>
              <a:rPr dirty="0" err="1"/>
              <a:t>vais</a:t>
            </a:r>
            <a:r>
              <a:rPr dirty="0"/>
              <a:t> </a:t>
            </a:r>
            <a:r>
              <a:rPr dirty="0" err="1"/>
              <a:t>montrer</a:t>
            </a:r>
            <a:r>
              <a:rPr dirty="0"/>
              <a:t> </a:t>
            </a:r>
            <a:r>
              <a:rPr dirty="0" err="1"/>
              <a:t>sont</a:t>
            </a:r>
            <a:r>
              <a:rPr dirty="0"/>
              <a:t> </a:t>
            </a:r>
            <a:r>
              <a:rPr dirty="0" err="1"/>
              <a:t>fictives</a:t>
            </a:r>
            <a:r>
              <a:rPr dirty="0"/>
              <a:t>.</a:t>
            </a:r>
          </a:p>
          <a:p>
            <a:endParaRPr dirty="0"/>
          </a:p>
          <a:p>
            <a:r>
              <a:rPr dirty="0"/>
              <a:t>→ </a:t>
            </a:r>
            <a:r>
              <a:rPr dirty="0" err="1"/>
              <a:t>Quelques</a:t>
            </a:r>
            <a:r>
              <a:rPr dirty="0"/>
              <a:t> mots </a:t>
            </a:r>
            <a:r>
              <a:rPr dirty="0" err="1"/>
              <a:t>d'abord</a:t>
            </a:r>
            <a:r>
              <a:rPr dirty="0"/>
              <a:t> sur </a:t>
            </a:r>
            <a:r>
              <a:rPr dirty="0" err="1"/>
              <a:t>l'entreprise</a:t>
            </a:r>
            <a:r>
              <a:rPr dirty="0"/>
              <a:t> qui </a:t>
            </a:r>
            <a:r>
              <a:rPr dirty="0" err="1"/>
              <a:t>m'a</a:t>
            </a:r>
            <a:r>
              <a:rPr dirty="0"/>
              <a:t> </a:t>
            </a:r>
            <a:r>
              <a:rPr dirty="0" err="1"/>
              <a:t>accueilli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Son métier historique, c'est le matériel biomédical : distribution, maintenance, consommables. Elle est Business Partner de Siemens Healthineers. Depuis 2024, elle a un département Recherche et Développement, qui gère des systèmes d'information médicale : c'est là que j'ai passé quatre mois, de juillet à fin octobre.</a:t>
            </a:r>
          </a:p>
          <a:p>
            <a:endParaRPr/>
          </a:p>
          <a:p>
            <a:r>
              <a:t>J'ai choisi ce sujet parce qu'il réunit les trois volets du master : les bases de données, l'intégration de systèmes hétérogènes et le Big Data, que je voulais pratiquer et non plus seulement étudier.</a:t>
            </a:r>
          </a:p>
          <a:p>
            <a:endParaRPr/>
          </a:p>
          <a:p>
            <a:r>
              <a:t>→ Voici le problème que j'ai trouvé en arrivant.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Imaginez un patient. Il passe à la pharmacie, puis en consultation, puis à l'imagerie. À chaque étape, on l'enregistre de nouveau. En pharmacie, il s'appelle « Jean Rakoto ». En consultation, « Rakoto Jean ». À l'imagerie, « J. RAKOTO ». Le CIN et la date de naissance sont écrits autrement à chaque fois.</a:t>
            </a:r>
          </a:p>
          <a:p>
            <a:endParaRPr/>
          </a:p>
          <a:p>
            <a:r>
              <a:t>Aucun de ces services ne sait que c'est la même personne. Et personne ne lui a demandé ce qu'il accepte que l'on fasse de ses données. Voilà les deux questions de mon stage : comment savoir que c'est lui ? Et qui a le droit de lire son dossier, pour quoi faire ?</a:t>
            </a:r>
          </a:p>
          <a:p>
            <a:endParaRPr/>
          </a:p>
          <a:p>
            <a:r>
              <a:t>→ Derrière ce cas, il y a trois problèmes.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c'est la dispersion : le dossier d'un patient est éclaté entre plusieurs bases. Le deuxième, l'hétérogénéité : même le genre s'écrit H/F, male/female ou Homme/femme. Et ces sources ne sont pas figées : un service peut être séparé en plusieurs bases demain. Le troisième, l'absence de gouvernance : rien ne dit qui accède à quoi, ni pourquoi.</a:t>
            </a:r>
          </a:p>
          <a:p>
            <a:endParaRPr/>
          </a:p>
          <a:p>
            <a:r>
              <a:t>Ma problématique est donc la suivante : comment centraliser et dédupliquer ces données, tout en gardant la trace des identités et en contrôlant chaque accès par le consentement du patient ?</a:t>
            </a:r>
          </a:p>
          <a:p>
            <a:endParaRPr/>
          </a:p>
          <a:p>
            <a:r>
              <a:t>→ Le cahier des charges traduit cela en six objectifs.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objectifs : centraliser, nettoyer, dédupliquer de façon explicable, gouverner les accès, visualiser et évaluer. Et deux contraintes non négociables : les données ne quittent pas l'établissement, et je n'ai travaillé que sur des données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commence par l'état de l'art et l'existant, puis la solution et ses résultats, une démonstration, et je termine par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structurent tout le projet. L'ELT : on charge la donnée brute d'abord, on la transforme ensuite. Le modèle Medallion : trois zones de qualité croissante, RAW, SILVER et GOLD, qu'on peut rejouer. Le Master Patient Index : l'annuaire qui reconnaît un même patient et lui donne un identifiant unique. Et le consentement par finalité : le patient autorise un usage précis, jamais un accès global. Sans avis de sa part, c'est un refus.</a:t>
            </a:r>
          </a:p>
          <a:p>
            <a:endParaRPr/>
          </a:p>
          <a:p>
            <a:r>
              <a:t>→ Existe-t-il déjà un produit qui fasse tout cela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à partir de leur documentation : je ne les ai pas installées. Les plus complètes sur l'identité, comme EMPI ou Talend, sont lourdes et sous licence. Azure est un service cloud, donc exclu par l'hébergement interne. Splink est excellent sur l'algorithme, mais ses poids sont difficiles à expliquer à un gestionnaire de données.</a:t>
            </a:r>
          </a:p>
          <a:p>
            <a:endParaRPr/>
          </a:p>
          <a:p>
            <a:r>
              <a:t>Aucune ne coche les six critères. J'ai donc construit une chaîne sur mesure, mais adossée aux standards : Fellegi-Sunter pour la décision, FHIR pour le format, Medallion pour le lac.</a:t>
            </a:r>
          </a:p>
          <a:p>
            <a:endParaRPr/>
          </a:p>
          <a:p>
            <a:r>
              <a:t>→ Côté établissement, qu'est-ce qui existait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 MAVIS, sous Odoo, avec 1 260 tables sur le serveur distant ; MMT_DB, sous GNU Health ; et une base clinique en SQLite. Chacune est cohérente avec elle-même : la clinique n'a aucune violation de clé. Le problème n'est donc pas la qualité de chaque base. C'est l'absence de pont entre elles.</a:t>
            </a:r>
          </a:p>
          <a:p>
            <a:endParaRPr/>
          </a:p>
          <a:p>
            <a:r>
              <a:t>→ Ce pont manquant se décompose en cinq manques.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d'identifiant commun : le CIN manque pour environ un quart des patients. Pas de format commun. Pas de rapprochement explicable. Pas de gouvernance. Et pas d'espace pour rejouer un traitement. Le premier prototype comptait 24 872 marqueurs de doublon, mais sans jamais dire pourquoi : on détectait, on n'expliquait pas.</a:t>
            </a:r>
          </a:p>
          <a:p>
            <a:endParaRPr/>
          </a:p>
          <a:p>
            <a:r>
              <a:t>→ Ma réponse a commencé petit.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prototype simple, en Pandas et PostgreSQL, pour vérifier que le problème métier se résout. Niveau 2 : le même moteur porté en Spark, avec des résultats strictement identiques. Niveau 3 : le lac de données sur HDFS, Hive et Spark.</a:t>
            </a:r>
          </a:p>
          <a:p>
            <a:endParaRPr/>
          </a:p>
          <a:p>
            <a:r>
              <a:t>Deux garde-fous : je n'ai changé d'échelle qu'après avoir validé la qualité sur une vérité terrain, et je n'ai ouvert les accès qu'une fois la gouvernance en place. Chaque technologie arrive parce qu'un besoin l'exige.</a:t>
            </a:r>
          </a:p>
          <a:p>
            <a:endParaRPr/>
          </a:p>
          <a:p>
            <a:r>
              <a:t>→ Voici le chemin d'une donnée dans l'architecture finale.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sources sont copiées telles quelles dans la zone RAW, sur HDFS. Elles sont ensuite harmonisées au format FHIR dans la zone SILVER, où le moteur rattache chaque fiche à son patient maître. La zone GOLD porte les agrégats et le consentement. PostgreSQL garde l'état de référence : patients maîtres, consentements, journal d'audit. Et l'API de gouvernance est la seule porte d'entrée : chaque appel y est journalisé. Le tout tourne sur une machine virtuelle de 8 Go, avec des outils libres.</a:t>
            </a:r>
          </a:p>
          <a:p>
            <a:endParaRPr/>
          </a:p>
          <a:p>
            <a:r>
              <a:t>→ Le cœur de cette architecture, c'est le moteur de déduplication.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 règle tient en une phrase : aucune fusion sans identité identique.</a:t>
            </a:r>
          </a:p>
          <a:p>
            <a:endParaRPr/>
          </a:p>
          <a:p>
            <a:r>
              <a:t>Deux fiches sont réunies si, et seulement si, elles ont le même CIN, le même genre, la même date et la même ville de naissance. Sans CIN, le nom doit être identique en plus. Il n'y a ni score ni seuil : qu'un champ manque, et la fiche reste seule.</a:t>
            </a:r>
          </a:p>
          <a:p>
            <a:endParaRPr/>
          </a:p>
          <a:p>
            <a:r>
              <a:t>J'ai d'abord utilisé un score pondéré. Sur 100 000 patients, il a réuni deux homonymes parfaits, aux CIN différents. J'ai donc choisi la règle stricte. Chaque décision porte sa méthode et son explication, et l'identifiant du patient, dérivé de sa clé, ne change pas d'un run à l'autre.</a:t>
            </a:r>
          </a:p>
          <a:p>
            <a:endParaRPr/>
          </a:p>
          <a:p>
            <a:r>
              <a:t>→ Une fois l'identité établie, reste à savoir qui peut la lire.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demande ? La clé d'API donne l'utilisateur et son rôle ; une clé inconnue, c'est 401. Pourquoi ? La finalité est obligatoire ; si le patient ne l'a pas acceptée, c'est 403, même pour un utilisateur autorisé. Et la trace : chaque appel, accepté ou refusé, est journalisé avec son motif.</a:t>
            </a:r>
          </a:p>
          <a:p>
            <a:endParaRPr/>
          </a:p>
          <a:p>
            <a:r>
              <a:t>Aujourd'hui, le patient choisit par finalité : consultation via l'API, recherche, statistiques. L'étape suivante, en cours de développement, c'est le choix par type de dossier : accepter qu'on lise ses consultations, mais refuser l'imagerie.</a:t>
            </a:r>
          </a:p>
          <a:p>
            <a:endParaRPr/>
          </a:p>
          <a:p>
            <a:r>
              <a:t>→ Qu'est-ce que tout cela donne sur des données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jeu difficile, rejoué dans la VM : 1 057 fiches, 942 patients distincts, 115 doublons rattachés. La cohérence se vérifie par une soustraction : 1 057 moins 115, 942. Sur 100 000 patients, le run complet prend moins de trois minutes. Et les 131 tests passent.</a:t>
            </a:r>
          </a:p>
          <a:p>
            <a:endParaRPr/>
          </a:p>
          <a:p>
            <a:r>
              <a:t>→ Mais ces 942 patients sont-ils les bons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savoir, il faut connaître la vérité. J'ai donc généré des patients fictifs, puis des jeux où 10, 30 ou 50 % des fiches sont abîmées : fautes de frappe, inversions, champs effacés.</a:t>
            </a:r>
          </a:p>
          <a:p>
            <a:endParaRPr/>
          </a:p>
          <a:p>
            <a:r>
              <a:t>Résultat principal : zéro fusion à tort, sur tous les jeux, y compris à 100 000 patients. En santé, c'est la propriété qui compte : confondre deux patients est plus grave que de les laisser séparés. Sa portée a une limite : mes données ne contiennent pas de CIN partagé par deux personnes. C'est donc une estimation optimiste.</a:t>
            </a:r>
          </a:p>
          <a:p>
            <a:endParaRPr/>
          </a:p>
          <a:p>
            <a:r>
              <a:t>Le prix de cette prudence, c'est le rappel : 0,18 sur le jeu difficile, car une fiche dont la date ou la ville a été effacée n'est jamais rattachée. Python et Spark donnent exactement les mêmes identifiants, fiche par fiche.</a:t>
            </a:r>
          </a:p>
          <a:p>
            <a:endParaRPr/>
          </a:p>
          <a:p>
            <a:r>
              <a:t>→ Je vous montre maintenant la chaîne en fonctionnement.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vidéo suit l'ordre de construction du projet : les tests, l'évaluation, le pipeline, puis le tableau de bord.</a:t>
            </a:r>
          </a:p>
          <a:p>
            <a:endParaRPr/>
          </a:p>
          <a:p>
            <a:r>
              <a:t>131 tests, aucun échec : moteur, gouvernance, pipeline.</a:t>
            </a:r>
          </a:p>
          <a:p>
            <a:endParaRPr/>
          </a:p>
          <a:p>
            <a:r>
              <a:t>Précision 1,000, rappel 0,179, mêmes identifiants en Python et dans Spark.</a:t>
            </a:r>
          </a:p>
          <a:p>
            <a:endParaRPr/>
          </a:p>
          <a:p>
            <a:r>
              <a:t>Les étapes s'enchaînent jusqu'à la zone GOLD.</a:t>
            </a:r>
          </a:p>
          <a:p>
            <a:endParaRPr/>
          </a:p>
          <a:p>
            <a:r>
              <a:t>Les zones, le dernier run et la planification.</a:t>
            </a:r>
          </a:p>
          <a:p>
            <a:endParaRPr/>
          </a:p>
          <a:p>
            <a:r>
              <a:t>Les mêmes preuves en chiffres : 1 057, 942, 115.</a:t>
            </a:r>
          </a:p>
          <a:p>
            <a:endParaRPr/>
          </a:p>
          <a:p>
            <a:r>
              <a:t>→ Ce que je n'ai pas résolu.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est de 0,18. La planification automatique n'a pas encore été activée. La base centrale est une base de test, avec des consentements de démonstration. Et la plateforme n'est pas déployée : c'est un prototype reproductible.</a:t>
            </a:r>
          </a:p>
          <a:p>
            <a:endParaRPr/>
          </a:p>
          <a:p>
            <a:r>
              <a:t>La suite : terminer le consentement par type de dossier, valider à la main les fiches incomplètes, activer la planification. Et avant toute mise en production, vérifier le droit malgache des données de santé.</a:t>
            </a:r>
          </a:p>
          <a:p>
            <a:endParaRPr/>
          </a:p>
          <a:p>
            <a:r>
              <a:t>→ Pour conclure.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plateforme centralise, normalise, déduplique sans fusion à tort sur nos jeux de référence, et contrôle chaque accès par le consentement. Changer d'échelle n'a pas changé la logique. Et derrière chaque chiffre, il y a ce patient du début : reconnu comme une seule personne, et maître de l'usage de ses données.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à votre disposition pour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10.png"/><Relationship Id="rId5" Type="http://schemas.openxmlformats.org/officeDocument/2006/relationships/image" Target="../media/image3.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2.jpg"/><Relationship Id="rId9" Type="http://schemas.openxmlformats.org/officeDocument/2006/relationships/image" Target="../media/image8.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FHIR normalisé</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exact + probabiliste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aucune fusion sans identité identique</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Clé d'identité</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CIN + genre + naissance + ville ; sans CIN, le nom en plus</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Règle stricte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même clé → même patient maître, sans score ni seuil</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Identité incomplète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un champ manquant → la fiche reste seule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méthode · explication</a:t>
            </a:r>
          </a:p>
          <a:p>
            <a:pPr algn="ctr"/>
            <a:r>
              <a:rPr sz="1500" b="0" i="0">
                <a:solidFill>
                  <a:srgbClr val="FFFFFF"/>
                </a:solidFill>
                <a:latin typeface="Consolas"/>
              </a:rPr>
              <a:t>new_master · exact — identifiant dérivé de la clé</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Quatre champs comparés à l'identique</a:t>
            </a:r>
          </a:p>
        </p:txBody>
      </p:sp>
      <p:sp>
        <p:nvSpPr>
          <p:cNvPr id="21" name="Rectangle 20"/>
          <p:cNvSpPr/>
          <p:nvPr/>
        </p:nvSpPr>
        <p:spPr>
          <a:xfrm>
            <a:off x="6675120" y="2103120"/>
            <a:ext cx="1241983"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CIN</a:t>
            </a:r>
          </a:p>
          <a:p>
            <a:pPr algn="ctr"/>
            <a:r>
              <a:rPr sz="1500" b="1" i="0">
                <a:solidFill>
                  <a:srgbClr val="FFFFFF"/>
                </a:solidFill>
                <a:latin typeface="Calibri"/>
              </a:rPr>
              <a:t>identique</a:t>
            </a:r>
          </a:p>
        </p:txBody>
      </p:sp>
      <p:sp>
        <p:nvSpPr>
          <p:cNvPr id="23" name="Rectangle 22"/>
          <p:cNvSpPr/>
          <p:nvPr/>
        </p:nvSpPr>
        <p:spPr>
          <a:xfrm>
            <a:off x="7917103" y="2103120"/>
            <a:ext cx="1241983"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917103" y="2148840"/>
            <a:ext cx="1241983"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Genre</a:t>
            </a:r>
          </a:p>
          <a:p>
            <a:pPr algn="ctr"/>
            <a:r>
              <a:rPr sz="1500" b="1" i="0">
                <a:solidFill>
                  <a:srgbClr val="FFFFFF"/>
                </a:solidFill>
                <a:latin typeface="Calibri"/>
              </a:rPr>
              <a:t>identique</a:t>
            </a:r>
          </a:p>
        </p:txBody>
      </p:sp>
      <p:sp>
        <p:nvSpPr>
          <p:cNvPr id="25" name="Rectangle 24"/>
          <p:cNvSpPr/>
          <p:nvPr/>
        </p:nvSpPr>
        <p:spPr>
          <a:xfrm>
            <a:off x="9159086" y="2103120"/>
            <a:ext cx="124198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9159086"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Date</a:t>
            </a:r>
          </a:p>
          <a:p>
            <a:pPr algn="ctr"/>
            <a:r>
              <a:rPr sz="1300" b="1" i="0">
                <a:solidFill>
                  <a:srgbClr val="1D2433"/>
                </a:solidFill>
                <a:latin typeface="Calibri"/>
              </a:rPr>
              <a:t>identique</a:t>
            </a:r>
          </a:p>
        </p:txBody>
      </p:sp>
      <p:sp>
        <p:nvSpPr>
          <p:cNvPr id="27" name="Rectangle 26"/>
          <p:cNvSpPr/>
          <p:nvPr/>
        </p:nvSpPr>
        <p:spPr>
          <a:xfrm>
            <a:off x="10401069" y="2103120"/>
            <a:ext cx="124198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0401069" y="2148840"/>
            <a:ext cx="124198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identique</a:t>
            </a:r>
          </a:p>
        </p:txBody>
      </p: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aucun score (v1 : seuil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100 000 PATIENTS</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Georges Grenier ×2 : même nom, même date, CIN différents</a:t>
            </a:r>
          </a:p>
          <a:p>
            <a:pPr algn="l">
              <a:spcAft>
                <a:spcPts val="600"/>
              </a:spcAft>
            </a:pPr>
            <a:r>
              <a:rPr sz="1500" b="1" i="0">
                <a:solidFill>
                  <a:srgbClr val="1D2433"/>
                </a:solidFill>
                <a:latin typeface="Calibri"/>
              </a:rPr>
              <a:t>v1 (score 0,80) : fusion à tort — v2 : deux patients distincts</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difficile : 1 057 fiches ramenées à 942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1 057</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(404 + 353 + 300)</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942</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115</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10,88 %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1 057 − 115 = 942</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5 / 5</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30/09/2026)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131 / 131</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pipeline)</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Jeu d'évaluation difficile, données synthétiques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tous les jeux, 100 000 patients compris</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Python = Spark</a:t>
            </a:r>
          </a:p>
          <a:p>
            <a:pPr algn="l">
              <a:spcAft>
                <a:spcPts val="400"/>
              </a:spcAft>
            </a:pPr>
            <a:r>
              <a:rPr sz="1500" b="0" i="0">
                <a:solidFill>
                  <a:srgbClr val="1D2433"/>
                </a:solidFill>
                <a:latin typeface="Calibri"/>
              </a:rPr>
              <a:t>0 différence d'identifiant sur 212 523 fiches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0,422 (v1) → 0,179 (v2)</a:t>
            </a:r>
          </a:p>
          <a:p>
            <a:pPr algn="l">
              <a:spcAft>
                <a:spcPts val="400"/>
              </a:spcAft>
            </a:pPr>
            <a:r>
              <a:rPr sz="1500" b="0" i="0">
                <a:solidFill>
                  <a:srgbClr val="1D2433"/>
                </a:solidFill>
                <a:latin typeface="Calibri"/>
              </a:rPr>
              <a:t>prix de la règle stricte : fiches incomplètes non rattachées</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131 / 131</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1 057 · 942 · 115</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0,179 sur le jeu difficile (fiches incomplètes)</a:t>
            </a:r>
          </a:p>
          <a:p>
            <a:pPr marL="228600" indent="-201168" algn="l">
              <a:spcAft>
                <a:spcPts val="1000"/>
              </a:spcAft>
              <a:buClr>
                <a:srgbClr val="2E5597"/>
              </a:buClr>
              <a:buChar char="•"/>
            </a:pPr>
            <a:r>
              <a:rPr sz="1600" b="0" i="0">
                <a:solidFill>
                  <a:srgbClr val="1D2433"/>
                </a:solidFill>
                <a:latin typeface="Calibri"/>
              </a:rPr>
              <a:t>Planification cron non activée : logique testée, pas encore observée</a:t>
            </a:r>
          </a:p>
          <a:p>
            <a:pPr marL="228600" indent="-201168" algn="l">
              <a:spcAft>
                <a:spcPts val="1000"/>
              </a:spcAft>
              <a:buClr>
                <a:srgbClr val="2E5597"/>
              </a:buClr>
              <a:buChar char="•"/>
            </a:pPr>
            <a:r>
              <a:rPr sz="1600" b="0" i="0">
                <a:solidFill>
                  <a:srgbClr val="1D2433"/>
                </a:solidFill>
                <a:latin typeface="Calibri"/>
              </a:rPr>
              <a:t>Base centrale de test : consentements de démonstration</a:t>
            </a:r>
          </a:p>
          <a:p>
            <a:pPr marL="228600" indent="-201168" algn="l">
              <a:spcAft>
                <a:spcPts val="1000"/>
              </a:spcAft>
              <a:buClr>
                <a:srgbClr val="2E5597"/>
              </a:buClr>
              <a:buChar char="•"/>
            </a:pPr>
            <a:r>
              <a:rPr sz="1600" b="0" i="0">
                <a:solidFill>
                  <a:srgbClr val="1D2433"/>
                </a:solidFill>
                <a:latin typeface="Calibri"/>
              </a:rPr>
              <a:t>Plateforme non déployée : prototype reproductible sur VM</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 : consentement par type de dossier, validation des fiches incomplètes, activation du cron</a:t>
            </a:r>
          </a:p>
          <a:p>
            <a:pPr marL="228600" indent="-201168" algn="l">
              <a:spcAft>
                <a:spcPts val="1000"/>
              </a:spcAft>
              <a:buClr>
                <a:srgbClr val="2E5597"/>
              </a:buClr>
              <a:buChar char="•"/>
            </a:pPr>
            <a:r>
              <a:rPr sz="1600" b="1" i="0">
                <a:solidFill>
                  <a:srgbClr val="1D2433"/>
                </a:solidFill>
                <a:latin typeface="Calibri"/>
              </a:rPr>
              <a:t>Moyen terme : intégration continue, lignes nouvelles seules, plusieurs nœuds</a:t>
            </a:r>
          </a:p>
          <a:p>
            <a:pPr marL="228600" indent="-201168" algn="l">
              <a:spcAft>
                <a:spcPts val="1000"/>
              </a:spcAft>
              <a:buClr>
                <a:srgbClr val="2E5597"/>
              </a:buClr>
              <a:buChar char="•"/>
            </a:pPr>
            <a:r>
              <a:rPr sz="1600" b="1" i="0">
                <a:solidFill>
                  <a:srgbClr val="1D2433"/>
                </a:solidFill>
                <a:latin typeface="Calibri"/>
              </a:rPr>
              <a:t>Long terme : catalogue de métadonnées, autres entités (médecins, médicaments)</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1 057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exact + probabiliste,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3765</Words>
  <Application>Microsoft Office PowerPoint</Application>
  <PresentationFormat>Widescreen</PresentationFormat>
  <Paragraphs>487</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4</cp:revision>
  <dcterms:created xsi:type="dcterms:W3CDTF">2013-01-27T09:14:16Z</dcterms:created>
  <dcterms:modified xsi:type="dcterms:W3CDTF">2026-09-30T10:42:00Z</dcterms:modified>
  <cp:category/>
</cp:coreProperties>
</file>