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77" r:id="rId2"/>
    <p:sldId id="257"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121" autoAdjust="0"/>
  </p:normalViewPr>
  <p:slideViewPr>
    <p:cSldViewPr snapToGrid="0" snapToObjects="1">
      <p:cViewPr varScale="1">
        <p:scale>
          <a:sx n="66" d="100"/>
          <a:sy n="66" d="100"/>
        </p:scale>
        <p:origin x="413"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Précision</c:v>
                </c:pt>
              </c:strCache>
            </c:strRef>
          </c:tx>
          <c:spPr>
            <a:solidFill>
              <a:srgbClr val="1F3864"/>
            </a:solidFill>
          </c:spPr>
          <c:invertIfNegative val="1"/>
          <c:dLbls>
            <c:dLbl>
              <c:idx val="0"/>
              <c:tx>
                <c:rich>
                  <a:bodyPr/>
                  <a:lstStyle/>
                  <a:p>
                    <a:r>
                      <a:rPr lang="fr-FR" sz="1200" b="1">
                        <a:solidFill>
                          <a:srgbClr val="1D2433"/>
                        </a:solidFill>
                      </a:rPr>
                      <a:t>1,000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1ED-4A00-8FBC-77361ABC3DB1}"/>
                </c:ext>
              </c:extLst>
            </c:dLbl>
            <c:dLbl>
              <c:idx val="1"/>
              <c:tx>
                <c:rich>
                  <a:bodyPr/>
                  <a:lstStyle/>
                  <a:p>
                    <a:r>
                      <a:rPr lang="fr-FR" sz="1200" b="1">
                        <a:solidFill>
                          <a:srgbClr val="1D2433"/>
                        </a:solidFill>
                      </a:rPr>
                      <a:t>1,000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1ED-4A00-8FBC-77361ABC3DB1}"/>
                </c:ext>
              </c:extLst>
            </c:dLbl>
            <c:dLbl>
              <c:idx val="2"/>
              <c:tx>
                <c:rich>
                  <a:bodyPr/>
                  <a:lstStyle/>
                  <a:p>
                    <a:r>
                      <a:rPr lang="fr-FR" sz="1200" b="1">
                        <a:solidFill>
                          <a:srgbClr val="1D2433"/>
                        </a:solidFill>
                      </a:rPr>
                      <a:t>1,000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1ED-4A00-8FBC-77361ABC3DB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Facile (10 %)</c:v>
                </c:pt>
                <c:pt idx="1">
                  <c:v>Moyen (30 %)</c:v>
                </c:pt>
                <c:pt idx="2">
                  <c:v>Difficile (50 %)</c:v>
                </c:pt>
              </c:strCache>
            </c:strRef>
          </c:cat>
          <c:val>
            <c:numRef>
              <c:f>Sheet1!$B$2:$B$4</c:f>
              <c:numCache>
                <c:formatCode>General</c:formatCode>
                <c:ptCount val="3"/>
                <c:pt idx="0">
                  <c:v>1</c:v>
                </c:pt>
                <c:pt idx="1">
                  <c:v>1</c:v>
                </c:pt>
                <c:pt idx="2">
                  <c:v>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1ED-4A00-8FBC-77361ABC3DB1}"/>
            </c:ext>
          </c:extLst>
        </c:ser>
        <c:ser>
          <c:idx val="1"/>
          <c:order val="1"/>
          <c:tx>
            <c:strRef>
              <c:f>Sheet1!$C$1</c:f>
              <c:strCache>
                <c:ptCount val="1"/>
                <c:pt idx="0">
                  <c:v>Rappel</c:v>
                </c:pt>
              </c:strCache>
            </c:strRef>
          </c:tx>
          <c:spPr>
            <a:solidFill>
              <a:srgbClr val="C78400"/>
            </a:solidFill>
          </c:spPr>
          <c:invertIfNegative val="1"/>
          <c:dLbls>
            <c:dLbl>
              <c:idx val="0"/>
              <c:tx>
                <c:rich>
                  <a:bodyPr/>
                  <a:lstStyle/>
                  <a:p>
                    <a:r>
                      <a:rPr lang="fr-FR" sz="1200" b="1">
                        <a:solidFill>
                          <a:srgbClr val="1D2433"/>
                        </a:solidFill>
                      </a:rPr>
                      <a:t>1,000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1ED-4A00-8FBC-77361ABC3DB1}"/>
                </c:ext>
              </c:extLst>
            </c:dLbl>
            <c:dLbl>
              <c:idx val="1"/>
              <c:tx>
                <c:rich>
                  <a:bodyPr/>
                  <a:lstStyle/>
                  <a:p>
                    <a:r>
                      <a:rPr lang="fr-FR" sz="1200" b="1">
                        <a:solidFill>
                          <a:srgbClr val="1D2433"/>
                        </a:solidFill>
                      </a:rPr>
                      <a:t>0,884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D1ED-4A00-8FBC-77361ABC3DB1}"/>
                </c:ext>
              </c:extLst>
            </c:dLbl>
            <c:dLbl>
              <c:idx val="2"/>
              <c:tx>
                <c:rich>
                  <a:bodyPr/>
                  <a:lstStyle/>
                  <a:p>
                    <a:r>
                      <a:rPr lang="fr-FR" sz="1200" b="1">
                        <a:solidFill>
                          <a:srgbClr val="1D2433"/>
                        </a:solidFill>
                      </a:rPr>
                      <a:t>0,422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D1ED-4A00-8FBC-77361ABC3DB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Facile (10 %)</c:v>
                </c:pt>
                <c:pt idx="1">
                  <c:v>Moyen (30 %)</c:v>
                </c:pt>
                <c:pt idx="2">
                  <c:v>Difficile (50 %)</c:v>
                </c:pt>
              </c:strCache>
            </c:strRef>
          </c:cat>
          <c:val>
            <c:numRef>
              <c:f>Sheet1!$C$2:$C$4</c:f>
              <c:numCache>
                <c:formatCode>General</c:formatCode>
                <c:ptCount val="3"/>
                <c:pt idx="0">
                  <c:v>1</c:v>
                </c:pt>
                <c:pt idx="1">
                  <c:v>0.88400000000000001</c:v>
                </c:pt>
                <c:pt idx="2">
                  <c:v>0.42199999999999999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D1ED-4A00-8FBC-77361ABC3DB1}"/>
            </c:ext>
          </c:extLst>
        </c:ser>
        <c:ser>
          <c:idx val="2"/>
          <c:order val="2"/>
          <c:tx>
            <c:strRef>
              <c:f>Sheet1!$D$1</c:f>
              <c:strCache>
                <c:ptCount val="1"/>
                <c:pt idx="0">
                  <c:v>F1</c:v>
                </c:pt>
              </c:strCache>
            </c:strRef>
          </c:tx>
          <c:spPr>
            <a:solidFill>
              <a:srgbClr val="8EAADB"/>
            </a:solidFill>
          </c:spPr>
          <c:invertIfNegative val="1"/>
          <c:dLbls>
            <c:dLbl>
              <c:idx val="0"/>
              <c:tx>
                <c:rich>
                  <a:bodyPr/>
                  <a:lstStyle/>
                  <a:p>
                    <a:r>
                      <a:rPr lang="fr-FR" sz="1200" b="1">
                        <a:solidFill>
                          <a:srgbClr val="1D2433"/>
                        </a:solidFill>
                      </a:rPr>
                      <a:t>1,000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D1ED-4A00-8FBC-77361ABC3DB1}"/>
                </c:ext>
              </c:extLst>
            </c:dLbl>
            <c:dLbl>
              <c:idx val="1"/>
              <c:tx>
                <c:rich>
                  <a:bodyPr/>
                  <a:lstStyle/>
                  <a:p>
                    <a:r>
                      <a:rPr lang="fr-FR" sz="1200" b="1">
                        <a:solidFill>
                          <a:srgbClr val="1D2433"/>
                        </a:solidFill>
                      </a:rPr>
                      <a:t>0,939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D1ED-4A00-8FBC-77361ABC3DB1}"/>
                </c:ext>
              </c:extLst>
            </c:dLbl>
            <c:dLbl>
              <c:idx val="2"/>
              <c:tx>
                <c:rich>
                  <a:bodyPr/>
                  <a:lstStyle/>
                  <a:p>
                    <a:r>
                      <a:rPr lang="fr-FR" sz="1200" b="1">
                        <a:solidFill>
                          <a:srgbClr val="1D2433"/>
                        </a:solidFill>
                      </a:rPr>
                      <a:t>0,594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D1ED-4A00-8FBC-77361ABC3DB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Facile (10 %)</c:v>
                </c:pt>
                <c:pt idx="1">
                  <c:v>Moyen (30 %)</c:v>
                </c:pt>
                <c:pt idx="2">
                  <c:v>Difficile (50 %)</c:v>
                </c:pt>
              </c:strCache>
            </c:strRef>
          </c:cat>
          <c:val>
            <c:numRef>
              <c:f>Sheet1!$D$2:$D$4</c:f>
              <c:numCache>
                <c:formatCode>General</c:formatCode>
                <c:ptCount val="3"/>
                <c:pt idx="0">
                  <c:v>1</c:v>
                </c:pt>
                <c:pt idx="1">
                  <c:v>0.93899999999999995</c:v>
                </c:pt>
                <c:pt idx="2">
                  <c:v>0.59399999999999997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B-D1ED-4A00-8FBC-77361ABC3DB1}"/>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400">
                <a:solidFill>
                  <a:srgbClr val="1D2433"/>
                </a:solidFill>
              </a:defRPr>
            </a:pPr>
            <a:endParaRPr lang="fr-FR"/>
          </a:p>
        </c:txPr>
        <c:crossAx val="-2113994440"/>
        <c:crosses val="autoZero"/>
        <c:auto val="1"/>
        <c:lblAlgn val="ctr"/>
        <c:lblOffset val="100"/>
        <c:noMultiLvlLbl val="0"/>
      </c:catAx>
      <c:valAx>
        <c:axId val="-2113994440"/>
        <c:scaling>
          <c:orientation val="minMax"/>
          <c:max val="1.1000000000000001"/>
          <c:min val="0"/>
        </c:scaling>
        <c:delete val="1"/>
        <c:axPos val="l"/>
        <c:majorGridlines>
          <c:spPr>
            <a:ln>
              <a:solidFill>
                <a:srgbClr val="E2E9F3"/>
              </a:solidFill>
            </a:ln>
          </c:spPr>
        </c:majorGridlines>
        <c:numFmt formatCode="General" sourceLinked="1"/>
        <c:majorTickMark val="out"/>
        <c:minorTickMark val="none"/>
        <c:tickLblPos val="nextTo"/>
        <c:crossAx val="-2068027336"/>
        <c:crosses val="autoZero"/>
        <c:crossBetween val="between"/>
      </c:valAx>
    </c:plotArea>
    <c:legend>
      <c:legendPos val="t"/>
      <c:overlay val="0"/>
      <c:txPr>
        <a:bodyPr/>
        <a:lstStyle/>
        <a:p>
          <a:pPr>
            <a:defRPr sz="1400">
              <a:solidFill>
                <a:srgbClr val="1D2433"/>
              </a:solidFill>
            </a:defRPr>
          </a:pPr>
          <a:endParaRPr lang="fr-FR"/>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169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à toutes et à tous. Je suis Ranomenjanahary Manjaka Alpha, en master MBDS. Je vais vous présenter mon stage chez Madagascar Medical Technology : une plateforme qui rassemble les dossiers d'un même patient dispersés entre plusieurs services, et qui ne laisse lire ces dossiers que si le patient l'a accepté. Toutes les données que je vais montrer sont fictives.</a:t>
            </a:r>
          </a:p>
          <a:p/>
          <a:p>
            <a:r>
              <a:t>→ Quelques mots d'abord sur l'entreprise qui m'a accueilli.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MMT a été créée en 2009. Son métier historique, c'est le matériel biomédical : distribution, maintenance, consommables. Elle est Business Partner de Siemens Healthineers. Depuis 2024, elle a un département Recherche et Développement, qui gère des systèmes d'information médicale : c'est là que j'ai passé quatre mois, de juillet à fin octobre.</a:t>
            </a:r>
          </a:p>
          <a:p/>
          <a:p>
            <a:r>
              <a:t>J'ai choisi ce sujet parce qu'il réunit les trois volets du master : les bases de données, l'intégration de systèmes hétérogènes et le Big Data, que je voulais pratiquer et non plus seulement étudier.</a:t>
            </a:r>
          </a:p>
          <a:p/>
          <a:p>
            <a:r>
              <a:t>→ Voici le problème que j'ai trouvé en arrivant.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Imaginez un patient. Il passe à la pharmacie, puis en consultation, puis à l'imagerie. À chaque étape, on l'enregistre de nouveau. En pharmacie, il s'appelle « Jean Rakoto ». En consultation, « Rakoto Jean ». À l'imagerie, « J. RAKOTO ». Le CIN et la date de naissance sont écrits autrement à chaque fois.</a:t>
            </a:r>
          </a:p>
          <a:p/>
          <a:p>
            <a:r>
              <a:t>Aucun de ces services ne sait que c'est la même personne. Et personne ne lui a demandé ce qu'il accepte que l'on fasse de ses données. Voilà les deux questions de mon stage : comment savoir que c'est lui ? Et qui a le droit de lire son dossier, pour quoi faire ?</a:t>
            </a:r>
          </a:p>
          <a:p/>
          <a:p>
            <a:r>
              <a:t>→ Derrière ce cas, il y a trois problèmes.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premier, c'est la dispersion : le dossier d'un patient est éclaté entre plusieurs bases. Le deuxième, l'hétérogénéité : même le genre s'écrit H/F, male/female ou Homme/femme. Et ces sources ne sont pas figées : un service peut être séparé en plusieurs bases demain. Le troisième, l'absence de gouvernance : rien ne dit qui accède à quoi, ni pourquoi.</a:t>
            </a:r>
          </a:p>
          <a:p/>
          <a:p>
            <a:r>
              <a:t>Ma problématique est donc la suivante : comment centraliser et dédupliquer ces données, tout en gardant la trace des identités et en contrôlant chaque accès par le consentement du patient ?</a:t>
            </a:r>
          </a:p>
          <a:p/>
          <a:p>
            <a:r>
              <a:t>→ Le cahier des charges traduit cela en six objectifs.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objectifs : centraliser, nettoyer, dédupliquer de façon explicable, gouverner les accès, visualiser et évaluer. Et deux contraintes non négociables : les données ne quittent pas l'établissement, et je n'ai travaillé que sur des données synthétiques.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commence par l'état de l'art et l'existant, puis la solution et ses résultats, une démonstration, et je termine par les limites.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notions structurent tout le projet. L'ELT : on charge la donnée brute d'abord, on la transforme ensuite. Le modèle Medallion : trois zones de qualité croissante, RAW, SILVER et GOLD, qu'on peut rejouer. Le Master Patient Index : l'annuaire qui reconnaît un même patient et lui donne un identifiant unique. Et le consentement par finalité : le patient autorise un usage précis, jamais un accès global. Sans avis de sa part, c'est un refus.</a:t>
            </a:r>
          </a:p>
          <a:p/>
          <a:p>
            <a:r>
              <a:t>→ Existe-t-il déjà un produit qui fasse tout cela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J'ai comparé six solutions sur six critères, à partir de leur documentation : je ne les ai pas installées. Les plus complètes sur l'identité, comme EMPI ou Talend, sont lourdes et sous licence. Azure est un service cloud, donc exclu par l'hébergement interne. Splink est excellent sur l'algorithme, mais ses poids sont difficiles à expliquer à un gestionnaire de données.</a:t>
            </a:r>
          </a:p>
          <a:p/>
          <a:p>
            <a:r>
              <a:t>Aucune ne coche les six critères. J'ai donc construit une chaîne sur mesure, mais adossée aux standards : Fellegi-Sunter pour la décision, FHIR pour le format, Medallion pour le lac.</a:t>
            </a:r>
          </a:p>
          <a:p/>
          <a:p>
            <a:r>
              <a:t>→ Côté établissement, qu'est-ce qui existait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systèmes : MAVIS, sous Odoo, avec 1 260 tables sur le serveur distant ; MMT_DB, sous GNU Health ; et une base clinique en SQLite. Chacune est cohérente avec elle-même : la clinique n'a aucune violation de clé. Le problème n'est donc pas la qualité de chaque base. C'est l'absence de pont entre elles.</a:t>
            </a:r>
          </a:p>
          <a:p/>
          <a:p>
            <a:r>
              <a:t>→ Ce pont manquant se décompose en cinq manques.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 d'identifiant commun : le CIN manque pour environ un quart des patients. Pas de format commun. Pas de rapprochement explicable. Pas de gouvernance. Et pas d'espace pour rejouer un traitement. Le premier prototype comptait 24 872 marqueurs de doublon, mais sans jamais dire pourquoi : on détectait, on n'expliquait pas.</a:t>
            </a:r>
          </a:p>
          <a:p/>
          <a:p>
            <a:r>
              <a:t>→ Ma réponse a commencé petit.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n'ai pas commencé par le Big Data. Niveau 1 : un prototype simple, en Pandas et PostgreSQL, pour vérifier que le problème métier se résout. Niveau 2 : le même moteur porté en Spark, avec des résultats strictement identiques. Niveau 3 : le lac de données sur HDFS, Hive et Spark.</a:t>
            </a:r>
          </a:p>
          <a:p/>
          <a:p>
            <a:r>
              <a:t>Deux garde-fous : je n'ai changé d'échelle qu'après avoir validé la qualité sur une vérité terrain, et je n'ai ouvert les accès qu'une fois la gouvernance en place. Chaque technologie arrive parce qu'un besoin l'exige.</a:t>
            </a:r>
          </a:p>
          <a:p/>
          <a:p>
            <a:r>
              <a:t>→ Voici le chemin d'une donnée dans l'architecture finale.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sources sont copiées telles quelles dans la zone RAW, sur HDFS. Elles sont ensuite harmonisées au format FHIR dans la zone SILVER, où le moteur rattache chaque fiche à son patient maître. La zone GOLD porte les agrégats et le consentement. PostgreSQL garde l'état de référence : patients maîtres, consentements, journal d'audit. Et l'API de gouvernance est la seule porte d'entrée : chaque appel y est journalisé. Le tout tourne sur une machine virtuelle de 8 Go, avec des outils libres.</a:t>
            </a:r>
          </a:p>
          <a:p/>
          <a:p>
            <a:r>
              <a:t>→ Le cœur de cette architecture, c'est le moteur de déduplication.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 règle tient en une phrase : aucune fusion sans justification.</a:t>
            </a:r>
          </a:p>
          <a:p/>
          <a:p>
            <a:r>
              <a:t>Pour ne pas comparer tout le monde avec tout le monde, le moteur ne compare que des candidats plausibles : même début de nom, même date de naissance ou même CIN. Puis deux passes. D'abord une passe exacte : même nom normalisé, même date, même CIN. Sinon, un score pondéré : le nom compte pour moitié, la date pour 0,3, le CIN et la ville pour 0,1 chacun. Au-dessus de 0,80, on rattache ; en dessous, on crée un nouveau patient.</a:t>
            </a:r>
          </a:p>
          <a:p/>
          <a:p>
            <a:r>
              <a:t>Chaque décision porte sa méthode, son score et son explication. Un gestionnaire peut donc la relire, et la contester.</a:t>
            </a:r>
          </a:p>
          <a:p/>
          <a:p>
            <a:r>
              <a:t>→ Une fois l'identité établie, reste à savoir qui peut la lire.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contrôles, dans cet ordre. Qui demande ? La clé d'API donne l'utilisateur et son rôle ; une clé inconnue, c'est 401. Pourquoi ? La finalité est obligatoire ; si le patient ne l'a pas acceptée, c'est 403, même pour un utilisateur autorisé. Et la trace : chaque appel, accepté ou refusé, est journalisé avec son motif.</a:t>
            </a:r>
          </a:p>
          <a:p/>
          <a:p>
            <a:r>
              <a:t>Aujourd'hui, le patient choisit par finalité : consultation via l'API, recherche, statistiques. L'étape suivante, en cours de développement, c'est le choix par type de dossier : accepter qu'on lise ses consultations, mais refuser l'imagerie.</a:t>
            </a:r>
          </a:p>
          <a:p/>
          <a:p>
            <a:r>
              <a:t>→ Qu'est-ce que tout cela donne sur des données ?</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 le jeu difficile, rejoué dans la VM le 29 septembre : 1 057 fiches, 803 patients distincts, 254 doublons rattachés, soit 24 % de doublons. La cohérence se vérifie par une soustraction : 1 057 moins 254, 803. Les cinq étapes réussissent, et les 123 tests passent.</a:t>
            </a:r>
          </a:p>
          <a:p/>
          <a:p>
            <a:r>
              <a:t>→ Mais ces 803 patients sont-ils les bons ?</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Pour le savoir, il faut connaître la vérité. J'ai donc généré 500 patients fictifs, puis trois jeux où 10, 30 ou 50 % des fiches sont abîmées : fautes de frappe, inversions, formats.</a:t>
            </a:r>
          </a:p>
          <a:p/>
          <a:p>
            <a:r>
              <a:t>Résultat principal : zéro fusion à tort, sur les trois niveaux. En santé, c'est la propriété qui compte : confondre deux patients est plus grave que de les laisser séparés. Sa portée a une limite : mon générateur ne crée pas de sosies, deux personnes différentes qui se ressemblent. Ce résultat vaut donc pour les erreurs que j'ai simulées ; face à de vrais homonymes, c'est une estimation optimiste.</a:t>
            </a:r>
          </a:p>
          <a:p/>
          <a:p>
            <a:r>
              <a:t>Le prix de cette prudence, c'est le rappel : 0,422 sur le jeu difficile, après être parti de 0,287. Pandas et Spark donnent exactement les mêmes résultats, et le pipeline complet, mesuré sur la même vérité terrain, aussi : précision 1,000, rappel 0,424.</a:t>
            </a:r>
          </a:p>
          <a:p/>
          <a:p>
            <a:r>
              <a:t>→ Je vous montre maintenant la chaîne en fonctionnement.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vidéo suit l'ordre de construction du projet : les tests, l'évaluation, le pipeline, puis le tableau de bord.</a:t>
            </a:r>
          </a:p>
          <a:p/>
          <a:p>
            <a:r>
              <a:t>123 tests, aucun échec : moteur, gouvernance, pipeline.</a:t>
            </a:r>
          </a:p>
          <a:p/>
          <a:p>
            <a:r>
              <a:t>Précision 1,000, rappel 0,422, mêmes décisions en Pandas et en Spark.</a:t>
            </a:r>
          </a:p>
          <a:p/>
          <a:p>
            <a:r>
              <a:t>Les étapes s'enchaînent jusqu'à la zone GOLD.</a:t>
            </a:r>
          </a:p>
          <a:p/>
          <a:p>
            <a:r>
              <a:t>Les zones, le dernier run et la planification.</a:t>
            </a:r>
          </a:p>
          <a:p/>
          <a:p>
            <a:r>
              <a:t>Les mêmes preuves en chiffres : 1 057, 803, 254.</a:t>
            </a:r>
          </a:p>
          <a:p/>
          <a:p>
            <a:r>
              <a:t>→ Ce que je n'ai pas résolu.</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 préfère nommer les limites. Le rappel sur le jeu difficile reste à 0,42. La planification automatique n'a pas encore été activée. La base centrale est une base de test, avec des consentements de démonstration. Et la plateforme n'est pas déployée : c'est un prototype reproductible.</a:t>
            </a:r>
          </a:p>
          <a:p/>
          <a:p>
            <a:r>
              <a:t>La suite : terminer le consentement par type de dossier, calibrer le seuil, activer la planification. Et avant toute mise en production, vérifier le droit malgache des données de santé.</a:t>
            </a:r>
          </a:p>
          <a:p/>
          <a:p>
            <a:r>
              <a:t>→ Pour conclure.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plateforme centralise, normalise, déduplique sans fusion à tort sur nos jeux de référence, et contrôle chaque accès par le consentement. Changer d'échelle n'a pas changé la logique. Et derrière chaque chiffre, il y a ce patient du début : reconnu comme une seule personne, et maître de l'usage de ses données.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Merci pour votre attention. Je suis à votre disposition pour vos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chart" Target="../charts/char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411480"/>
            <a:ext cx="2317737" cy="566928"/>
          </a:xfrm>
          <a:prstGeom prst="rect">
            <a:avLst/>
          </a:prstGeom>
        </p:spPr>
      </p:pic>
      <p:pic>
        <p:nvPicPr>
          <p:cNvPr id="3" name="Picture 2" descr="logo-mbds.jpg"/>
          <p:cNvPicPr>
            <a:picLocks noChangeAspect="1"/>
          </p:cNvPicPr>
          <p:nvPr/>
        </p:nvPicPr>
        <p:blipFill>
          <a:blip r:embed="rId4"/>
          <a:stretch>
            <a:fillRect/>
          </a:stretch>
        </p:blipFill>
        <p:spPr>
          <a:xfrm>
            <a:off x="3323577" y="411480"/>
            <a:ext cx="1483242" cy="566928"/>
          </a:xfrm>
          <a:prstGeom prst="rect">
            <a:avLst/>
          </a:prstGeom>
        </p:spPr>
      </p:pic>
      <p:pic>
        <p:nvPicPr>
          <p:cNvPr id="4" name="Picture 3" descr="logo-uca.png"/>
          <p:cNvPicPr>
            <a:picLocks noChangeAspect="1"/>
          </p:cNvPicPr>
          <p:nvPr/>
        </p:nvPicPr>
        <p:blipFill>
          <a:blip r:embed="rId5"/>
          <a:stretch>
            <a:fillRect/>
          </a:stretch>
        </p:blipFill>
        <p:spPr>
          <a:xfrm>
            <a:off x="5264019" y="411480"/>
            <a:ext cx="3618689" cy="566928"/>
          </a:xfrm>
          <a:prstGeom prst="rect">
            <a:avLst/>
          </a:prstGeom>
        </p:spPr>
      </p:pic>
      <p:pic>
        <p:nvPicPr>
          <p:cNvPr id="5" name="Picture 4" descr="mmt-logo.png"/>
          <p:cNvPicPr>
            <a:picLocks noChangeAspect="1"/>
          </p:cNvPicPr>
          <p:nvPr/>
        </p:nvPicPr>
        <p:blipFill>
          <a:blip r:embed="rId6"/>
          <a:stretch>
            <a:fillRect/>
          </a:stretch>
        </p:blipFill>
        <p:spPr>
          <a:xfrm>
            <a:off x="10865815" y="274320"/>
            <a:ext cx="868680" cy="868680"/>
          </a:xfrm>
          <a:prstGeom prst="rect">
            <a:avLst/>
          </a:prstGeom>
        </p:spPr>
      </p:pic>
      <p:sp>
        <p:nvSpPr>
          <p:cNvPr id="6" name="Rectangle 5"/>
          <p:cNvSpPr/>
          <p:nvPr/>
        </p:nvSpPr>
        <p:spPr>
          <a:xfrm>
            <a:off x="0" y="1600200"/>
            <a:ext cx="12191695" cy="278892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7" name="TextBox 6"/>
          <p:cNvSpPr txBox="1"/>
          <p:nvPr/>
        </p:nvSpPr>
        <p:spPr>
          <a:xfrm>
            <a:off x="731520" y="1874519"/>
            <a:ext cx="10728655" cy="365760"/>
          </a:xfrm>
          <a:prstGeom prst="rect">
            <a:avLst/>
          </a:prstGeom>
          <a:noFill/>
        </p:spPr>
        <p:txBody>
          <a:bodyPr wrap="square" lIns="18288" tIns="18288" rIns="18288" bIns="18288" anchor="t">
            <a:spAutoFit/>
          </a:bodyPr>
          <a:lstStyle/>
          <a:p>
            <a:pPr algn="l"/>
            <a:r>
              <a:rPr sz="1400" b="1" i="0">
                <a:solidFill>
                  <a:srgbClr val="8EAADB"/>
                </a:solidFill>
                <a:latin typeface="Calibri"/>
              </a:rPr>
              <a:t>SOUTENANCE DE STAGE — MASTER MBDS</a:t>
            </a:r>
          </a:p>
        </p:txBody>
      </p:sp>
      <p:sp>
        <p:nvSpPr>
          <p:cNvPr id="8" name="TextBox 7"/>
          <p:cNvSpPr txBox="1"/>
          <p:nvPr/>
        </p:nvSpPr>
        <p:spPr>
          <a:xfrm>
            <a:off x="731520" y="2286000"/>
            <a:ext cx="10728655" cy="1280160"/>
          </a:xfrm>
          <a:prstGeom prst="rect">
            <a:avLst/>
          </a:prstGeom>
          <a:noFill/>
        </p:spPr>
        <p:txBody>
          <a:bodyPr wrap="square" lIns="18288" tIns="18288" rIns="18288" bIns="18288" anchor="t">
            <a:spAutoFit/>
          </a:bodyPr>
          <a:lstStyle/>
          <a:p>
            <a:pPr algn="l"/>
            <a:r>
              <a:rPr sz="3800" b="1" i="0">
                <a:solidFill>
                  <a:srgbClr val="FFFFFF"/>
                </a:solidFill>
                <a:latin typeface="Calibri"/>
              </a:rPr>
              <a:t>Plateforme Big Data de gestion et de gouvernance des données patients</a:t>
            </a:r>
          </a:p>
        </p:txBody>
      </p:sp>
      <p:sp>
        <p:nvSpPr>
          <p:cNvPr id="9" name="TextBox 8"/>
          <p:cNvSpPr txBox="1"/>
          <p:nvPr/>
        </p:nvSpPr>
        <p:spPr>
          <a:xfrm>
            <a:off x="731520" y="3611880"/>
            <a:ext cx="10728655" cy="457200"/>
          </a:xfrm>
          <a:prstGeom prst="rect">
            <a:avLst/>
          </a:prstGeom>
          <a:noFill/>
        </p:spPr>
        <p:txBody>
          <a:bodyPr wrap="square" lIns="18288" tIns="18288" rIns="18288" bIns="18288" anchor="t">
            <a:spAutoFit/>
          </a:bodyPr>
          <a:lstStyle/>
          <a:p>
            <a:pPr algn="l"/>
            <a:r>
              <a:rPr sz="1900" b="0" i="1">
                <a:solidFill>
                  <a:srgbClr val="E2E9F3"/>
                </a:solidFill>
                <a:latin typeface="Calibri"/>
              </a:rPr>
              <a:t>Nettoyage, déduplication et contrôle d'accès basé sur le consentement</a:t>
            </a:r>
          </a:p>
        </p:txBody>
      </p:sp>
      <p:sp>
        <p:nvSpPr>
          <p:cNvPr id="10" name="TextBox 9"/>
          <p:cNvSpPr txBox="1"/>
          <p:nvPr/>
        </p:nvSpPr>
        <p:spPr>
          <a:xfrm>
            <a:off x="548640" y="4709160"/>
            <a:ext cx="6858000" cy="365760"/>
          </a:xfrm>
          <a:prstGeom prst="rect">
            <a:avLst/>
          </a:prstGeom>
          <a:noFill/>
        </p:spPr>
        <p:txBody>
          <a:bodyPr wrap="square" lIns="18288" tIns="18288" rIns="18288" bIns="18288" anchor="t">
            <a:spAutoFit/>
          </a:bodyPr>
          <a:lstStyle/>
          <a:p>
            <a:pPr algn="l"/>
            <a:r>
              <a:rPr sz="1800" b="0" i="0">
                <a:solidFill>
                  <a:srgbClr val="1D2433"/>
                </a:solidFill>
                <a:latin typeface="Calibri"/>
              </a:rPr>
              <a:t>Présenté par </a:t>
            </a:r>
            <a:r>
              <a:rPr sz="1800" b="1" i="0">
                <a:solidFill>
                  <a:srgbClr val="1D2433"/>
                </a:solidFill>
                <a:latin typeface="Calibri"/>
              </a:rPr>
              <a:t>RANOMENJANAHARY Manjaka Alpha</a:t>
            </a:r>
          </a:p>
        </p:txBody>
      </p:sp>
      <p:sp>
        <p:nvSpPr>
          <p:cNvPr id="11" name="TextBox 10"/>
          <p:cNvSpPr txBox="1"/>
          <p:nvPr/>
        </p:nvSpPr>
        <p:spPr>
          <a:xfrm>
            <a:off x="548640" y="5120640"/>
            <a:ext cx="6858000" cy="822960"/>
          </a:xfrm>
          <a:prstGeom prst="rect">
            <a:avLst/>
          </a:prstGeom>
          <a:noFill/>
        </p:spPr>
        <p:txBody>
          <a:bodyPr wrap="square" lIns="18288" tIns="18288" rIns="18288" bIns="18288" anchor="t">
            <a:spAutoFit/>
          </a:bodyPr>
          <a:lstStyle/>
          <a:p>
            <a:pPr algn="l">
              <a:spcAft>
                <a:spcPts val="200"/>
              </a:spcAft>
            </a:pPr>
            <a:r>
              <a:rPr sz="1400" b="0" i="0">
                <a:solidFill>
                  <a:srgbClr val="5B6475"/>
                </a:solidFill>
                <a:latin typeface="Calibri"/>
              </a:rPr>
              <a:t>Encadrant professionnel : M. Harena Ny Aina RABEMANOELA (MMT)</a:t>
            </a:r>
          </a:p>
          <a:p>
            <a:pPr algn="l">
              <a:spcAft>
                <a:spcPts val="200"/>
              </a:spcAft>
            </a:pPr>
            <a:r>
              <a:rPr sz="1400" b="0" i="0">
                <a:solidFill>
                  <a:srgbClr val="5B6475"/>
                </a:solidFill>
                <a:latin typeface="Calibri"/>
              </a:rPr>
              <a:t>Encadrant pédagogique : M. Rojo RABENANAHARY (MBDS)</a:t>
            </a:r>
          </a:p>
        </p:txBody>
      </p:sp>
      <p:sp>
        <p:nvSpPr>
          <p:cNvPr id="12" name="TextBox 11"/>
          <p:cNvSpPr txBox="1"/>
          <p:nvPr/>
        </p:nvSpPr>
        <p:spPr>
          <a:xfrm>
            <a:off x="7528255" y="4709160"/>
            <a:ext cx="4114800" cy="365760"/>
          </a:xfrm>
          <a:prstGeom prst="rect">
            <a:avLst/>
          </a:prstGeom>
          <a:noFill/>
        </p:spPr>
        <p:txBody>
          <a:bodyPr wrap="square" lIns="18288" tIns="18288" rIns="18288" bIns="18288" anchor="t">
            <a:spAutoFit/>
          </a:bodyPr>
          <a:lstStyle/>
          <a:p>
            <a:pPr algn="r"/>
            <a:r>
              <a:rPr sz="1800" b="1" i="0">
                <a:solidFill>
                  <a:srgbClr val="1F3864"/>
                </a:solidFill>
                <a:latin typeface="Calibri"/>
              </a:rPr>
              <a:t>Octobre 2026</a:t>
            </a:r>
          </a:p>
        </p:txBody>
      </p:sp>
      <p:sp>
        <p:nvSpPr>
          <p:cNvPr id="13" name="TextBox 12"/>
          <p:cNvSpPr txBox="1"/>
          <p:nvPr/>
        </p:nvSpPr>
        <p:spPr>
          <a:xfrm>
            <a:off x="7528255" y="5120640"/>
            <a:ext cx="4114800" cy="822960"/>
          </a:xfrm>
          <a:prstGeom prst="rect">
            <a:avLst/>
          </a:prstGeom>
          <a:noFill/>
        </p:spPr>
        <p:txBody>
          <a:bodyPr wrap="square" lIns="18288" tIns="18288" rIns="18288" bIns="18288" anchor="t">
            <a:spAutoFit/>
          </a:bodyPr>
          <a:lstStyle/>
          <a:p>
            <a:pPr algn="r">
              <a:spcAft>
                <a:spcPts val="200"/>
              </a:spcAft>
            </a:pPr>
            <a:r>
              <a:rPr sz="1400" b="0" i="0">
                <a:solidFill>
                  <a:srgbClr val="5B6475"/>
                </a:solidFill>
                <a:latin typeface="Calibri"/>
              </a:rPr>
              <a:t>Madagascar Medical Technology</a:t>
            </a:r>
          </a:p>
          <a:p>
            <a:pPr algn="r">
              <a:spcAft>
                <a:spcPts val="200"/>
              </a:spcAft>
            </a:pPr>
            <a:r>
              <a:rPr sz="1400" b="0" i="0">
                <a:solidFill>
                  <a:srgbClr val="5B6475"/>
                </a:solidFill>
                <a:latin typeface="Calibri"/>
              </a:rPr>
              <a:t>Département Recherche et Développement</a:t>
            </a:r>
          </a:p>
        </p:txBody>
      </p:sp>
    </p:spTree>
    <p:extLst>
      <p:ext uri="{BB962C8B-B14F-4D97-AF65-F5344CB8AC3E}">
        <p14:creationId xmlns:p14="http://schemas.microsoft.com/office/powerpoint/2010/main" val="1233460802"/>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2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PRÉSENTATION DE L'ENTREPRISE</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MMT, partenaire technologique des établissements de santé</a:t>
            </a:r>
          </a:p>
        </p:txBody>
      </p:sp>
      <p:sp>
        <p:nvSpPr>
          <p:cNvPr id="10" name="Rounded Rectangle 9"/>
          <p:cNvSpPr/>
          <p:nvPr/>
        </p:nvSpPr>
        <p:spPr>
          <a:xfrm>
            <a:off x="548640" y="1600200"/>
            <a:ext cx="2286000" cy="16002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TextBox 10"/>
          <p:cNvSpPr txBox="1"/>
          <p:nvPr/>
        </p:nvSpPr>
        <p:spPr>
          <a:xfrm>
            <a:off x="640080" y="1709928"/>
            <a:ext cx="2103120" cy="777240"/>
          </a:xfrm>
          <a:prstGeom prst="rect">
            <a:avLst/>
          </a:prstGeom>
          <a:noFill/>
        </p:spPr>
        <p:txBody>
          <a:bodyPr wrap="square" lIns="18288" tIns="18288" rIns="18288" bIns="18288" anchor="ctr">
            <a:spAutoFit/>
          </a:bodyPr>
          <a:lstStyle/>
          <a:p>
            <a:pPr algn="ctr"/>
            <a:r>
              <a:rPr sz="4400" b="1" i="0">
                <a:solidFill>
                  <a:srgbClr val="1F3864"/>
                </a:solidFill>
                <a:latin typeface="Calibri"/>
              </a:rPr>
              <a:t>2009</a:t>
            </a:r>
          </a:p>
        </p:txBody>
      </p:sp>
      <p:sp>
        <p:nvSpPr>
          <p:cNvPr id="12" name="TextBox 11"/>
          <p:cNvSpPr txBox="1"/>
          <p:nvPr/>
        </p:nvSpPr>
        <p:spPr>
          <a:xfrm>
            <a:off x="685800" y="2496312"/>
            <a:ext cx="2011680" cy="640080"/>
          </a:xfrm>
          <a:prstGeom prst="rect">
            <a:avLst/>
          </a:prstGeom>
          <a:noFill/>
        </p:spPr>
        <p:txBody>
          <a:bodyPr wrap="square" lIns="18288" tIns="18288" rIns="18288" bIns="18288" anchor="t">
            <a:spAutoFit/>
          </a:bodyPr>
          <a:lstStyle/>
          <a:p>
            <a:pPr algn="ctr"/>
            <a:r>
              <a:rPr sz="1300" b="0" i="0">
                <a:solidFill>
                  <a:srgbClr val="5B6475"/>
                </a:solidFill>
                <a:latin typeface="Calibri"/>
              </a:rPr>
              <a:t>création de l'entreprise à Madagascar</a:t>
            </a:r>
          </a:p>
        </p:txBody>
      </p:sp>
      <p:sp>
        <p:nvSpPr>
          <p:cNvPr id="13" name="Rounded Rectangle 12"/>
          <p:cNvSpPr/>
          <p:nvPr/>
        </p:nvSpPr>
        <p:spPr>
          <a:xfrm>
            <a:off x="3035808" y="1600200"/>
            <a:ext cx="2286000" cy="16002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4" name="TextBox 13"/>
          <p:cNvSpPr txBox="1"/>
          <p:nvPr/>
        </p:nvSpPr>
        <p:spPr>
          <a:xfrm>
            <a:off x="3127248" y="1709928"/>
            <a:ext cx="2103120" cy="777240"/>
          </a:xfrm>
          <a:prstGeom prst="rect">
            <a:avLst/>
          </a:prstGeom>
          <a:noFill/>
        </p:spPr>
        <p:txBody>
          <a:bodyPr wrap="square" lIns="18288" tIns="18288" rIns="18288" bIns="18288" anchor="ctr">
            <a:spAutoFit/>
          </a:bodyPr>
          <a:lstStyle/>
          <a:p>
            <a:pPr algn="ctr"/>
            <a:r>
              <a:rPr sz="3600" b="1" i="0">
                <a:solidFill>
                  <a:srgbClr val="1F3864"/>
                </a:solidFill>
                <a:latin typeface="Calibri"/>
              </a:rPr>
              <a:t>Siemens</a:t>
            </a:r>
          </a:p>
        </p:txBody>
      </p:sp>
      <p:sp>
        <p:nvSpPr>
          <p:cNvPr id="15" name="TextBox 14"/>
          <p:cNvSpPr txBox="1"/>
          <p:nvPr/>
        </p:nvSpPr>
        <p:spPr>
          <a:xfrm>
            <a:off x="3172968" y="2496312"/>
            <a:ext cx="2011680" cy="640080"/>
          </a:xfrm>
          <a:prstGeom prst="rect">
            <a:avLst/>
          </a:prstGeom>
          <a:noFill/>
        </p:spPr>
        <p:txBody>
          <a:bodyPr wrap="square" lIns="18288" tIns="18288" rIns="18288" bIns="18288" anchor="t">
            <a:spAutoFit/>
          </a:bodyPr>
          <a:lstStyle/>
          <a:p>
            <a:pPr algn="ctr"/>
            <a:r>
              <a:rPr sz="1300" b="0" i="0">
                <a:solidFill>
                  <a:srgbClr val="5B6475"/>
                </a:solidFill>
                <a:latin typeface="Calibri"/>
              </a:rPr>
              <a:t>Business Partner de Siemens Healthineers</a:t>
            </a:r>
          </a:p>
        </p:txBody>
      </p:sp>
      <p:sp>
        <p:nvSpPr>
          <p:cNvPr id="16" name="Rounded Rectangle 15"/>
          <p:cNvSpPr/>
          <p:nvPr/>
        </p:nvSpPr>
        <p:spPr>
          <a:xfrm>
            <a:off x="5522976" y="1600200"/>
            <a:ext cx="2286000" cy="16002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7" name="TextBox 16"/>
          <p:cNvSpPr txBox="1"/>
          <p:nvPr/>
        </p:nvSpPr>
        <p:spPr>
          <a:xfrm>
            <a:off x="5614416" y="1709928"/>
            <a:ext cx="2103120" cy="777240"/>
          </a:xfrm>
          <a:prstGeom prst="rect">
            <a:avLst/>
          </a:prstGeom>
          <a:noFill/>
        </p:spPr>
        <p:txBody>
          <a:bodyPr wrap="square" lIns="18288" tIns="18288" rIns="18288" bIns="18288" anchor="ctr">
            <a:spAutoFit/>
          </a:bodyPr>
          <a:lstStyle/>
          <a:p>
            <a:pPr algn="ctr"/>
            <a:r>
              <a:rPr sz="3600" b="1" i="0">
                <a:solidFill>
                  <a:srgbClr val="1F3864"/>
                </a:solidFill>
                <a:latin typeface="Calibri"/>
              </a:rPr>
              <a:t>R&amp;D</a:t>
            </a:r>
          </a:p>
        </p:txBody>
      </p:sp>
      <p:sp>
        <p:nvSpPr>
          <p:cNvPr id="18" name="TextBox 17"/>
          <p:cNvSpPr txBox="1"/>
          <p:nvPr/>
        </p:nvSpPr>
        <p:spPr>
          <a:xfrm>
            <a:off x="5660136" y="2496312"/>
            <a:ext cx="2011680" cy="640080"/>
          </a:xfrm>
          <a:prstGeom prst="rect">
            <a:avLst/>
          </a:prstGeom>
          <a:noFill/>
        </p:spPr>
        <p:txBody>
          <a:bodyPr wrap="square" lIns="18288" tIns="18288" rIns="18288" bIns="18288" anchor="t">
            <a:spAutoFit/>
          </a:bodyPr>
          <a:lstStyle/>
          <a:p>
            <a:pPr algn="ctr"/>
            <a:r>
              <a:rPr sz="1300" b="0" i="0">
                <a:solidFill>
                  <a:srgbClr val="5B6475"/>
                </a:solidFill>
                <a:latin typeface="Calibri"/>
              </a:rPr>
              <a:t>département créé en 2024 : systèmes d'information médicale</a:t>
            </a:r>
          </a:p>
        </p:txBody>
      </p:sp>
      <p:sp>
        <p:nvSpPr>
          <p:cNvPr id="19" name="TextBox 18"/>
          <p:cNvSpPr txBox="1"/>
          <p:nvPr/>
        </p:nvSpPr>
        <p:spPr>
          <a:xfrm>
            <a:off x="548640" y="3520439"/>
            <a:ext cx="7315200" cy="365760"/>
          </a:xfrm>
          <a:prstGeom prst="rect">
            <a:avLst/>
          </a:prstGeom>
          <a:noFill/>
        </p:spPr>
        <p:txBody>
          <a:bodyPr wrap="square" lIns="18288" tIns="18288" rIns="18288" bIns="18288" anchor="t">
            <a:spAutoFit/>
          </a:bodyPr>
          <a:lstStyle/>
          <a:p>
            <a:pPr algn="l"/>
            <a:r>
              <a:rPr sz="1700" b="1" i="0">
                <a:solidFill>
                  <a:srgbClr val="1F3864"/>
                </a:solidFill>
                <a:latin typeface="Calibri"/>
              </a:rPr>
              <a:t>Domaines d'activité</a:t>
            </a:r>
          </a:p>
        </p:txBody>
      </p:sp>
      <p:sp>
        <p:nvSpPr>
          <p:cNvPr id="20" name="TextBox 19"/>
          <p:cNvSpPr txBox="1"/>
          <p:nvPr/>
        </p:nvSpPr>
        <p:spPr>
          <a:xfrm>
            <a:off x="548640" y="3931920"/>
            <a:ext cx="7315200" cy="2011680"/>
          </a:xfrm>
          <a:prstGeom prst="rect">
            <a:avLst/>
          </a:prstGeom>
          <a:noFill/>
        </p:spPr>
        <p:txBody>
          <a:bodyPr wrap="square" lIns="18288" tIns="18288" rIns="18288" bIns="18288" anchor="t">
            <a:spAutoFit/>
          </a:bodyPr>
          <a:lstStyle/>
          <a:p>
            <a:pPr marL="228600" indent="-201168" algn="l">
              <a:spcAft>
                <a:spcPts val="600"/>
              </a:spcAft>
              <a:buClr>
                <a:srgbClr val="2E5597"/>
              </a:buClr>
              <a:buChar char="•"/>
            </a:pPr>
            <a:r>
              <a:rPr sz="1600" b="0" i="0">
                <a:solidFill>
                  <a:srgbClr val="1D2433"/>
                </a:solidFill>
                <a:latin typeface="Calibri"/>
              </a:rPr>
              <a:t>Distribution et maintenance de matériels biomédicaux</a:t>
            </a:r>
          </a:p>
          <a:p>
            <a:pPr marL="228600" indent="-201168" algn="l">
              <a:spcAft>
                <a:spcPts val="600"/>
              </a:spcAft>
              <a:buClr>
                <a:srgbClr val="2E5597"/>
              </a:buClr>
              <a:buChar char="•"/>
            </a:pPr>
            <a:r>
              <a:rPr sz="1600" b="0" i="0">
                <a:solidFill>
                  <a:srgbClr val="1D2433"/>
                </a:solidFill>
                <a:latin typeface="Calibri"/>
              </a:rPr>
              <a:t>Fourniture de consommables médicaux</a:t>
            </a:r>
          </a:p>
          <a:p>
            <a:pPr marL="228600" indent="-201168" algn="l">
              <a:spcAft>
                <a:spcPts val="600"/>
              </a:spcAft>
              <a:buClr>
                <a:srgbClr val="2E5597"/>
              </a:buClr>
              <a:buChar char="•"/>
            </a:pPr>
            <a:r>
              <a:rPr sz="1600" b="0" i="0">
                <a:solidFill>
                  <a:srgbClr val="1D2433"/>
                </a:solidFill>
                <a:latin typeface="Calibri"/>
              </a:rPr>
              <a:t>Gestion de stock des établissements partenaires</a:t>
            </a:r>
          </a:p>
          <a:p>
            <a:pPr marL="228600" indent="-201168" algn="l">
              <a:spcAft>
                <a:spcPts val="600"/>
              </a:spcAft>
              <a:buClr>
                <a:srgbClr val="2E5597"/>
              </a:buClr>
              <a:buChar char="•"/>
            </a:pPr>
            <a:r>
              <a:rPr sz="1600" b="0" i="0">
                <a:solidFill>
                  <a:srgbClr val="1D2433"/>
                </a:solidFill>
                <a:latin typeface="Calibri"/>
              </a:rPr>
              <a:t>Systèmes d'information médicale, infrastructures et réseaux</a:t>
            </a:r>
          </a:p>
        </p:txBody>
      </p:sp>
      <p:sp>
        <p:nvSpPr>
          <p:cNvPr id="21" name="Rounded Rectangle 20"/>
          <p:cNvSpPr/>
          <p:nvPr/>
        </p:nvSpPr>
        <p:spPr>
          <a:xfrm>
            <a:off x="8229600" y="1600200"/>
            <a:ext cx="3413455" cy="452628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pic>
        <p:nvPicPr>
          <p:cNvPr id="22" name="Picture 21" descr="mmt-logo.png"/>
          <p:cNvPicPr>
            <a:picLocks noChangeAspect="1"/>
          </p:cNvPicPr>
          <p:nvPr/>
        </p:nvPicPr>
        <p:blipFill>
          <a:blip r:embed="rId6"/>
          <a:stretch>
            <a:fillRect/>
          </a:stretch>
        </p:blipFill>
        <p:spPr>
          <a:xfrm>
            <a:off x="9067647" y="1874519"/>
            <a:ext cx="1737360" cy="1737360"/>
          </a:xfrm>
          <a:prstGeom prst="rect">
            <a:avLst/>
          </a:prstGeom>
        </p:spPr>
      </p:pic>
      <p:sp>
        <p:nvSpPr>
          <p:cNvPr id="23" name="TextBox 22"/>
          <p:cNvSpPr txBox="1"/>
          <p:nvPr/>
        </p:nvSpPr>
        <p:spPr>
          <a:xfrm>
            <a:off x="8458200" y="3840480"/>
            <a:ext cx="2956255" cy="2194560"/>
          </a:xfrm>
          <a:prstGeom prst="rect">
            <a:avLst/>
          </a:prstGeom>
          <a:noFill/>
        </p:spPr>
        <p:txBody>
          <a:bodyPr wrap="square" lIns="18288" tIns="18288" rIns="18288" bIns="18288" anchor="t">
            <a:spAutoFit/>
          </a:bodyPr>
          <a:lstStyle/>
          <a:p>
            <a:pPr algn="l">
              <a:spcAft>
                <a:spcPts val="500"/>
              </a:spcAft>
            </a:pPr>
            <a:r>
              <a:rPr sz="1400" b="1" i="0">
                <a:solidFill>
                  <a:srgbClr val="1D2433"/>
                </a:solidFill>
                <a:latin typeface="Calibri"/>
              </a:rPr>
              <a:t>Le stage</a:t>
            </a:r>
          </a:p>
          <a:p>
            <a:pPr algn="l">
              <a:spcAft>
                <a:spcPts val="500"/>
              </a:spcAft>
            </a:pPr>
            <a:r>
              <a:rPr sz="1400" b="0" i="0">
                <a:solidFill>
                  <a:srgbClr val="1D2433"/>
                </a:solidFill>
                <a:latin typeface="Calibri"/>
              </a:rPr>
              <a:t>Département Recherche et Développement</a:t>
            </a:r>
          </a:p>
          <a:p>
            <a:pPr algn="l">
              <a:spcAft>
                <a:spcPts val="500"/>
              </a:spcAft>
            </a:pPr>
            <a:r>
              <a:rPr sz="1400" b="0" i="0">
                <a:solidFill>
                  <a:srgbClr val="1D2433"/>
                </a:solidFill>
                <a:latin typeface="Calibri"/>
              </a:rPr>
              <a:t>6 juillet → fin octobre 2026 (4 mois)</a:t>
            </a:r>
          </a:p>
          <a:p>
            <a:pPr algn="l">
              <a:spcAft>
                <a:spcPts val="500"/>
              </a:spcAft>
            </a:pPr>
            <a:r>
              <a:rPr sz="1400" b="0" i="0">
                <a:solidFill>
                  <a:srgbClr val="1D2433"/>
                </a:solidFill>
                <a:latin typeface="Calibri"/>
              </a:rPr>
              <a:t>Encadrant : M. Harena Ny Aina RABEMANOELA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par>
                          <p:cTn id="14" fill="hold">
                            <p:stCondLst>
                              <p:cond delay="650"/>
                            </p:stCondLst>
                            <p:childTnLst>
                              <p:par>
                                <p:cTn id="15" presetID="10" presetClass="entr" presetSubtype="0"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par>
                          <p:cTn id="24" fill="hold">
                            <p:stCondLst>
                              <p:cond delay="1300"/>
                            </p:stCondLst>
                            <p:childTnLst>
                              <p:par>
                                <p:cTn id="25" presetID="10" presetClass="entr" presetSubtype="0"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3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QUESTION</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Trois fiches, trois formats… une seule personne ?</a:t>
            </a:r>
          </a:p>
        </p:txBody>
      </p:sp>
      <p:sp>
        <p:nvSpPr>
          <p:cNvPr id="10" name="Rounded Rectangle 9"/>
          <p:cNvSpPr/>
          <p:nvPr/>
        </p:nvSpPr>
        <p:spPr>
          <a:xfrm>
            <a:off x="548640" y="1645920"/>
            <a:ext cx="4206240" cy="1005840"/>
          </a:xfrm>
          <a:prstGeom prst="roundRect">
            <a:avLst>
              <a:gd name="adj" fmla="val 8000"/>
            </a:avLst>
          </a:prstGeom>
          <a:solidFill>
            <a:srgbClr val="FFFFFF"/>
          </a:solidFill>
          <a:ln w="15875">
            <a:solidFill>
              <a:srgbClr val="C9D2E0"/>
            </a:solid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TextBox 10"/>
          <p:cNvSpPr txBox="1"/>
          <p:nvPr/>
        </p:nvSpPr>
        <p:spPr>
          <a:xfrm>
            <a:off x="777240" y="1737360"/>
            <a:ext cx="3749039" cy="274320"/>
          </a:xfrm>
          <a:prstGeom prst="rect">
            <a:avLst/>
          </a:prstGeom>
          <a:noFill/>
        </p:spPr>
        <p:txBody>
          <a:bodyPr wrap="square" lIns="18288" tIns="18288" rIns="18288" bIns="18288" anchor="t">
            <a:spAutoFit/>
          </a:bodyPr>
          <a:lstStyle/>
          <a:p>
            <a:pPr algn="l"/>
            <a:r>
              <a:rPr sz="1200" b="1" i="0">
                <a:solidFill>
                  <a:srgbClr val="2E5597"/>
                </a:solidFill>
                <a:latin typeface="Calibri"/>
              </a:rPr>
              <a:t>PHARMACIE</a:t>
            </a:r>
          </a:p>
        </p:txBody>
      </p:sp>
      <p:sp>
        <p:nvSpPr>
          <p:cNvPr id="12" name="TextBox 11"/>
          <p:cNvSpPr txBox="1"/>
          <p:nvPr/>
        </p:nvSpPr>
        <p:spPr>
          <a:xfrm>
            <a:off x="777240" y="1993392"/>
            <a:ext cx="3749039" cy="320040"/>
          </a:xfrm>
          <a:prstGeom prst="rect">
            <a:avLst/>
          </a:prstGeom>
          <a:noFill/>
        </p:spPr>
        <p:txBody>
          <a:bodyPr wrap="square" lIns="18288" tIns="18288" rIns="18288" bIns="18288" anchor="t">
            <a:spAutoFit/>
          </a:bodyPr>
          <a:lstStyle/>
          <a:p>
            <a:pPr algn="l"/>
            <a:r>
              <a:rPr sz="1900" b="1" i="0">
                <a:solidFill>
                  <a:srgbClr val="1D2433"/>
                </a:solidFill>
                <a:latin typeface="Consolas"/>
              </a:rPr>
              <a:t>Jean Rakoto</a:t>
            </a:r>
          </a:p>
        </p:txBody>
      </p:sp>
      <p:sp>
        <p:nvSpPr>
          <p:cNvPr id="13" name="TextBox 12"/>
          <p:cNvSpPr txBox="1"/>
          <p:nvPr/>
        </p:nvSpPr>
        <p:spPr>
          <a:xfrm>
            <a:off x="777240" y="2304288"/>
            <a:ext cx="3749039" cy="274320"/>
          </a:xfrm>
          <a:prstGeom prst="rect">
            <a:avLst/>
          </a:prstGeom>
          <a:noFill/>
        </p:spPr>
        <p:txBody>
          <a:bodyPr wrap="square" lIns="18288" tIns="18288" rIns="18288" bIns="18288" anchor="t">
            <a:spAutoFit/>
          </a:bodyPr>
          <a:lstStyle/>
          <a:p>
            <a:pPr algn="l"/>
            <a:r>
              <a:rPr sz="1300" b="0" i="0">
                <a:solidFill>
                  <a:srgbClr val="5B6475"/>
                </a:solidFill>
                <a:latin typeface="Consolas"/>
              </a:rPr>
              <a:t>101 02404 5 · 1990-01-10</a:t>
            </a:r>
          </a:p>
        </p:txBody>
      </p:sp>
      <p:cxnSp>
        <p:nvCxnSpPr>
          <p:cNvPr id="14" name="Connector 13"/>
          <p:cNvCxnSpPr/>
          <p:nvPr/>
        </p:nvCxnSpPr>
        <p:spPr>
          <a:xfrm>
            <a:off x="4846320" y="2148840"/>
            <a:ext cx="777240" cy="960120"/>
          </a:xfrm>
          <a:prstGeom prst="line">
            <a:avLst/>
          </a:prstGeom>
          <a:ln w="25400">
            <a:solidFill>
              <a:srgbClr val="8EAA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2834640"/>
            <a:ext cx="4206240" cy="1005840"/>
          </a:xfrm>
          <a:prstGeom prst="roundRect">
            <a:avLst>
              <a:gd name="adj" fmla="val 8000"/>
            </a:avLst>
          </a:prstGeom>
          <a:solidFill>
            <a:srgbClr val="FFFFFF"/>
          </a:solidFill>
          <a:ln w="15875">
            <a:solidFill>
              <a:srgbClr val="C9D2E0"/>
            </a:solid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6" name="TextBox 15"/>
          <p:cNvSpPr txBox="1"/>
          <p:nvPr/>
        </p:nvSpPr>
        <p:spPr>
          <a:xfrm>
            <a:off x="777240" y="2926080"/>
            <a:ext cx="3749039" cy="274320"/>
          </a:xfrm>
          <a:prstGeom prst="rect">
            <a:avLst/>
          </a:prstGeom>
          <a:noFill/>
        </p:spPr>
        <p:txBody>
          <a:bodyPr wrap="square" lIns="18288" tIns="18288" rIns="18288" bIns="18288" anchor="t">
            <a:spAutoFit/>
          </a:bodyPr>
          <a:lstStyle/>
          <a:p>
            <a:pPr algn="l"/>
            <a:r>
              <a:rPr sz="1200" b="1" i="0">
                <a:solidFill>
                  <a:srgbClr val="2E5597"/>
                </a:solidFill>
                <a:latin typeface="Calibri"/>
              </a:rPr>
              <a:t>CONSULTATION</a:t>
            </a:r>
          </a:p>
        </p:txBody>
      </p:sp>
      <p:sp>
        <p:nvSpPr>
          <p:cNvPr id="17" name="TextBox 16"/>
          <p:cNvSpPr txBox="1"/>
          <p:nvPr/>
        </p:nvSpPr>
        <p:spPr>
          <a:xfrm>
            <a:off x="777240" y="3182112"/>
            <a:ext cx="3749039" cy="320040"/>
          </a:xfrm>
          <a:prstGeom prst="rect">
            <a:avLst/>
          </a:prstGeom>
          <a:noFill/>
        </p:spPr>
        <p:txBody>
          <a:bodyPr wrap="square" lIns="18288" tIns="18288" rIns="18288" bIns="18288" anchor="t">
            <a:spAutoFit/>
          </a:bodyPr>
          <a:lstStyle/>
          <a:p>
            <a:pPr algn="l"/>
            <a:r>
              <a:rPr sz="1900" b="1" i="0">
                <a:solidFill>
                  <a:srgbClr val="1D2433"/>
                </a:solidFill>
                <a:latin typeface="Consolas"/>
              </a:rPr>
              <a:t>Rakoto Jean</a:t>
            </a:r>
          </a:p>
        </p:txBody>
      </p:sp>
      <p:sp>
        <p:nvSpPr>
          <p:cNvPr id="18" name="TextBox 17"/>
          <p:cNvSpPr txBox="1"/>
          <p:nvPr/>
        </p:nvSpPr>
        <p:spPr>
          <a:xfrm>
            <a:off x="777240" y="3493008"/>
            <a:ext cx="3749039" cy="274320"/>
          </a:xfrm>
          <a:prstGeom prst="rect">
            <a:avLst/>
          </a:prstGeom>
          <a:noFill/>
        </p:spPr>
        <p:txBody>
          <a:bodyPr wrap="square" lIns="18288" tIns="18288" rIns="18288" bIns="18288" anchor="t">
            <a:spAutoFit/>
          </a:bodyPr>
          <a:lstStyle/>
          <a:p>
            <a:pPr algn="l"/>
            <a:r>
              <a:rPr sz="1300" b="0" i="0">
                <a:solidFill>
                  <a:srgbClr val="5B6475"/>
                </a:solidFill>
                <a:latin typeface="Consolas"/>
              </a:rPr>
              <a:t>101024045 · 10/01/1990</a:t>
            </a:r>
          </a:p>
        </p:txBody>
      </p:sp>
      <p:cxnSp>
        <p:nvCxnSpPr>
          <p:cNvPr id="19" name="Connector 18"/>
          <p:cNvCxnSpPr/>
          <p:nvPr/>
        </p:nvCxnSpPr>
        <p:spPr>
          <a:xfrm flipV="1">
            <a:off x="4846320" y="3108960"/>
            <a:ext cx="777240" cy="228600"/>
          </a:xfrm>
          <a:prstGeom prst="line">
            <a:avLst/>
          </a:prstGeom>
          <a:ln w="25400">
            <a:solidFill>
              <a:srgbClr val="8EAA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 y="4023360"/>
            <a:ext cx="4206240" cy="1005840"/>
          </a:xfrm>
          <a:prstGeom prst="roundRect">
            <a:avLst>
              <a:gd name="adj" fmla="val 8000"/>
            </a:avLst>
          </a:prstGeom>
          <a:solidFill>
            <a:srgbClr val="FFFFFF"/>
          </a:solidFill>
          <a:ln w="15875">
            <a:solidFill>
              <a:srgbClr val="C9D2E0"/>
            </a:solid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1" name="TextBox 20"/>
          <p:cNvSpPr txBox="1"/>
          <p:nvPr/>
        </p:nvSpPr>
        <p:spPr>
          <a:xfrm>
            <a:off x="777240" y="4114800"/>
            <a:ext cx="3749039" cy="274320"/>
          </a:xfrm>
          <a:prstGeom prst="rect">
            <a:avLst/>
          </a:prstGeom>
          <a:noFill/>
        </p:spPr>
        <p:txBody>
          <a:bodyPr wrap="square" lIns="18288" tIns="18288" rIns="18288" bIns="18288" anchor="t">
            <a:spAutoFit/>
          </a:bodyPr>
          <a:lstStyle/>
          <a:p>
            <a:pPr algn="l"/>
            <a:r>
              <a:rPr sz="1200" b="1" i="0">
                <a:solidFill>
                  <a:srgbClr val="2E5597"/>
                </a:solidFill>
                <a:latin typeface="Calibri"/>
              </a:rPr>
              <a:t>IMAGERIE</a:t>
            </a:r>
          </a:p>
        </p:txBody>
      </p:sp>
      <p:sp>
        <p:nvSpPr>
          <p:cNvPr id="22" name="TextBox 21"/>
          <p:cNvSpPr txBox="1"/>
          <p:nvPr/>
        </p:nvSpPr>
        <p:spPr>
          <a:xfrm>
            <a:off x="777240" y="4370832"/>
            <a:ext cx="3749039" cy="320040"/>
          </a:xfrm>
          <a:prstGeom prst="rect">
            <a:avLst/>
          </a:prstGeom>
          <a:noFill/>
        </p:spPr>
        <p:txBody>
          <a:bodyPr wrap="square" lIns="18288" tIns="18288" rIns="18288" bIns="18288" anchor="t">
            <a:spAutoFit/>
          </a:bodyPr>
          <a:lstStyle/>
          <a:p>
            <a:pPr algn="l"/>
            <a:r>
              <a:rPr sz="1900" b="1" i="0">
                <a:solidFill>
                  <a:srgbClr val="1D2433"/>
                </a:solidFill>
                <a:latin typeface="Consolas"/>
              </a:rPr>
              <a:t>J. RAKOTO</a:t>
            </a:r>
          </a:p>
        </p:txBody>
      </p:sp>
      <p:sp>
        <p:nvSpPr>
          <p:cNvPr id="23" name="TextBox 22"/>
          <p:cNvSpPr txBox="1"/>
          <p:nvPr/>
        </p:nvSpPr>
        <p:spPr>
          <a:xfrm>
            <a:off x="777240" y="4681728"/>
            <a:ext cx="3749039" cy="274320"/>
          </a:xfrm>
          <a:prstGeom prst="rect">
            <a:avLst/>
          </a:prstGeom>
          <a:noFill/>
        </p:spPr>
        <p:txBody>
          <a:bodyPr wrap="square" lIns="18288" tIns="18288" rIns="18288" bIns="18288" anchor="t">
            <a:spAutoFit/>
          </a:bodyPr>
          <a:lstStyle/>
          <a:p>
            <a:pPr algn="l"/>
            <a:r>
              <a:rPr sz="1300" b="0" i="0">
                <a:solidFill>
                  <a:srgbClr val="5B6475"/>
                </a:solidFill>
                <a:latin typeface="Consolas"/>
              </a:rPr>
              <a:t>101024045 · 1990/01/10</a:t>
            </a:r>
          </a:p>
        </p:txBody>
      </p:sp>
      <p:cxnSp>
        <p:nvCxnSpPr>
          <p:cNvPr id="24" name="Connector 23"/>
          <p:cNvCxnSpPr/>
          <p:nvPr/>
        </p:nvCxnSpPr>
        <p:spPr>
          <a:xfrm flipV="1">
            <a:off x="4846320" y="3108960"/>
            <a:ext cx="777240" cy="1417320"/>
          </a:xfrm>
          <a:prstGeom prst="line">
            <a:avLst/>
          </a:prstGeom>
          <a:ln w="25400">
            <a:solidFill>
              <a:srgbClr val="8EAA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5669280" y="2560320"/>
            <a:ext cx="1097280" cy="1097280"/>
          </a:xfrm>
          <a:prstGeom prst="ellipse">
            <a:avLst/>
          </a:prstGeom>
          <a:solidFill>
            <a:srgbClr val="C784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4400" b="1" i="0">
                <a:solidFill>
                  <a:srgbClr val="FFFFFF"/>
                </a:solidFill>
                <a:latin typeface="Calibri"/>
              </a:rPr>
              <a:t>?</a:t>
            </a:r>
          </a:p>
        </p:txBody>
      </p:sp>
      <p:sp>
        <p:nvSpPr>
          <p:cNvPr id="26" name="Rounded Rectangle 25"/>
          <p:cNvSpPr/>
          <p:nvPr/>
        </p:nvSpPr>
        <p:spPr>
          <a:xfrm>
            <a:off x="7132320" y="1645920"/>
            <a:ext cx="4510735" cy="33832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7" name="TextBox 26"/>
          <p:cNvSpPr txBox="1"/>
          <p:nvPr/>
        </p:nvSpPr>
        <p:spPr>
          <a:xfrm>
            <a:off x="7406640" y="1874519"/>
            <a:ext cx="3962095" cy="2926080"/>
          </a:xfrm>
          <a:prstGeom prst="rect">
            <a:avLst/>
          </a:prstGeom>
          <a:noFill/>
        </p:spPr>
        <p:txBody>
          <a:bodyPr wrap="square" lIns="18288" tIns="18288" rIns="18288" bIns="18288" anchor="ctr">
            <a:spAutoFit/>
          </a:bodyPr>
          <a:lstStyle/>
          <a:p>
            <a:pPr algn="l"/>
            <a:r>
              <a:rPr sz="2200" b="0" i="0">
                <a:solidFill>
                  <a:srgbClr val="FFFFFF"/>
                </a:solidFill>
                <a:latin typeface="Calibri"/>
              </a:rPr>
              <a:t>Comment savoir qu'il s'agit du </a:t>
            </a:r>
            <a:r>
              <a:rPr sz="2200" b="1" i="0">
                <a:solidFill>
                  <a:srgbClr val="FFFFFF"/>
                </a:solidFill>
                <a:latin typeface="Calibri"/>
              </a:rPr>
              <a:t>même patient</a:t>
            </a:r>
            <a:r>
              <a:rPr sz="2200" b="0" i="0">
                <a:solidFill>
                  <a:srgbClr val="FFFFFF"/>
                </a:solidFill>
                <a:latin typeface="Calibri"/>
              </a:rPr>
              <a:t> ?</a:t>
            </a:r>
          </a:p>
          <a:p>
            <a:pPr algn="l"/>
            <a:endParaRPr sz="2200" b="0" i="0">
              <a:solidFill>
                <a:srgbClr val="FFFFFF"/>
              </a:solidFill>
              <a:latin typeface="Calibri"/>
            </a:endParaRPr>
          </a:p>
          <a:p>
            <a:pPr algn="l"/>
            <a:r>
              <a:rPr sz="2200" b="0" i="0">
                <a:solidFill>
                  <a:srgbClr val="FFFFFF"/>
                </a:solidFill>
                <a:latin typeface="Calibri"/>
              </a:rPr>
              <a:t>Et </a:t>
            </a:r>
            <a:r>
              <a:rPr sz="2200" b="1" i="0">
                <a:solidFill>
                  <a:srgbClr val="FFFFFF"/>
                </a:solidFill>
                <a:latin typeface="Calibri"/>
              </a:rPr>
              <a:t>qui a le droit</a:t>
            </a:r>
            <a:r>
              <a:rPr sz="2200" b="0" i="0">
                <a:solidFill>
                  <a:srgbClr val="FFFFFF"/>
                </a:solidFill>
                <a:latin typeface="Calibri"/>
              </a:rPr>
              <a:t> de lire ses données, </a:t>
            </a:r>
            <a:r>
              <a:rPr sz="2200" b="1" i="0">
                <a:solidFill>
                  <a:srgbClr val="FFFFFF"/>
                </a:solidFill>
                <a:latin typeface="Calibri"/>
              </a:rPr>
              <a:t>pour quelle finalité</a:t>
            </a:r>
            <a:r>
              <a:rPr sz="2200" b="0" i="0">
                <a:solidFill>
                  <a:srgbClr val="FFFFFF"/>
                </a:solidFill>
                <a:latin typeface="Calibri"/>
              </a:rPr>
              <a:t> ?</a:t>
            </a:r>
          </a:p>
        </p:txBody>
      </p:sp>
      <p:sp>
        <p:nvSpPr>
          <p:cNvPr id="28" name="TextBox 27"/>
          <p:cNvSpPr txBox="1"/>
          <p:nvPr/>
        </p:nvSpPr>
        <p:spPr>
          <a:xfrm>
            <a:off x="548640" y="5394959"/>
            <a:ext cx="11094415" cy="365760"/>
          </a:xfrm>
          <a:prstGeom prst="rect">
            <a:avLst/>
          </a:prstGeom>
          <a:noFill/>
        </p:spPr>
        <p:txBody>
          <a:bodyPr wrap="square" lIns="18288" tIns="18288" rIns="18288" bIns="18288" anchor="t">
            <a:spAutoFit/>
          </a:bodyPr>
          <a:lstStyle/>
          <a:p>
            <a:pPr algn="l"/>
            <a:r>
              <a:rPr sz="1300" b="0" i="1">
                <a:solidFill>
                  <a:srgbClr val="5B6475"/>
                </a:solidFill>
                <a:latin typeface="Calibri"/>
              </a:rPr>
              <a:t>Cas de référence du projet — données fictives.</a:t>
            </a:r>
          </a:p>
        </p:txBody>
      </p:sp>
    </p:spTree>
    <p:extLst>
      <p:ext uri="{BB962C8B-B14F-4D97-AF65-F5344CB8AC3E}">
        <p14:creationId xmlns:p14="http://schemas.microsoft.com/office/powerpoint/2010/main" val="287470384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500"/>
                                        <p:tgtEl>
                                          <p:spTgt spid="28"/>
                                        </p:tgtEl>
                                      </p:cBhvr>
                                    </p:animEffec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par>
                                <p:cTn id="24" presetID="10" presetClass="entr" presetSubtype="0" fill="hold"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500"/>
                                        <p:tgtEl>
                                          <p:spTgt spid="17"/>
                                        </p:tgtEl>
                                      </p:cBhvr>
                                    </p:animEffect>
                                  </p:childTnLst>
                                </p:cTn>
                              </p:par>
                              <p:par>
                                <p:cTn id="30" presetID="10" presetClass="entr" presetSubtype="0" fill="hold" nodeType="with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par>
                          <p:cTn id="33" fill="hold">
                            <p:stCondLst>
                              <p:cond delay="1000"/>
                            </p:stCondLst>
                            <p:childTnLst>
                              <p:par>
                                <p:cTn id="34" presetID="10" presetClass="entr" presetSubtype="0" fill="hold"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par>
                                <p:cTn id="37" presetID="10"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500"/>
                                        <p:tgtEl>
                                          <p:spTgt spid="21"/>
                                        </p:tgtEl>
                                      </p:cBhvr>
                                    </p:animEffect>
                                  </p:childTnLst>
                                </p:cTn>
                              </p:par>
                              <p:par>
                                <p:cTn id="40" presetID="10" presetClass="entr" presetSubtype="0" fill="hold"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par>
                                <p:cTn id="43" presetID="10"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500"/>
                                        <p:tgtEl>
                                          <p:spTgt spid="14"/>
                                        </p:tgtEl>
                                      </p:cBhvr>
                                    </p:animEffect>
                                  </p:childTnLst>
                                </p:cTn>
                              </p:par>
                              <p:par>
                                <p:cTn id="51" presetID="22" presetClass="entr" presetSubtype="8"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500"/>
                                        <p:tgtEl>
                                          <p:spTgt spid="19"/>
                                        </p:tgtEl>
                                      </p:cBhvr>
                                    </p:animEffect>
                                  </p:childTnLst>
                                </p:cTn>
                              </p:par>
                              <p:par>
                                <p:cTn id="54" presetID="22" presetClass="entr" presetSubtype="8" fill="hold"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par>
                          <p:cTn id="57" fill="hold">
                            <p:stCondLst>
                              <p:cond delay="500"/>
                            </p:stCondLst>
                            <p:childTnLst>
                              <p:par>
                                <p:cTn id="58" presetID="53" presetClass="entr" presetSubtype="16" fill="hold" nodeType="afterEffect">
                                  <p:stCondLst>
                                    <p:cond delay="0"/>
                                  </p:stCondLst>
                                  <p:childTnLst>
                                    <p:set>
                                      <p:cBhvr>
                                        <p:cTn id="59" dur="1" fill="hold">
                                          <p:stCondLst>
                                            <p:cond delay="0"/>
                                          </p:stCondLst>
                                        </p:cTn>
                                        <p:tgtEl>
                                          <p:spTgt spid="25"/>
                                        </p:tgtEl>
                                        <p:attrNameLst>
                                          <p:attrName>style.visibility</p:attrName>
                                        </p:attrNameLst>
                                      </p:cBhvr>
                                      <p:to>
                                        <p:strVal val="visible"/>
                                      </p:to>
                                    </p:set>
                                    <p:anim calcmode="lin" valueType="num">
                                      <p:cBhvr>
                                        <p:cTn id="60" dur="500" fill="hold"/>
                                        <p:tgtEl>
                                          <p:spTgt spid="25"/>
                                        </p:tgtEl>
                                        <p:attrNameLst>
                                          <p:attrName>ppt_w</p:attrName>
                                        </p:attrNameLst>
                                      </p:cBhvr>
                                      <p:tavLst>
                                        <p:tav tm="0">
                                          <p:val>
                                            <p:fltVal val="0"/>
                                          </p:val>
                                        </p:tav>
                                        <p:tav tm="100000">
                                          <p:val>
                                            <p:strVal val="#ppt_w"/>
                                          </p:val>
                                        </p:tav>
                                      </p:tavLst>
                                    </p:anim>
                                    <p:anim calcmode="lin" valueType="num">
                                      <p:cBhvr>
                                        <p:cTn id="61" dur="500" fill="hold"/>
                                        <p:tgtEl>
                                          <p:spTgt spid="25"/>
                                        </p:tgtEl>
                                        <p:attrNameLst>
                                          <p:attrName>ppt_h</p:attrName>
                                        </p:attrNameLst>
                                      </p:cBhvr>
                                      <p:tavLst>
                                        <p:tav tm="0">
                                          <p:val>
                                            <p:fltVal val="0"/>
                                          </p:val>
                                        </p:tav>
                                        <p:tav tm="100000">
                                          <p:val>
                                            <p:strVal val="#ppt_h"/>
                                          </p:val>
                                        </p:tav>
                                      </p:tavLst>
                                    </p:anim>
                                    <p:animEffect transition="in" filter="fade">
                                      <p:cBhvr>
                                        <p:cTn id="62" dur="500"/>
                                        <p:tgtEl>
                                          <p:spTgt spid="2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4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CONTEXTE ET PROBLÉMATIQUE</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Des systèmes complets… mais qui ne se parlent pas</a:t>
            </a:r>
          </a:p>
        </p:txBody>
      </p:sp>
      <p:sp>
        <p:nvSpPr>
          <p:cNvPr id="10" name="Rounded Rectangle 9"/>
          <p:cNvSpPr/>
          <p:nvPr/>
        </p:nvSpPr>
        <p:spPr>
          <a:xfrm>
            <a:off x="548640" y="1600200"/>
            <a:ext cx="3484778" cy="233172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Oval 10"/>
          <p:cNvSpPr/>
          <p:nvPr/>
        </p:nvSpPr>
        <p:spPr>
          <a:xfrm>
            <a:off x="822959" y="1828800"/>
            <a:ext cx="548640" cy="5486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a:t>
            </a:r>
          </a:p>
        </p:txBody>
      </p:sp>
      <p:sp>
        <p:nvSpPr>
          <p:cNvPr id="12" name="TextBox 11"/>
          <p:cNvSpPr txBox="1"/>
          <p:nvPr/>
        </p:nvSpPr>
        <p:spPr>
          <a:xfrm>
            <a:off x="1508760" y="1874519"/>
            <a:ext cx="2387498" cy="457200"/>
          </a:xfrm>
          <a:prstGeom prst="rect">
            <a:avLst/>
          </a:prstGeom>
          <a:noFill/>
        </p:spPr>
        <p:txBody>
          <a:bodyPr wrap="square" lIns="18288" tIns="18288" rIns="18288" bIns="18288" anchor="t">
            <a:spAutoFit/>
          </a:bodyPr>
          <a:lstStyle/>
          <a:p>
            <a:pPr algn="l"/>
            <a:r>
              <a:rPr sz="2000" b="1" i="0">
                <a:solidFill>
                  <a:srgbClr val="1F3864"/>
                </a:solidFill>
                <a:latin typeface="Calibri"/>
              </a:rPr>
              <a:t>Dispersion</a:t>
            </a:r>
          </a:p>
        </p:txBody>
      </p:sp>
      <p:sp>
        <p:nvSpPr>
          <p:cNvPr id="13" name="TextBox 12"/>
          <p:cNvSpPr txBox="1"/>
          <p:nvPr/>
        </p:nvSpPr>
        <p:spPr>
          <a:xfrm>
            <a:off x="822959" y="2560320"/>
            <a:ext cx="2981858" cy="1280160"/>
          </a:xfrm>
          <a:prstGeom prst="rect">
            <a:avLst/>
          </a:prstGeom>
          <a:noFill/>
        </p:spPr>
        <p:txBody>
          <a:bodyPr wrap="square" lIns="18288" tIns="18288" rIns="18288" bIns="18288" anchor="t">
            <a:spAutoFit/>
          </a:bodyPr>
          <a:lstStyle/>
          <a:p>
            <a:pPr algn="l"/>
            <a:r>
              <a:rPr sz="1500" b="0" i="0">
                <a:solidFill>
                  <a:srgbClr val="1D2433"/>
                </a:solidFill>
                <a:latin typeface="Calibri"/>
              </a:rPr>
              <a:t>Les données d'un patient sont réparties entre plusieurs bases, sans vue globale.</a:t>
            </a:r>
          </a:p>
        </p:txBody>
      </p:sp>
      <p:sp>
        <p:nvSpPr>
          <p:cNvPr id="14" name="Rounded Rectangle 13"/>
          <p:cNvSpPr/>
          <p:nvPr/>
        </p:nvSpPr>
        <p:spPr>
          <a:xfrm>
            <a:off x="4353458" y="1600200"/>
            <a:ext cx="3484778" cy="233172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5" name="Oval 14"/>
          <p:cNvSpPr/>
          <p:nvPr/>
        </p:nvSpPr>
        <p:spPr>
          <a:xfrm>
            <a:off x="4627778" y="1828800"/>
            <a:ext cx="548640" cy="5486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2</a:t>
            </a:r>
          </a:p>
        </p:txBody>
      </p:sp>
      <p:sp>
        <p:nvSpPr>
          <p:cNvPr id="16" name="TextBox 15"/>
          <p:cNvSpPr txBox="1"/>
          <p:nvPr/>
        </p:nvSpPr>
        <p:spPr>
          <a:xfrm>
            <a:off x="5313578" y="1874519"/>
            <a:ext cx="2387498" cy="457200"/>
          </a:xfrm>
          <a:prstGeom prst="rect">
            <a:avLst/>
          </a:prstGeom>
          <a:noFill/>
        </p:spPr>
        <p:txBody>
          <a:bodyPr wrap="square" lIns="18288" tIns="18288" rIns="18288" bIns="18288" anchor="t">
            <a:spAutoFit/>
          </a:bodyPr>
          <a:lstStyle/>
          <a:p>
            <a:pPr algn="l"/>
            <a:r>
              <a:rPr sz="2000" b="1" i="0">
                <a:solidFill>
                  <a:srgbClr val="1F3864"/>
                </a:solidFill>
                <a:latin typeface="Calibri"/>
              </a:rPr>
              <a:t>Hétérogénéité</a:t>
            </a:r>
          </a:p>
        </p:txBody>
      </p:sp>
      <p:sp>
        <p:nvSpPr>
          <p:cNvPr id="17" name="TextBox 16"/>
          <p:cNvSpPr txBox="1"/>
          <p:nvPr/>
        </p:nvSpPr>
        <p:spPr>
          <a:xfrm>
            <a:off x="4627778" y="2560320"/>
            <a:ext cx="2981858" cy="1280160"/>
          </a:xfrm>
          <a:prstGeom prst="rect">
            <a:avLst/>
          </a:prstGeom>
          <a:noFill/>
        </p:spPr>
        <p:txBody>
          <a:bodyPr wrap="square" lIns="18288" tIns="18288" rIns="18288" bIns="18288" anchor="t">
            <a:spAutoFit/>
          </a:bodyPr>
          <a:lstStyle/>
          <a:p>
            <a:pPr algn="l"/>
            <a:r>
              <a:rPr sz="1500" b="0" i="0">
                <a:solidFill>
                  <a:srgbClr val="1D2433"/>
                </a:solidFill>
                <a:latin typeface="Calibri"/>
              </a:rPr>
              <a:t>Identifiants, libellés et formats diffèrent : le genre s'écrit </a:t>
            </a:r>
            <a:r>
              <a:rPr sz="1400" b="0" i="0">
                <a:solidFill>
                  <a:srgbClr val="1D2433"/>
                </a:solidFill>
                <a:latin typeface="Consolas"/>
              </a:rPr>
              <a:t>H/F</a:t>
            </a:r>
            <a:r>
              <a:rPr sz="1500" b="0" i="0">
                <a:solidFill>
                  <a:srgbClr val="1D2433"/>
                </a:solidFill>
                <a:latin typeface="Calibri"/>
              </a:rPr>
              <a:t>, </a:t>
            </a:r>
            <a:r>
              <a:rPr sz="1400" b="0" i="0">
                <a:solidFill>
                  <a:srgbClr val="1D2433"/>
                </a:solidFill>
                <a:latin typeface="Consolas"/>
              </a:rPr>
              <a:t>male/female</a:t>
            </a:r>
            <a:r>
              <a:rPr sz="1500" b="0" i="0">
                <a:solidFill>
                  <a:srgbClr val="1D2433"/>
                </a:solidFill>
                <a:latin typeface="Calibri"/>
              </a:rPr>
              <a:t> ou </a:t>
            </a:r>
            <a:r>
              <a:rPr sz="1400" b="0" i="0">
                <a:solidFill>
                  <a:srgbClr val="1D2433"/>
                </a:solidFill>
                <a:latin typeface="Consolas"/>
              </a:rPr>
              <a:t>Homme/femme</a:t>
            </a:r>
            <a:r>
              <a:rPr sz="1500" b="0" i="0">
                <a:solidFill>
                  <a:srgbClr val="1D2433"/>
                </a:solidFill>
                <a:latin typeface="Calibri"/>
              </a:rPr>
              <a:t>.</a:t>
            </a:r>
          </a:p>
        </p:txBody>
      </p:sp>
      <p:sp>
        <p:nvSpPr>
          <p:cNvPr id="18" name="Rounded Rectangle 17"/>
          <p:cNvSpPr/>
          <p:nvPr/>
        </p:nvSpPr>
        <p:spPr>
          <a:xfrm>
            <a:off x="8158276" y="1600200"/>
            <a:ext cx="3484778" cy="233172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9" name="Oval 18"/>
          <p:cNvSpPr/>
          <p:nvPr/>
        </p:nvSpPr>
        <p:spPr>
          <a:xfrm>
            <a:off x="8432596" y="1828800"/>
            <a:ext cx="548640" cy="5486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3</a:t>
            </a:r>
          </a:p>
        </p:txBody>
      </p:sp>
      <p:sp>
        <p:nvSpPr>
          <p:cNvPr id="20" name="TextBox 19"/>
          <p:cNvSpPr txBox="1"/>
          <p:nvPr/>
        </p:nvSpPr>
        <p:spPr>
          <a:xfrm>
            <a:off x="9118396" y="1874519"/>
            <a:ext cx="2387498" cy="457200"/>
          </a:xfrm>
          <a:prstGeom prst="rect">
            <a:avLst/>
          </a:prstGeom>
          <a:noFill/>
        </p:spPr>
        <p:txBody>
          <a:bodyPr wrap="square" lIns="18288" tIns="18288" rIns="18288" bIns="18288" anchor="t">
            <a:spAutoFit/>
          </a:bodyPr>
          <a:lstStyle/>
          <a:p>
            <a:pPr algn="l"/>
            <a:r>
              <a:rPr sz="2000" b="1" i="0">
                <a:solidFill>
                  <a:srgbClr val="1F3864"/>
                </a:solidFill>
                <a:latin typeface="Calibri"/>
              </a:rPr>
              <a:t>Absence de gouvernance</a:t>
            </a:r>
          </a:p>
        </p:txBody>
      </p:sp>
      <p:sp>
        <p:nvSpPr>
          <p:cNvPr id="21" name="TextBox 20"/>
          <p:cNvSpPr txBox="1"/>
          <p:nvPr/>
        </p:nvSpPr>
        <p:spPr>
          <a:xfrm>
            <a:off x="8432596" y="2560320"/>
            <a:ext cx="2981858" cy="1280160"/>
          </a:xfrm>
          <a:prstGeom prst="rect">
            <a:avLst/>
          </a:prstGeom>
          <a:noFill/>
        </p:spPr>
        <p:txBody>
          <a:bodyPr wrap="square" lIns="18288" tIns="18288" rIns="18288" bIns="18288" anchor="t">
            <a:spAutoFit/>
          </a:bodyPr>
          <a:lstStyle/>
          <a:p>
            <a:pPr algn="l"/>
            <a:r>
              <a:rPr sz="1500" b="0" i="0">
                <a:solidFill>
                  <a:srgbClr val="1D2433"/>
                </a:solidFill>
                <a:latin typeface="Calibri"/>
              </a:rPr>
              <a:t>Aucun contrôle de qui accède à quelle donnée, ni pour quelle finalité.</a:t>
            </a:r>
          </a:p>
        </p:txBody>
      </p:sp>
      <p:sp>
        <p:nvSpPr>
          <p:cNvPr id="22" name="Rounded Rectangle 21"/>
          <p:cNvSpPr/>
          <p:nvPr/>
        </p:nvSpPr>
        <p:spPr>
          <a:xfrm>
            <a:off x="548640" y="4251960"/>
            <a:ext cx="11094415" cy="17830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3" name="TextBox 22"/>
          <p:cNvSpPr txBox="1"/>
          <p:nvPr/>
        </p:nvSpPr>
        <p:spPr>
          <a:xfrm>
            <a:off x="914400" y="4389120"/>
            <a:ext cx="2743200" cy="320040"/>
          </a:xfrm>
          <a:prstGeom prst="rect">
            <a:avLst/>
          </a:prstGeom>
          <a:noFill/>
        </p:spPr>
        <p:txBody>
          <a:bodyPr wrap="square" lIns="18288" tIns="18288" rIns="18288" bIns="18288" anchor="t">
            <a:spAutoFit/>
          </a:bodyPr>
          <a:lstStyle/>
          <a:p>
            <a:pPr algn="l"/>
            <a:r>
              <a:rPr sz="1300" b="1" i="0">
                <a:solidFill>
                  <a:srgbClr val="8EAADB"/>
                </a:solidFill>
                <a:latin typeface="Calibri"/>
              </a:rPr>
              <a:t>PROBLÉMATIQUE</a:t>
            </a:r>
          </a:p>
        </p:txBody>
      </p:sp>
      <p:sp>
        <p:nvSpPr>
          <p:cNvPr id="24" name="TextBox 23"/>
          <p:cNvSpPr txBox="1"/>
          <p:nvPr/>
        </p:nvSpPr>
        <p:spPr>
          <a:xfrm>
            <a:off x="914400" y="4727448"/>
            <a:ext cx="10362895" cy="1234440"/>
          </a:xfrm>
          <a:prstGeom prst="rect">
            <a:avLst/>
          </a:prstGeom>
          <a:noFill/>
        </p:spPr>
        <p:txBody>
          <a:bodyPr wrap="square" lIns="18288" tIns="18288" rIns="18288" bIns="18288" anchor="t">
            <a:spAutoFit/>
          </a:bodyPr>
          <a:lstStyle/>
          <a:p>
            <a:pPr algn="l"/>
            <a:r>
              <a:rPr sz="1900" b="0" i="0">
                <a:solidFill>
                  <a:srgbClr val="FFFFFF"/>
                </a:solidFill>
                <a:latin typeface="Calibri"/>
              </a:rPr>
              <a:t>Comment concevoir une plateforme capable d'</a:t>
            </a:r>
            <a:r>
              <a:rPr sz="1900" b="1" i="0">
                <a:solidFill>
                  <a:srgbClr val="FFFFFF"/>
                </a:solidFill>
                <a:latin typeface="Calibri"/>
              </a:rPr>
              <a:t>intégrer, nettoyer, dédupliquer et centraliser</a:t>
            </a:r>
            <a:r>
              <a:rPr sz="1900" b="0" i="0">
                <a:solidFill>
                  <a:srgbClr val="FFFFFF"/>
                </a:solidFill>
                <a:latin typeface="Calibri"/>
              </a:rPr>
              <a:t> des données patients hétérogènes, tout en assurant la </a:t>
            </a:r>
            <a:r>
              <a:rPr sz="1900" b="1" i="0">
                <a:solidFill>
                  <a:srgbClr val="FFFFFF"/>
                </a:solidFill>
                <a:latin typeface="Calibri"/>
              </a:rPr>
              <a:t>traçabilité des identités</a:t>
            </a:r>
            <a:r>
              <a:rPr sz="1900" b="0" i="0">
                <a:solidFill>
                  <a:srgbClr val="FFFFFF"/>
                </a:solidFill>
                <a:latin typeface="Calibri"/>
              </a:rPr>
              <a:t> et la </a:t>
            </a:r>
            <a:r>
              <a:rPr sz="1900" b="1" i="0">
                <a:solidFill>
                  <a:srgbClr val="FFFFFF"/>
                </a:solidFill>
                <a:latin typeface="Calibri"/>
              </a:rPr>
              <a:t>gouvernance des accès</a:t>
            </a:r>
            <a:r>
              <a:rPr sz="1900" b="0" i="0">
                <a:solidFill>
                  <a:srgbClr val="FFFFFF"/>
                </a:solidFill>
                <a:latin typeface="Calibri"/>
              </a:rPr>
              <a:t> basée sur le consentement du patient ?</a:t>
            </a:r>
          </a:p>
        </p:txBody>
      </p:sp>
    </p:spTree>
    <p:extLst>
      <p:ext uri="{BB962C8B-B14F-4D97-AF65-F5344CB8AC3E}">
        <p14:creationId xmlns:p14="http://schemas.microsoft.com/office/powerpoint/2010/main" val="237308291"/>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5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OBJECTIFS DU PROJET</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Six objectifs, deux contraintes non négociables</a:t>
            </a:r>
          </a:p>
        </p:txBody>
      </p:sp>
      <p:sp>
        <p:nvSpPr>
          <p:cNvPr id="10" name="Rounded Rectangle 9"/>
          <p:cNvSpPr/>
          <p:nvPr/>
        </p:nvSpPr>
        <p:spPr>
          <a:xfrm>
            <a:off x="548640" y="1554480"/>
            <a:ext cx="3515258" cy="132588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Oval 10"/>
          <p:cNvSpPr/>
          <p:nvPr/>
        </p:nvSpPr>
        <p:spPr>
          <a:xfrm>
            <a:off x="777240" y="1874519"/>
            <a:ext cx="594360" cy="5943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1</a:t>
            </a:r>
          </a:p>
        </p:txBody>
      </p:sp>
      <p:sp>
        <p:nvSpPr>
          <p:cNvPr id="12" name="TextBox 11"/>
          <p:cNvSpPr txBox="1"/>
          <p:nvPr/>
        </p:nvSpPr>
        <p:spPr>
          <a:xfrm>
            <a:off x="1554480" y="1737360"/>
            <a:ext cx="2372258" cy="411480"/>
          </a:xfrm>
          <a:prstGeom prst="rect">
            <a:avLst/>
          </a:prstGeom>
          <a:noFill/>
        </p:spPr>
        <p:txBody>
          <a:bodyPr wrap="square" lIns="18288" tIns="18288" rIns="18288" bIns="18288" anchor="t">
            <a:spAutoFit/>
          </a:bodyPr>
          <a:lstStyle/>
          <a:p>
            <a:pPr algn="l"/>
            <a:r>
              <a:rPr sz="2000" b="1" i="0">
                <a:solidFill>
                  <a:srgbClr val="1F3864"/>
                </a:solidFill>
                <a:latin typeface="Calibri"/>
              </a:rPr>
              <a:t>Centraliser</a:t>
            </a:r>
          </a:p>
        </p:txBody>
      </p:sp>
      <p:sp>
        <p:nvSpPr>
          <p:cNvPr id="13" name="TextBox 12"/>
          <p:cNvSpPr txBox="1"/>
          <p:nvPr/>
        </p:nvSpPr>
        <p:spPr>
          <a:xfrm>
            <a:off x="1554480" y="2157984"/>
            <a:ext cx="2372258" cy="685800"/>
          </a:xfrm>
          <a:prstGeom prst="rect">
            <a:avLst/>
          </a:prstGeom>
          <a:noFill/>
        </p:spPr>
        <p:txBody>
          <a:bodyPr wrap="square" lIns="18288" tIns="18288" rIns="18288" bIns="18288" anchor="t">
            <a:spAutoFit/>
          </a:bodyPr>
          <a:lstStyle/>
          <a:p>
            <a:pPr algn="l"/>
            <a:r>
              <a:rPr sz="1400" b="0" i="0">
                <a:solidFill>
                  <a:srgbClr val="1D2433"/>
                </a:solidFill>
                <a:latin typeface="Calibri"/>
              </a:rPr>
              <a:t>lac de données Medallion RAW → SILVER → GOLD</a:t>
            </a:r>
          </a:p>
        </p:txBody>
      </p:sp>
      <p:sp>
        <p:nvSpPr>
          <p:cNvPr id="14" name="Rounded Rectangle 13"/>
          <p:cNvSpPr/>
          <p:nvPr/>
        </p:nvSpPr>
        <p:spPr>
          <a:xfrm>
            <a:off x="4338218" y="1554480"/>
            <a:ext cx="3515258" cy="132588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5" name="Oval 14"/>
          <p:cNvSpPr/>
          <p:nvPr/>
        </p:nvSpPr>
        <p:spPr>
          <a:xfrm>
            <a:off x="4566818" y="1874519"/>
            <a:ext cx="594360" cy="5943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2</a:t>
            </a:r>
          </a:p>
        </p:txBody>
      </p:sp>
      <p:sp>
        <p:nvSpPr>
          <p:cNvPr id="16" name="TextBox 15"/>
          <p:cNvSpPr txBox="1"/>
          <p:nvPr/>
        </p:nvSpPr>
        <p:spPr>
          <a:xfrm>
            <a:off x="5344058" y="1737360"/>
            <a:ext cx="2372258" cy="411480"/>
          </a:xfrm>
          <a:prstGeom prst="rect">
            <a:avLst/>
          </a:prstGeom>
          <a:noFill/>
        </p:spPr>
        <p:txBody>
          <a:bodyPr wrap="square" lIns="18288" tIns="18288" rIns="18288" bIns="18288" anchor="t">
            <a:spAutoFit/>
          </a:bodyPr>
          <a:lstStyle/>
          <a:p>
            <a:pPr algn="l"/>
            <a:r>
              <a:rPr sz="2000" b="1" i="0">
                <a:solidFill>
                  <a:srgbClr val="1F3864"/>
                </a:solidFill>
                <a:latin typeface="Calibri"/>
              </a:rPr>
              <a:t>Nettoyer</a:t>
            </a:r>
          </a:p>
        </p:txBody>
      </p:sp>
      <p:sp>
        <p:nvSpPr>
          <p:cNvPr id="17" name="TextBox 16"/>
          <p:cNvSpPr txBox="1"/>
          <p:nvPr/>
        </p:nvSpPr>
        <p:spPr>
          <a:xfrm>
            <a:off x="5344058" y="2157984"/>
            <a:ext cx="2372258" cy="685800"/>
          </a:xfrm>
          <a:prstGeom prst="rect">
            <a:avLst/>
          </a:prstGeom>
          <a:noFill/>
        </p:spPr>
        <p:txBody>
          <a:bodyPr wrap="square" lIns="18288" tIns="18288" rIns="18288" bIns="18288" anchor="t">
            <a:spAutoFit/>
          </a:bodyPr>
          <a:lstStyle/>
          <a:p>
            <a:pPr algn="l"/>
            <a:r>
              <a:rPr sz="1400" b="0" i="0">
                <a:solidFill>
                  <a:srgbClr val="1D2433"/>
                </a:solidFill>
                <a:latin typeface="Calibri"/>
              </a:rPr>
              <a:t>modèle canonique et schéma pivot FHIR</a:t>
            </a:r>
          </a:p>
        </p:txBody>
      </p:sp>
      <p:sp>
        <p:nvSpPr>
          <p:cNvPr id="18" name="Rounded Rectangle 17"/>
          <p:cNvSpPr/>
          <p:nvPr/>
        </p:nvSpPr>
        <p:spPr>
          <a:xfrm>
            <a:off x="8127796" y="1554480"/>
            <a:ext cx="3515258" cy="132588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9" name="Oval 18"/>
          <p:cNvSpPr/>
          <p:nvPr/>
        </p:nvSpPr>
        <p:spPr>
          <a:xfrm>
            <a:off x="8356396" y="1874519"/>
            <a:ext cx="594360" cy="5943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3</a:t>
            </a:r>
          </a:p>
        </p:txBody>
      </p:sp>
      <p:sp>
        <p:nvSpPr>
          <p:cNvPr id="20" name="TextBox 19"/>
          <p:cNvSpPr txBox="1"/>
          <p:nvPr/>
        </p:nvSpPr>
        <p:spPr>
          <a:xfrm>
            <a:off x="9133636" y="1737360"/>
            <a:ext cx="2372258" cy="411480"/>
          </a:xfrm>
          <a:prstGeom prst="rect">
            <a:avLst/>
          </a:prstGeom>
          <a:noFill/>
        </p:spPr>
        <p:txBody>
          <a:bodyPr wrap="square" lIns="18288" tIns="18288" rIns="18288" bIns="18288" anchor="t">
            <a:spAutoFit/>
          </a:bodyPr>
          <a:lstStyle/>
          <a:p>
            <a:pPr algn="l"/>
            <a:r>
              <a:rPr sz="2000" b="1" i="0">
                <a:solidFill>
                  <a:srgbClr val="1F3864"/>
                </a:solidFill>
                <a:latin typeface="Calibri"/>
              </a:rPr>
              <a:t>Dédupliquer</a:t>
            </a:r>
          </a:p>
        </p:txBody>
      </p:sp>
      <p:sp>
        <p:nvSpPr>
          <p:cNvPr id="21" name="TextBox 20"/>
          <p:cNvSpPr txBox="1"/>
          <p:nvPr/>
        </p:nvSpPr>
        <p:spPr>
          <a:xfrm>
            <a:off x="9133636" y="2157984"/>
            <a:ext cx="2372258" cy="685800"/>
          </a:xfrm>
          <a:prstGeom prst="rect">
            <a:avLst/>
          </a:prstGeom>
          <a:noFill/>
        </p:spPr>
        <p:txBody>
          <a:bodyPr wrap="square" lIns="18288" tIns="18288" rIns="18288" bIns="18288" anchor="t">
            <a:spAutoFit/>
          </a:bodyPr>
          <a:lstStyle/>
          <a:p>
            <a:pPr algn="l"/>
            <a:r>
              <a:rPr sz="1400" b="0" i="0">
                <a:solidFill>
                  <a:srgbClr val="1D2433"/>
                </a:solidFill>
                <a:latin typeface="Calibri"/>
              </a:rPr>
              <a:t>patient maître, score, méthode et explication</a:t>
            </a:r>
          </a:p>
        </p:txBody>
      </p:sp>
      <p:sp>
        <p:nvSpPr>
          <p:cNvPr id="22" name="Rounded Rectangle 21"/>
          <p:cNvSpPr/>
          <p:nvPr/>
        </p:nvSpPr>
        <p:spPr>
          <a:xfrm>
            <a:off x="548640" y="3108960"/>
            <a:ext cx="3515258" cy="132588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3" name="Oval 22"/>
          <p:cNvSpPr/>
          <p:nvPr/>
        </p:nvSpPr>
        <p:spPr>
          <a:xfrm>
            <a:off x="777240" y="3429000"/>
            <a:ext cx="594360" cy="5943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4</a:t>
            </a:r>
          </a:p>
        </p:txBody>
      </p:sp>
      <p:sp>
        <p:nvSpPr>
          <p:cNvPr id="24" name="TextBox 23"/>
          <p:cNvSpPr txBox="1"/>
          <p:nvPr/>
        </p:nvSpPr>
        <p:spPr>
          <a:xfrm>
            <a:off x="1554480" y="3291840"/>
            <a:ext cx="2372258" cy="411480"/>
          </a:xfrm>
          <a:prstGeom prst="rect">
            <a:avLst/>
          </a:prstGeom>
          <a:noFill/>
        </p:spPr>
        <p:txBody>
          <a:bodyPr wrap="square" lIns="18288" tIns="18288" rIns="18288" bIns="18288" anchor="t">
            <a:spAutoFit/>
          </a:bodyPr>
          <a:lstStyle/>
          <a:p>
            <a:pPr algn="l"/>
            <a:r>
              <a:rPr sz="2000" b="1" i="0">
                <a:solidFill>
                  <a:srgbClr val="1F3864"/>
                </a:solidFill>
                <a:latin typeface="Calibri"/>
              </a:rPr>
              <a:t>Gouverner</a:t>
            </a:r>
          </a:p>
        </p:txBody>
      </p:sp>
      <p:sp>
        <p:nvSpPr>
          <p:cNvPr id="25" name="TextBox 24"/>
          <p:cNvSpPr txBox="1"/>
          <p:nvPr/>
        </p:nvSpPr>
        <p:spPr>
          <a:xfrm>
            <a:off x="1554480" y="3712463"/>
            <a:ext cx="2372258" cy="685800"/>
          </a:xfrm>
          <a:prstGeom prst="rect">
            <a:avLst/>
          </a:prstGeom>
          <a:noFill/>
        </p:spPr>
        <p:txBody>
          <a:bodyPr wrap="square" lIns="18288" tIns="18288" rIns="18288" bIns="18288" anchor="t">
            <a:spAutoFit/>
          </a:bodyPr>
          <a:lstStyle/>
          <a:p>
            <a:pPr algn="l"/>
            <a:r>
              <a:rPr sz="1400" b="0" i="0">
                <a:solidFill>
                  <a:srgbClr val="1D2433"/>
                </a:solidFill>
                <a:latin typeface="Calibri"/>
              </a:rPr>
              <a:t>rôles, consentement par finalité, audit</a:t>
            </a:r>
          </a:p>
        </p:txBody>
      </p:sp>
      <p:sp>
        <p:nvSpPr>
          <p:cNvPr id="26" name="Rounded Rectangle 25"/>
          <p:cNvSpPr/>
          <p:nvPr/>
        </p:nvSpPr>
        <p:spPr>
          <a:xfrm>
            <a:off x="4338218" y="3108960"/>
            <a:ext cx="3515258" cy="132588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7" name="Oval 26"/>
          <p:cNvSpPr/>
          <p:nvPr/>
        </p:nvSpPr>
        <p:spPr>
          <a:xfrm>
            <a:off x="4566818" y="3429000"/>
            <a:ext cx="594360" cy="5943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5</a:t>
            </a:r>
          </a:p>
        </p:txBody>
      </p:sp>
      <p:sp>
        <p:nvSpPr>
          <p:cNvPr id="28" name="TextBox 27"/>
          <p:cNvSpPr txBox="1"/>
          <p:nvPr/>
        </p:nvSpPr>
        <p:spPr>
          <a:xfrm>
            <a:off x="5344058" y="3291840"/>
            <a:ext cx="2372258" cy="411480"/>
          </a:xfrm>
          <a:prstGeom prst="rect">
            <a:avLst/>
          </a:prstGeom>
          <a:noFill/>
        </p:spPr>
        <p:txBody>
          <a:bodyPr wrap="square" lIns="18288" tIns="18288" rIns="18288" bIns="18288" anchor="t">
            <a:spAutoFit/>
          </a:bodyPr>
          <a:lstStyle/>
          <a:p>
            <a:pPr algn="l"/>
            <a:r>
              <a:rPr sz="2000" b="1" i="0">
                <a:solidFill>
                  <a:srgbClr val="1F3864"/>
                </a:solidFill>
                <a:latin typeface="Calibri"/>
              </a:rPr>
              <a:t>Visualiser</a:t>
            </a:r>
          </a:p>
        </p:txBody>
      </p:sp>
      <p:sp>
        <p:nvSpPr>
          <p:cNvPr id="29" name="TextBox 28"/>
          <p:cNvSpPr txBox="1"/>
          <p:nvPr/>
        </p:nvSpPr>
        <p:spPr>
          <a:xfrm>
            <a:off x="5344058" y="3712463"/>
            <a:ext cx="2372258" cy="685800"/>
          </a:xfrm>
          <a:prstGeom prst="rect">
            <a:avLst/>
          </a:prstGeom>
          <a:noFill/>
        </p:spPr>
        <p:txBody>
          <a:bodyPr wrap="square" lIns="18288" tIns="18288" rIns="18288" bIns="18288" anchor="t">
            <a:spAutoFit/>
          </a:bodyPr>
          <a:lstStyle/>
          <a:p>
            <a:pPr algn="l"/>
            <a:r>
              <a:rPr sz="1400" b="0" i="0">
                <a:solidFill>
                  <a:srgbClr val="1D2433"/>
                </a:solidFill>
                <a:latin typeface="Calibri"/>
              </a:rPr>
              <a:t>vues de déduplication et de consentement</a:t>
            </a:r>
          </a:p>
        </p:txBody>
      </p:sp>
      <p:sp>
        <p:nvSpPr>
          <p:cNvPr id="30" name="Rounded Rectangle 29"/>
          <p:cNvSpPr/>
          <p:nvPr/>
        </p:nvSpPr>
        <p:spPr>
          <a:xfrm>
            <a:off x="8127796" y="3108960"/>
            <a:ext cx="3515258" cy="132588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31" name="Oval 30"/>
          <p:cNvSpPr/>
          <p:nvPr/>
        </p:nvSpPr>
        <p:spPr>
          <a:xfrm>
            <a:off x="8356396" y="3429000"/>
            <a:ext cx="594360" cy="59436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i="0">
                <a:solidFill>
                  <a:srgbClr val="FFFFFF"/>
                </a:solidFill>
                <a:latin typeface="Calibri"/>
              </a:rPr>
              <a:t>6</a:t>
            </a:r>
          </a:p>
        </p:txBody>
      </p:sp>
      <p:sp>
        <p:nvSpPr>
          <p:cNvPr id="32" name="TextBox 31"/>
          <p:cNvSpPr txBox="1"/>
          <p:nvPr/>
        </p:nvSpPr>
        <p:spPr>
          <a:xfrm>
            <a:off x="9133636" y="3291840"/>
            <a:ext cx="2372258" cy="411480"/>
          </a:xfrm>
          <a:prstGeom prst="rect">
            <a:avLst/>
          </a:prstGeom>
          <a:noFill/>
        </p:spPr>
        <p:txBody>
          <a:bodyPr wrap="square" lIns="18288" tIns="18288" rIns="18288" bIns="18288" anchor="t">
            <a:spAutoFit/>
          </a:bodyPr>
          <a:lstStyle/>
          <a:p>
            <a:pPr algn="l"/>
            <a:r>
              <a:rPr sz="2000" b="1" i="0">
                <a:solidFill>
                  <a:srgbClr val="1F3864"/>
                </a:solidFill>
                <a:latin typeface="Calibri"/>
              </a:rPr>
              <a:t>Évaluer</a:t>
            </a:r>
          </a:p>
        </p:txBody>
      </p:sp>
      <p:sp>
        <p:nvSpPr>
          <p:cNvPr id="33" name="TextBox 32"/>
          <p:cNvSpPr txBox="1"/>
          <p:nvPr/>
        </p:nvSpPr>
        <p:spPr>
          <a:xfrm>
            <a:off x="9133636" y="3712463"/>
            <a:ext cx="2372258" cy="685800"/>
          </a:xfrm>
          <a:prstGeom prst="rect">
            <a:avLst/>
          </a:prstGeom>
          <a:noFill/>
        </p:spPr>
        <p:txBody>
          <a:bodyPr wrap="square" lIns="18288" tIns="18288" rIns="18288" bIns="18288" anchor="t">
            <a:spAutoFit/>
          </a:bodyPr>
          <a:lstStyle/>
          <a:p>
            <a:pPr algn="l"/>
            <a:r>
              <a:rPr sz="1400" b="0" i="0">
                <a:solidFill>
                  <a:srgbClr val="1D2433"/>
                </a:solidFill>
                <a:latin typeface="Calibri"/>
              </a:rPr>
              <a:t>précision, rappel, F1 sur vérité terrain</a:t>
            </a:r>
          </a:p>
        </p:txBody>
      </p:sp>
      <p:sp>
        <p:nvSpPr>
          <p:cNvPr id="34" name="Rounded Rectangle 33"/>
          <p:cNvSpPr/>
          <p:nvPr/>
        </p:nvSpPr>
        <p:spPr>
          <a:xfrm>
            <a:off x="548640" y="4800600"/>
            <a:ext cx="5410047" cy="86868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1" i="0">
                <a:solidFill>
                  <a:srgbClr val="1D2433"/>
                </a:solidFill>
                <a:latin typeface="Calibri"/>
              </a:rPr>
              <a:t>Hébergement interne</a:t>
            </a:r>
            <a:r>
              <a:rPr sz="1600" b="0" i="0">
                <a:solidFill>
                  <a:srgbClr val="1D2433"/>
                </a:solidFill>
                <a:latin typeface="Calibri"/>
              </a:rPr>
              <a:t> : aucune donnée ne quitte l'établissement</a:t>
            </a:r>
          </a:p>
        </p:txBody>
      </p:sp>
      <p:sp>
        <p:nvSpPr>
          <p:cNvPr id="35" name="Rounded Rectangle 34"/>
          <p:cNvSpPr/>
          <p:nvPr/>
        </p:nvSpPr>
        <p:spPr>
          <a:xfrm>
            <a:off x="6233007" y="4800600"/>
            <a:ext cx="5410047" cy="86868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1" i="0">
                <a:solidFill>
                  <a:srgbClr val="1D2433"/>
                </a:solidFill>
                <a:latin typeface="Calibri"/>
              </a:rPr>
              <a:t>Données exclusivement synthétiques</a:t>
            </a:r>
            <a:r>
              <a:rPr sz="1600" b="0" i="0">
                <a:solidFill>
                  <a:srgbClr val="1D2433"/>
                </a:solidFill>
                <a:latin typeface="Calibri"/>
              </a:rPr>
              <a:t> : aucune donnée réelle de patient</a:t>
            </a:r>
          </a:p>
        </p:txBody>
      </p:sp>
    </p:spTree>
    <p:extLst>
      <p:ext uri="{BB962C8B-B14F-4D97-AF65-F5344CB8AC3E}">
        <p14:creationId xmlns:p14="http://schemas.microsoft.com/office/powerpoint/2010/main" val="2427286589"/>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6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PLAN</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Déroulé de la présentation</a:t>
            </a:r>
          </a:p>
        </p:txBody>
      </p:sp>
      <p:sp>
        <p:nvSpPr>
          <p:cNvPr id="10" name="Rounded Rectangle 9"/>
          <p:cNvSpPr/>
          <p:nvPr/>
        </p:nvSpPr>
        <p:spPr>
          <a:xfrm>
            <a:off x="548640" y="2240280"/>
            <a:ext cx="2036003" cy="283464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Oval 10"/>
          <p:cNvSpPr/>
          <p:nvPr/>
        </p:nvSpPr>
        <p:spPr>
          <a:xfrm>
            <a:off x="1132301" y="1783080"/>
            <a:ext cx="868680" cy="8686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i="0">
                <a:solidFill>
                  <a:srgbClr val="FFFFFF"/>
                </a:solidFill>
                <a:latin typeface="Calibri"/>
              </a:rPr>
              <a:t>1</a:t>
            </a:r>
          </a:p>
        </p:txBody>
      </p:sp>
      <p:sp>
        <p:nvSpPr>
          <p:cNvPr id="12" name="TextBox 11"/>
          <p:cNvSpPr txBox="1"/>
          <p:nvPr/>
        </p:nvSpPr>
        <p:spPr>
          <a:xfrm>
            <a:off x="731520" y="2926080"/>
            <a:ext cx="1670243" cy="868680"/>
          </a:xfrm>
          <a:prstGeom prst="rect">
            <a:avLst/>
          </a:prstGeom>
          <a:noFill/>
        </p:spPr>
        <p:txBody>
          <a:bodyPr wrap="square" lIns="18288" tIns="18288" rIns="18288" bIns="18288" anchor="t">
            <a:spAutoFit/>
          </a:bodyPr>
          <a:lstStyle/>
          <a:p>
            <a:pPr algn="ctr"/>
            <a:r>
              <a:rPr sz="1900" b="1" i="0">
                <a:solidFill>
                  <a:srgbClr val="1F3864"/>
                </a:solidFill>
                <a:latin typeface="Calibri"/>
              </a:rPr>
              <a:t>État de l'art</a:t>
            </a:r>
          </a:p>
        </p:txBody>
      </p:sp>
      <p:sp>
        <p:nvSpPr>
          <p:cNvPr id="13" name="TextBox 12"/>
          <p:cNvSpPr txBox="1"/>
          <p:nvPr/>
        </p:nvSpPr>
        <p:spPr>
          <a:xfrm>
            <a:off x="731520" y="3840480"/>
            <a:ext cx="1670243" cy="1097280"/>
          </a:xfrm>
          <a:prstGeom prst="rect">
            <a:avLst/>
          </a:prstGeom>
          <a:noFill/>
        </p:spPr>
        <p:txBody>
          <a:bodyPr wrap="square" lIns="18288" tIns="18288" rIns="18288" bIns="18288" anchor="t">
            <a:spAutoFit/>
          </a:bodyPr>
          <a:lstStyle/>
          <a:p>
            <a:pPr algn="ctr"/>
            <a:r>
              <a:rPr sz="1400" b="0" i="0">
                <a:solidFill>
                  <a:srgbClr val="5B6475"/>
                </a:solidFill>
                <a:latin typeface="Calibri"/>
              </a:rPr>
              <a:t>notions clés, solutions du marché</a:t>
            </a:r>
          </a:p>
        </p:txBody>
      </p:sp>
      <p:sp>
        <p:nvSpPr>
          <p:cNvPr id="14" name="Rounded Rectangle 13"/>
          <p:cNvSpPr/>
          <p:nvPr/>
        </p:nvSpPr>
        <p:spPr>
          <a:xfrm>
            <a:off x="2813243" y="2240280"/>
            <a:ext cx="2036003" cy="283464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5" name="Oval 14"/>
          <p:cNvSpPr/>
          <p:nvPr/>
        </p:nvSpPr>
        <p:spPr>
          <a:xfrm>
            <a:off x="3396904" y="1783080"/>
            <a:ext cx="868680" cy="8686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i="0">
                <a:solidFill>
                  <a:srgbClr val="FFFFFF"/>
                </a:solidFill>
                <a:latin typeface="Calibri"/>
              </a:rPr>
              <a:t>2</a:t>
            </a:r>
          </a:p>
        </p:txBody>
      </p:sp>
      <p:sp>
        <p:nvSpPr>
          <p:cNvPr id="16" name="TextBox 15"/>
          <p:cNvSpPr txBox="1"/>
          <p:nvPr/>
        </p:nvSpPr>
        <p:spPr>
          <a:xfrm>
            <a:off x="2996123" y="2926080"/>
            <a:ext cx="1670243" cy="868680"/>
          </a:xfrm>
          <a:prstGeom prst="rect">
            <a:avLst/>
          </a:prstGeom>
          <a:noFill/>
        </p:spPr>
        <p:txBody>
          <a:bodyPr wrap="square" lIns="18288" tIns="18288" rIns="18288" bIns="18288" anchor="t">
            <a:spAutoFit/>
          </a:bodyPr>
          <a:lstStyle/>
          <a:p>
            <a:pPr algn="ctr"/>
            <a:r>
              <a:rPr sz="1900" b="1" i="0">
                <a:solidFill>
                  <a:srgbClr val="1F3864"/>
                </a:solidFill>
                <a:latin typeface="Calibri"/>
              </a:rPr>
              <a:t>Étude de l'existant</a:t>
            </a:r>
          </a:p>
        </p:txBody>
      </p:sp>
      <p:sp>
        <p:nvSpPr>
          <p:cNvPr id="17" name="TextBox 16"/>
          <p:cNvSpPr txBox="1"/>
          <p:nvPr/>
        </p:nvSpPr>
        <p:spPr>
          <a:xfrm>
            <a:off x="2996123" y="3840480"/>
            <a:ext cx="1670243" cy="1097280"/>
          </a:xfrm>
          <a:prstGeom prst="rect">
            <a:avLst/>
          </a:prstGeom>
          <a:noFill/>
        </p:spPr>
        <p:txBody>
          <a:bodyPr wrap="square" lIns="18288" tIns="18288" rIns="18288" bIns="18288" anchor="t">
            <a:spAutoFit/>
          </a:bodyPr>
          <a:lstStyle/>
          <a:p>
            <a:pPr algn="ctr"/>
            <a:r>
              <a:rPr sz="1400" b="0" i="0">
                <a:solidFill>
                  <a:srgbClr val="5B6475"/>
                </a:solidFill>
                <a:latin typeface="Calibri"/>
              </a:rPr>
              <a:t>trois systèmes, leurs limites</a:t>
            </a:r>
          </a:p>
        </p:txBody>
      </p:sp>
      <p:sp>
        <p:nvSpPr>
          <p:cNvPr id="18" name="Rounded Rectangle 17"/>
          <p:cNvSpPr/>
          <p:nvPr/>
        </p:nvSpPr>
        <p:spPr>
          <a:xfrm>
            <a:off x="5077846" y="2240280"/>
            <a:ext cx="2036003" cy="283464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9" name="Oval 18"/>
          <p:cNvSpPr/>
          <p:nvPr/>
        </p:nvSpPr>
        <p:spPr>
          <a:xfrm>
            <a:off x="5661507" y="1783080"/>
            <a:ext cx="868680" cy="8686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i="0">
                <a:solidFill>
                  <a:srgbClr val="FFFFFF"/>
                </a:solidFill>
                <a:latin typeface="Calibri"/>
              </a:rPr>
              <a:t>3</a:t>
            </a:r>
          </a:p>
        </p:txBody>
      </p:sp>
      <p:sp>
        <p:nvSpPr>
          <p:cNvPr id="20" name="TextBox 19"/>
          <p:cNvSpPr txBox="1"/>
          <p:nvPr/>
        </p:nvSpPr>
        <p:spPr>
          <a:xfrm>
            <a:off x="5260726" y="2926080"/>
            <a:ext cx="1670243" cy="868680"/>
          </a:xfrm>
          <a:prstGeom prst="rect">
            <a:avLst/>
          </a:prstGeom>
          <a:noFill/>
        </p:spPr>
        <p:txBody>
          <a:bodyPr wrap="square" lIns="18288" tIns="18288" rIns="18288" bIns="18288" anchor="t">
            <a:spAutoFit/>
          </a:bodyPr>
          <a:lstStyle/>
          <a:p>
            <a:pPr algn="ctr"/>
            <a:r>
              <a:rPr sz="1900" b="1" i="0">
                <a:solidFill>
                  <a:srgbClr val="1F3864"/>
                </a:solidFill>
                <a:latin typeface="Calibri"/>
              </a:rPr>
              <a:t>Solution proposée</a:t>
            </a:r>
          </a:p>
        </p:txBody>
      </p:sp>
      <p:sp>
        <p:nvSpPr>
          <p:cNvPr id="21" name="TextBox 20"/>
          <p:cNvSpPr txBox="1"/>
          <p:nvPr/>
        </p:nvSpPr>
        <p:spPr>
          <a:xfrm>
            <a:off x="5260726" y="3840480"/>
            <a:ext cx="1670243" cy="1097280"/>
          </a:xfrm>
          <a:prstGeom prst="rect">
            <a:avLst/>
          </a:prstGeom>
          <a:noFill/>
        </p:spPr>
        <p:txBody>
          <a:bodyPr wrap="square" lIns="18288" tIns="18288" rIns="18288" bIns="18288" anchor="t">
            <a:spAutoFit/>
          </a:bodyPr>
          <a:lstStyle/>
          <a:p>
            <a:pPr algn="ctr"/>
            <a:r>
              <a:rPr sz="1400" b="0" i="0">
                <a:solidFill>
                  <a:srgbClr val="5B6475"/>
                </a:solidFill>
                <a:latin typeface="Calibri"/>
              </a:rPr>
              <a:t>démarche en trois niveaux, architecture</a:t>
            </a:r>
          </a:p>
        </p:txBody>
      </p:sp>
      <p:sp>
        <p:nvSpPr>
          <p:cNvPr id="22" name="Rounded Rectangle 21"/>
          <p:cNvSpPr/>
          <p:nvPr/>
        </p:nvSpPr>
        <p:spPr>
          <a:xfrm>
            <a:off x="7342449" y="2240280"/>
            <a:ext cx="2036003" cy="283464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3" name="Oval 22"/>
          <p:cNvSpPr/>
          <p:nvPr/>
        </p:nvSpPr>
        <p:spPr>
          <a:xfrm>
            <a:off x="7926110" y="1783080"/>
            <a:ext cx="868680" cy="8686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i="0">
                <a:solidFill>
                  <a:srgbClr val="FFFFFF"/>
                </a:solidFill>
                <a:latin typeface="Calibri"/>
              </a:rPr>
              <a:t>4</a:t>
            </a:r>
          </a:p>
        </p:txBody>
      </p:sp>
      <p:sp>
        <p:nvSpPr>
          <p:cNvPr id="24" name="TextBox 23"/>
          <p:cNvSpPr txBox="1"/>
          <p:nvPr/>
        </p:nvSpPr>
        <p:spPr>
          <a:xfrm>
            <a:off x="7525329" y="2926080"/>
            <a:ext cx="1670243" cy="868680"/>
          </a:xfrm>
          <a:prstGeom prst="rect">
            <a:avLst/>
          </a:prstGeom>
          <a:noFill/>
        </p:spPr>
        <p:txBody>
          <a:bodyPr wrap="square" lIns="18288" tIns="18288" rIns="18288" bIns="18288" anchor="t">
            <a:spAutoFit/>
          </a:bodyPr>
          <a:lstStyle/>
          <a:p>
            <a:pPr algn="ctr"/>
            <a:r>
              <a:rPr sz="1900" b="1" i="0">
                <a:solidFill>
                  <a:srgbClr val="1F3864"/>
                </a:solidFill>
                <a:latin typeface="Calibri"/>
              </a:rPr>
              <a:t>Fonctionnalités et résultats</a:t>
            </a:r>
          </a:p>
        </p:txBody>
      </p:sp>
      <p:sp>
        <p:nvSpPr>
          <p:cNvPr id="25" name="TextBox 24"/>
          <p:cNvSpPr txBox="1"/>
          <p:nvPr/>
        </p:nvSpPr>
        <p:spPr>
          <a:xfrm>
            <a:off x="7525329" y="3840480"/>
            <a:ext cx="1670243" cy="1097280"/>
          </a:xfrm>
          <a:prstGeom prst="rect">
            <a:avLst/>
          </a:prstGeom>
          <a:noFill/>
        </p:spPr>
        <p:txBody>
          <a:bodyPr wrap="square" lIns="18288" tIns="18288" rIns="18288" bIns="18288" anchor="t">
            <a:spAutoFit/>
          </a:bodyPr>
          <a:lstStyle/>
          <a:p>
            <a:pPr algn="ctr"/>
            <a:r>
              <a:rPr sz="1400" b="0" i="0">
                <a:solidFill>
                  <a:srgbClr val="5B6475"/>
                </a:solidFill>
                <a:latin typeface="Calibri"/>
              </a:rPr>
              <a:t>déduplication, gouvernance, évaluation</a:t>
            </a:r>
          </a:p>
        </p:txBody>
      </p:sp>
      <p:sp>
        <p:nvSpPr>
          <p:cNvPr id="26" name="Rounded Rectangle 25"/>
          <p:cNvSpPr/>
          <p:nvPr/>
        </p:nvSpPr>
        <p:spPr>
          <a:xfrm>
            <a:off x="9607052" y="2240280"/>
            <a:ext cx="2036003" cy="283464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7" name="Oval 26"/>
          <p:cNvSpPr/>
          <p:nvPr/>
        </p:nvSpPr>
        <p:spPr>
          <a:xfrm>
            <a:off x="10190713" y="1783080"/>
            <a:ext cx="868680" cy="86868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600" b="1" i="0">
                <a:solidFill>
                  <a:srgbClr val="FFFFFF"/>
                </a:solidFill>
                <a:latin typeface="Calibri"/>
              </a:rPr>
              <a:t>5</a:t>
            </a:r>
          </a:p>
        </p:txBody>
      </p:sp>
      <p:sp>
        <p:nvSpPr>
          <p:cNvPr id="28" name="TextBox 27"/>
          <p:cNvSpPr txBox="1"/>
          <p:nvPr/>
        </p:nvSpPr>
        <p:spPr>
          <a:xfrm>
            <a:off x="9789932" y="2926080"/>
            <a:ext cx="1670243" cy="868680"/>
          </a:xfrm>
          <a:prstGeom prst="rect">
            <a:avLst/>
          </a:prstGeom>
          <a:noFill/>
        </p:spPr>
        <p:txBody>
          <a:bodyPr wrap="square" lIns="18288" tIns="18288" rIns="18288" bIns="18288" anchor="t">
            <a:spAutoFit/>
          </a:bodyPr>
          <a:lstStyle/>
          <a:p>
            <a:pPr algn="ctr"/>
            <a:r>
              <a:rPr sz="1900" b="1" i="0">
                <a:solidFill>
                  <a:srgbClr val="1F3864"/>
                </a:solidFill>
                <a:latin typeface="Calibri"/>
              </a:rPr>
              <a:t>Démonstration et perspectives</a:t>
            </a:r>
          </a:p>
        </p:txBody>
      </p:sp>
      <p:sp>
        <p:nvSpPr>
          <p:cNvPr id="29" name="TextBox 28"/>
          <p:cNvSpPr txBox="1"/>
          <p:nvPr/>
        </p:nvSpPr>
        <p:spPr>
          <a:xfrm>
            <a:off x="9789932" y="3840480"/>
            <a:ext cx="1670243" cy="1097280"/>
          </a:xfrm>
          <a:prstGeom prst="rect">
            <a:avLst/>
          </a:prstGeom>
          <a:noFill/>
        </p:spPr>
        <p:txBody>
          <a:bodyPr wrap="square" lIns="18288" tIns="18288" rIns="18288" bIns="18288" anchor="t">
            <a:spAutoFit/>
          </a:bodyPr>
          <a:lstStyle/>
          <a:p>
            <a:pPr algn="ctr"/>
            <a:r>
              <a:rPr sz="1400" b="0" i="0">
                <a:solidFill>
                  <a:srgbClr val="5B6475"/>
                </a:solidFill>
                <a:latin typeface="Calibri"/>
              </a:rPr>
              <a:t>démo, limites, suite du projet</a:t>
            </a:r>
          </a:p>
        </p:txBody>
      </p:sp>
    </p:spTree>
    <p:extLst>
      <p:ext uri="{BB962C8B-B14F-4D97-AF65-F5344CB8AC3E}">
        <p14:creationId xmlns:p14="http://schemas.microsoft.com/office/powerpoint/2010/main" val="1251110875"/>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7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ÉTAT DE L'ART</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Quatre notions structurent la solution</a:t>
            </a:r>
          </a:p>
        </p:txBody>
      </p:sp>
      <p:pic>
        <p:nvPicPr>
          <p:cNvPr id="10" name="Picture 9" descr="notions_cles.png"/>
          <p:cNvPicPr>
            <a:picLocks noChangeAspect="1"/>
          </p:cNvPicPr>
          <p:nvPr/>
        </p:nvPicPr>
        <p:blipFill>
          <a:blip r:embed="rId7"/>
          <a:stretch>
            <a:fillRect/>
          </a:stretch>
        </p:blipFill>
        <p:spPr>
          <a:xfrm>
            <a:off x="2965021" y="1417320"/>
            <a:ext cx="6261652" cy="4800600"/>
          </a:xfrm>
          <a:prstGeom prst="rect">
            <a:avLst/>
          </a:prstGeom>
        </p:spPr>
      </p:pic>
    </p:spTree>
    <p:extLst>
      <p:ext uri="{BB962C8B-B14F-4D97-AF65-F5344CB8AC3E}">
        <p14:creationId xmlns:p14="http://schemas.microsoft.com/office/powerpoint/2010/main" val="89978414"/>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8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ÉTAT DE L'ART</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Aucune solution du marché ne coche les six critères</a:t>
            </a:r>
          </a:p>
        </p:txBody>
      </p:sp>
      <p:graphicFrame>
        <p:nvGraphicFramePr>
          <p:cNvPr id="10" name="Table 9"/>
          <p:cNvGraphicFramePr>
            <a:graphicFrameLocks noGrp="1"/>
          </p:cNvGraphicFramePr>
          <p:nvPr/>
        </p:nvGraphicFramePr>
        <p:xfrm>
          <a:off x="548640" y="1508760"/>
          <a:ext cx="11094410" cy="356616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1101590">
                  <a:extLst>
                    <a:ext uri="{9D8B030D-6E8A-4147-A177-3AD203B41FA5}">
                      <a16:colId xmlns:a16="http://schemas.microsoft.com/office/drawing/2014/main" val="20001"/>
                    </a:ext>
                  </a:extLst>
                </a:gridCol>
                <a:gridCol w="1101590">
                  <a:extLst>
                    <a:ext uri="{9D8B030D-6E8A-4147-A177-3AD203B41FA5}">
                      <a16:colId xmlns:a16="http://schemas.microsoft.com/office/drawing/2014/main" val="20002"/>
                    </a:ext>
                  </a:extLst>
                </a:gridCol>
                <a:gridCol w="1101590">
                  <a:extLst>
                    <a:ext uri="{9D8B030D-6E8A-4147-A177-3AD203B41FA5}">
                      <a16:colId xmlns:a16="http://schemas.microsoft.com/office/drawing/2014/main" val="20003"/>
                    </a:ext>
                  </a:extLst>
                </a:gridCol>
                <a:gridCol w="1101590">
                  <a:extLst>
                    <a:ext uri="{9D8B030D-6E8A-4147-A177-3AD203B41FA5}">
                      <a16:colId xmlns:a16="http://schemas.microsoft.com/office/drawing/2014/main" val="20004"/>
                    </a:ext>
                  </a:extLst>
                </a:gridCol>
                <a:gridCol w="1101590">
                  <a:extLst>
                    <a:ext uri="{9D8B030D-6E8A-4147-A177-3AD203B41FA5}">
                      <a16:colId xmlns:a16="http://schemas.microsoft.com/office/drawing/2014/main" val="20005"/>
                    </a:ext>
                  </a:extLst>
                </a:gridCol>
                <a:gridCol w="1101590">
                  <a:extLst>
                    <a:ext uri="{9D8B030D-6E8A-4147-A177-3AD203B41FA5}">
                      <a16:colId xmlns:a16="http://schemas.microsoft.com/office/drawing/2014/main" val="20006"/>
                    </a:ext>
                  </a:extLst>
                </a:gridCol>
                <a:gridCol w="1101590">
                  <a:extLst>
                    <a:ext uri="{9D8B030D-6E8A-4147-A177-3AD203B41FA5}">
                      <a16:colId xmlns:a16="http://schemas.microsoft.com/office/drawing/2014/main" val="20007"/>
                    </a:ext>
                  </a:extLst>
                </a:gridCol>
              </a:tblGrid>
              <a:tr h="509451">
                <a:tc>
                  <a:txBody>
                    <a:bodyPr/>
                    <a:lstStyle/>
                    <a:p>
                      <a:pPr algn="l"/>
                      <a:r>
                        <a:rPr sz="1500" b="1" i="0">
                          <a:solidFill>
                            <a:srgbClr val="FFFFFF"/>
                          </a:solidFill>
                          <a:latin typeface="Calibri"/>
                        </a:rPr>
                        <a:t>Critère</a:t>
                      </a:r>
                    </a:p>
                  </a:txBody>
                  <a:tcPr anchor="ctr">
                    <a:solidFill>
                      <a:srgbClr val="1F3864"/>
                    </a:solidFill>
                  </a:tcPr>
                </a:tc>
                <a:tc>
                  <a:txBody>
                    <a:bodyPr/>
                    <a:lstStyle/>
                    <a:p>
                      <a:pPr algn="ctr"/>
                      <a:r>
                        <a:rPr sz="1500" b="1" i="0">
                          <a:solidFill>
                            <a:srgbClr val="FFFFFF"/>
                          </a:solidFill>
                          <a:latin typeface="Calibri"/>
                        </a:rPr>
                        <a:t>EMPI</a:t>
                      </a:r>
                    </a:p>
                  </a:txBody>
                  <a:tcPr anchor="ctr">
                    <a:solidFill>
                      <a:srgbClr val="1F3864"/>
                    </a:solidFill>
                  </a:tcPr>
                </a:tc>
                <a:tc>
                  <a:txBody>
                    <a:bodyPr/>
                    <a:lstStyle/>
                    <a:p>
                      <a:pPr algn="ctr"/>
                      <a:r>
                        <a:rPr sz="1500" b="1" i="0">
                          <a:solidFill>
                            <a:srgbClr val="FFFFFF"/>
                          </a:solidFill>
                          <a:latin typeface="Calibri"/>
                        </a:rPr>
                        <a:t>Talend</a:t>
                      </a:r>
                    </a:p>
                  </a:txBody>
                  <a:tcPr anchor="ctr">
                    <a:solidFill>
                      <a:srgbClr val="1F3864"/>
                    </a:solidFill>
                  </a:tcPr>
                </a:tc>
                <a:tc>
                  <a:txBody>
                    <a:bodyPr/>
                    <a:lstStyle/>
                    <a:p>
                      <a:pPr algn="ctr"/>
                      <a:r>
                        <a:rPr sz="1500" b="1" i="0">
                          <a:solidFill>
                            <a:srgbClr val="FFFFFF"/>
                          </a:solidFill>
                          <a:latin typeface="Calibri"/>
                        </a:rPr>
                        <a:t>Azure</a:t>
                      </a:r>
                    </a:p>
                  </a:txBody>
                  <a:tcPr anchor="ctr">
                    <a:solidFill>
                      <a:srgbClr val="1F3864"/>
                    </a:solidFill>
                  </a:tcPr>
                </a:tc>
                <a:tc>
                  <a:txBody>
                    <a:bodyPr/>
                    <a:lstStyle/>
                    <a:p>
                      <a:pPr algn="ctr"/>
                      <a:r>
                        <a:rPr sz="1500" b="1" i="0">
                          <a:solidFill>
                            <a:srgbClr val="FFFFFF"/>
                          </a:solidFill>
                          <a:latin typeface="Calibri"/>
                        </a:rPr>
                        <a:t>HAPI</a:t>
                      </a:r>
                    </a:p>
                  </a:txBody>
                  <a:tcPr anchor="ctr">
                    <a:solidFill>
                      <a:srgbClr val="1F3864"/>
                    </a:solidFill>
                  </a:tcPr>
                </a:tc>
                <a:tc>
                  <a:txBody>
                    <a:bodyPr/>
                    <a:lstStyle/>
                    <a:p>
                      <a:pPr algn="ctr"/>
                      <a:r>
                        <a:rPr sz="1500" b="1" i="0">
                          <a:solidFill>
                            <a:srgbClr val="FFFFFF"/>
                          </a:solidFill>
                          <a:latin typeface="Calibri"/>
                        </a:rPr>
                        <a:t>Splink</a:t>
                      </a:r>
                    </a:p>
                  </a:txBody>
                  <a:tcPr anchor="ctr">
                    <a:solidFill>
                      <a:srgbClr val="1F3864"/>
                    </a:solidFill>
                  </a:tcPr>
                </a:tc>
                <a:tc>
                  <a:txBody>
                    <a:bodyPr/>
                    <a:lstStyle/>
                    <a:p>
                      <a:pPr algn="ctr"/>
                      <a:r>
                        <a:rPr sz="1500" b="1" i="0">
                          <a:solidFill>
                            <a:srgbClr val="FFFFFF"/>
                          </a:solidFill>
                          <a:latin typeface="Calibri"/>
                        </a:rPr>
                        <a:t>Atlas</a:t>
                      </a:r>
                    </a:p>
                  </a:txBody>
                  <a:tcPr anchor="ctr">
                    <a:solidFill>
                      <a:srgbClr val="1F3864"/>
                    </a:solidFill>
                  </a:tcPr>
                </a:tc>
                <a:tc>
                  <a:txBody>
                    <a:bodyPr/>
                    <a:lstStyle/>
                    <a:p>
                      <a:pPr algn="ctr"/>
                      <a:r>
                        <a:rPr sz="1500" b="1" i="0">
                          <a:solidFill>
                            <a:srgbClr val="FFFFFF"/>
                          </a:solidFill>
                          <a:latin typeface="Calibri"/>
                        </a:rPr>
                        <a:t>Stage</a:t>
                      </a:r>
                    </a:p>
                  </a:txBody>
                  <a:tcPr anchor="ctr">
                    <a:solidFill>
                      <a:srgbClr val="C78400"/>
                    </a:solidFill>
                  </a:tcPr>
                </a:tc>
                <a:extLst>
                  <a:ext uri="{0D108BD9-81ED-4DB2-BD59-A6C34878D82A}">
                    <a16:rowId xmlns:a16="http://schemas.microsoft.com/office/drawing/2014/main" val="10000"/>
                  </a:ext>
                </a:extLst>
              </a:tr>
              <a:tr h="509451">
                <a:tc>
                  <a:txBody>
                    <a:bodyPr/>
                    <a:lstStyle/>
                    <a:p>
                      <a:pPr algn="l"/>
                      <a:r>
                        <a:rPr sz="1500" b="1" i="0">
                          <a:solidFill>
                            <a:srgbClr val="1D2433"/>
                          </a:solidFill>
                          <a:latin typeface="Calibri"/>
                        </a:rPr>
                        <a:t>Déduplication explicable</a:t>
                      </a:r>
                    </a:p>
                  </a:txBody>
                  <a:tcPr anchor="ctr">
                    <a:solidFill>
                      <a:srgbClr val="F1F4F9"/>
                    </a:solidFill>
                  </a:tcPr>
                </a:tc>
                <a:tc>
                  <a:txBody>
                    <a:bodyPr/>
                    <a:lstStyle/>
                    <a:p>
                      <a:pPr algn="ctr"/>
                      <a:r>
                        <a:rPr sz="2000" b="1" i="0">
                          <a:solidFill>
                            <a:srgbClr val="2E7D4F"/>
                          </a:solidFill>
                          <a:latin typeface="Calibri"/>
                        </a:rPr>
                        <a:t>✔</a:t>
                      </a:r>
                    </a:p>
                  </a:txBody>
                  <a:tcPr anchor="ctr">
                    <a:solidFill>
                      <a:srgbClr val="F1F4F9"/>
                    </a:solidFill>
                  </a:tcPr>
                </a:tc>
                <a:tc>
                  <a:txBody>
                    <a:bodyPr/>
                    <a:lstStyle/>
                    <a:p>
                      <a:pPr algn="ctr"/>
                      <a:r>
                        <a:rPr sz="2000" b="1" i="0">
                          <a:solidFill>
                            <a:srgbClr val="2E7D4F"/>
                          </a:solidFill>
                          <a:latin typeface="Calibri"/>
                        </a:rPr>
                        <a:t>✔</a:t>
                      </a:r>
                    </a:p>
                  </a:txBody>
                  <a:tcPr anchor="ctr">
                    <a:solidFill>
                      <a:srgbClr val="F1F4F9"/>
                    </a:solidFill>
                  </a:tcPr>
                </a:tc>
                <a:tc>
                  <a:txBody>
                    <a:bodyPr/>
                    <a:lstStyle/>
                    <a:p>
                      <a:pPr algn="ctr"/>
                      <a:r>
                        <a:rPr sz="2000" b="1" i="0">
                          <a:solidFill>
                            <a:srgbClr val="B3261E"/>
                          </a:solidFill>
                          <a:latin typeface="Calibri"/>
                        </a:rPr>
                        <a:t>✖</a:t>
                      </a:r>
                    </a:p>
                  </a:txBody>
                  <a:tcPr anchor="ctr">
                    <a:solidFill>
                      <a:srgbClr val="F1F4F9"/>
                    </a:solidFill>
                  </a:tcPr>
                </a:tc>
                <a:tc>
                  <a:txBody>
                    <a:bodyPr/>
                    <a:lstStyle/>
                    <a:p>
                      <a:pPr algn="ctr"/>
                      <a:r>
                        <a:rPr sz="2000" b="1" i="0">
                          <a:solidFill>
                            <a:srgbClr val="B3261E"/>
                          </a:solidFill>
                          <a:latin typeface="Calibri"/>
                        </a:rPr>
                        <a:t>✖</a:t>
                      </a:r>
                    </a:p>
                  </a:txBody>
                  <a:tcPr anchor="ctr">
                    <a:solidFill>
                      <a:srgbClr val="F1F4F9"/>
                    </a:solidFill>
                  </a:tcPr>
                </a:tc>
                <a:tc>
                  <a:txBody>
                    <a:bodyPr/>
                    <a:lstStyle/>
                    <a:p>
                      <a:pPr algn="ctr"/>
                      <a:r>
                        <a:rPr sz="2000" b="1" i="0">
                          <a:solidFill>
                            <a:srgbClr val="C78400"/>
                          </a:solidFill>
                          <a:latin typeface="Calibri"/>
                        </a:rPr>
                        <a:t>◐</a:t>
                      </a:r>
                    </a:p>
                  </a:txBody>
                  <a:tcPr anchor="ctr">
                    <a:solidFill>
                      <a:srgbClr val="F1F4F9"/>
                    </a:solidFill>
                  </a:tcPr>
                </a:tc>
                <a:tc>
                  <a:txBody>
                    <a:bodyPr/>
                    <a:lstStyle/>
                    <a:p>
                      <a:pPr algn="ctr"/>
                      <a:r>
                        <a:rPr sz="2000" b="1" i="0">
                          <a:solidFill>
                            <a:srgbClr val="B3261E"/>
                          </a:solidFill>
                          <a:latin typeface="Calibri"/>
                        </a:rPr>
                        <a:t>✖</a:t>
                      </a:r>
                    </a:p>
                  </a:txBody>
                  <a:tcPr anchor="ctr">
                    <a:solidFill>
                      <a:srgbClr val="F1F4F9"/>
                    </a:solidFill>
                  </a:tcPr>
                </a:tc>
                <a:tc>
                  <a:txBody>
                    <a:bodyPr/>
                    <a:lstStyle/>
                    <a:p>
                      <a:pPr algn="ctr"/>
                      <a:r>
                        <a:rPr sz="2000" b="1" i="0">
                          <a:solidFill>
                            <a:srgbClr val="2E7D4F"/>
                          </a:solidFill>
                          <a:latin typeface="Calibri"/>
                        </a:rPr>
                        <a:t>✔</a:t>
                      </a:r>
                    </a:p>
                  </a:txBody>
                  <a:tcPr anchor="ctr">
                    <a:solidFill>
                      <a:srgbClr val="FBF1DC"/>
                    </a:solidFill>
                  </a:tcPr>
                </a:tc>
                <a:extLst>
                  <a:ext uri="{0D108BD9-81ED-4DB2-BD59-A6C34878D82A}">
                    <a16:rowId xmlns:a16="http://schemas.microsoft.com/office/drawing/2014/main" val="10001"/>
                  </a:ext>
                </a:extLst>
              </a:tr>
              <a:tr h="509451">
                <a:tc>
                  <a:txBody>
                    <a:bodyPr/>
                    <a:lstStyle/>
                    <a:p>
                      <a:pPr algn="l"/>
                      <a:r>
                        <a:rPr sz="1500" b="1" i="0">
                          <a:solidFill>
                            <a:srgbClr val="1D2433"/>
                          </a:solidFill>
                          <a:latin typeface="Calibri"/>
                        </a:rPr>
                        <a:t>Interopérabilité FHIR</a:t>
                      </a:r>
                    </a:p>
                  </a:txBody>
                  <a:tcPr anchor="ctr">
                    <a:solidFill>
                      <a:srgbClr val="FFFFFF"/>
                    </a:solidFill>
                  </a:tcPr>
                </a:tc>
                <a:tc>
                  <a:txBody>
                    <a:bodyPr/>
                    <a:lstStyle/>
                    <a:p>
                      <a:pPr algn="ctr"/>
                      <a:r>
                        <a:rPr sz="2000" b="1" i="0">
                          <a:solidFill>
                            <a:srgbClr val="C78400"/>
                          </a:solidFill>
                          <a:latin typeface="Calibri"/>
                        </a:rPr>
                        <a:t>◐</a:t>
                      </a:r>
                    </a:p>
                  </a:txBody>
                  <a:tcPr anchor="ctr">
                    <a:solidFill>
                      <a:srgbClr val="FFFFFF"/>
                    </a:solidFill>
                  </a:tcPr>
                </a:tc>
                <a:tc>
                  <a:txBody>
                    <a:bodyPr/>
                    <a:lstStyle/>
                    <a:p>
                      <a:pPr algn="ctr"/>
                      <a:r>
                        <a:rPr sz="2000" b="1" i="0">
                          <a:solidFill>
                            <a:srgbClr val="B3261E"/>
                          </a:solidFill>
                          <a:latin typeface="Calibri"/>
                        </a:rPr>
                        <a:t>✖</a:t>
                      </a:r>
                    </a:p>
                  </a:txBody>
                  <a:tcPr anchor="ctr">
                    <a:solidFill>
                      <a:srgbClr val="FFFFFF"/>
                    </a:solidFill>
                  </a:tcPr>
                </a:tc>
                <a:tc>
                  <a:txBody>
                    <a:bodyPr/>
                    <a:lstStyle/>
                    <a:p>
                      <a:pPr algn="ctr"/>
                      <a:r>
                        <a:rPr sz="2000" b="1" i="0">
                          <a:solidFill>
                            <a:srgbClr val="2E7D4F"/>
                          </a:solidFill>
                          <a:latin typeface="Calibri"/>
                        </a:rPr>
                        <a:t>✔</a:t>
                      </a:r>
                    </a:p>
                  </a:txBody>
                  <a:tcPr anchor="ctr">
                    <a:solidFill>
                      <a:srgbClr val="FFFFFF"/>
                    </a:solidFill>
                  </a:tcPr>
                </a:tc>
                <a:tc>
                  <a:txBody>
                    <a:bodyPr/>
                    <a:lstStyle/>
                    <a:p>
                      <a:pPr algn="ctr"/>
                      <a:r>
                        <a:rPr sz="2000" b="1" i="0">
                          <a:solidFill>
                            <a:srgbClr val="2E7D4F"/>
                          </a:solidFill>
                          <a:latin typeface="Calibri"/>
                        </a:rPr>
                        <a:t>✔</a:t>
                      </a:r>
                    </a:p>
                  </a:txBody>
                  <a:tcPr anchor="ctr">
                    <a:solidFill>
                      <a:srgbClr val="FFFFFF"/>
                    </a:solidFill>
                  </a:tcPr>
                </a:tc>
                <a:tc>
                  <a:txBody>
                    <a:bodyPr/>
                    <a:lstStyle/>
                    <a:p>
                      <a:pPr algn="ctr"/>
                      <a:r>
                        <a:rPr sz="2000" b="1" i="0">
                          <a:solidFill>
                            <a:srgbClr val="B3261E"/>
                          </a:solidFill>
                          <a:latin typeface="Calibri"/>
                        </a:rPr>
                        <a:t>✖</a:t>
                      </a:r>
                    </a:p>
                  </a:txBody>
                  <a:tcPr anchor="ctr">
                    <a:solidFill>
                      <a:srgbClr val="FFFFFF"/>
                    </a:solidFill>
                  </a:tcPr>
                </a:tc>
                <a:tc>
                  <a:txBody>
                    <a:bodyPr/>
                    <a:lstStyle/>
                    <a:p>
                      <a:pPr algn="ctr"/>
                      <a:r>
                        <a:rPr sz="2000" b="1" i="0">
                          <a:solidFill>
                            <a:srgbClr val="B3261E"/>
                          </a:solidFill>
                          <a:latin typeface="Calibri"/>
                        </a:rPr>
                        <a:t>✖</a:t>
                      </a:r>
                    </a:p>
                  </a:txBody>
                  <a:tcPr anchor="ctr">
                    <a:solidFill>
                      <a:srgbClr val="FFFFFF"/>
                    </a:solidFill>
                  </a:tcPr>
                </a:tc>
                <a:tc>
                  <a:txBody>
                    <a:bodyPr/>
                    <a:lstStyle/>
                    <a:p>
                      <a:pPr algn="ctr"/>
                      <a:r>
                        <a:rPr sz="2000" b="1" i="0">
                          <a:solidFill>
                            <a:srgbClr val="2E7D4F"/>
                          </a:solidFill>
                          <a:latin typeface="Calibri"/>
                        </a:rPr>
                        <a:t>✔</a:t>
                      </a:r>
                    </a:p>
                  </a:txBody>
                  <a:tcPr anchor="ctr">
                    <a:solidFill>
                      <a:srgbClr val="FBF1DC"/>
                    </a:solidFill>
                  </a:tcPr>
                </a:tc>
                <a:extLst>
                  <a:ext uri="{0D108BD9-81ED-4DB2-BD59-A6C34878D82A}">
                    <a16:rowId xmlns:a16="http://schemas.microsoft.com/office/drawing/2014/main" val="10002"/>
                  </a:ext>
                </a:extLst>
              </a:tr>
              <a:tr h="509451">
                <a:tc>
                  <a:txBody>
                    <a:bodyPr/>
                    <a:lstStyle/>
                    <a:p>
                      <a:pPr algn="l"/>
                      <a:r>
                        <a:rPr sz="1500" b="1" i="0">
                          <a:solidFill>
                            <a:srgbClr val="1D2433"/>
                          </a:solidFill>
                          <a:latin typeface="Calibri"/>
                        </a:rPr>
                        <a:t>Rôle, consentement, audit</a:t>
                      </a:r>
                    </a:p>
                  </a:txBody>
                  <a:tcPr anchor="ctr">
                    <a:solidFill>
                      <a:srgbClr val="F1F4F9"/>
                    </a:solidFill>
                  </a:tcPr>
                </a:tc>
                <a:tc>
                  <a:txBody>
                    <a:bodyPr/>
                    <a:lstStyle/>
                    <a:p>
                      <a:pPr algn="ctr"/>
                      <a:r>
                        <a:rPr sz="2000" b="1" i="0">
                          <a:solidFill>
                            <a:srgbClr val="C78400"/>
                          </a:solidFill>
                          <a:latin typeface="Calibri"/>
                        </a:rPr>
                        <a:t>◐</a:t>
                      </a:r>
                    </a:p>
                  </a:txBody>
                  <a:tcPr anchor="ctr">
                    <a:solidFill>
                      <a:srgbClr val="F1F4F9"/>
                    </a:solidFill>
                  </a:tcPr>
                </a:tc>
                <a:tc>
                  <a:txBody>
                    <a:bodyPr/>
                    <a:lstStyle/>
                    <a:p>
                      <a:pPr algn="ctr"/>
                      <a:r>
                        <a:rPr sz="2000" b="1" i="0">
                          <a:solidFill>
                            <a:srgbClr val="C78400"/>
                          </a:solidFill>
                          <a:latin typeface="Calibri"/>
                        </a:rPr>
                        <a:t>◐</a:t>
                      </a:r>
                    </a:p>
                  </a:txBody>
                  <a:tcPr anchor="ctr">
                    <a:solidFill>
                      <a:srgbClr val="F1F4F9"/>
                    </a:solidFill>
                  </a:tcPr>
                </a:tc>
                <a:tc>
                  <a:txBody>
                    <a:bodyPr/>
                    <a:lstStyle/>
                    <a:p>
                      <a:pPr algn="ctr"/>
                      <a:r>
                        <a:rPr sz="2000" b="1" i="0">
                          <a:solidFill>
                            <a:srgbClr val="2E7D4F"/>
                          </a:solidFill>
                          <a:latin typeface="Calibri"/>
                        </a:rPr>
                        <a:t>✔</a:t>
                      </a:r>
                    </a:p>
                  </a:txBody>
                  <a:tcPr anchor="ctr">
                    <a:solidFill>
                      <a:srgbClr val="F1F4F9"/>
                    </a:solidFill>
                  </a:tcPr>
                </a:tc>
                <a:tc>
                  <a:txBody>
                    <a:bodyPr/>
                    <a:lstStyle/>
                    <a:p>
                      <a:pPr algn="ctr"/>
                      <a:r>
                        <a:rPr sz="2000" b="1" i="0">
                          <a:solidFill>
                            <a:srgbClr val="B3261E"/>
                          </a:solidFill>
                          <a:latin typeface="Calibri"/>
                        </a:rPr>
                        <a:t>✖</a:t>
                      </a:r>
                    </a:p>
                  </a:txBody>
                  <a:tcPr anchor="ctr">
                    <a:solidFill>
                      <a:srgbClr val="F1F4F9"/>
                    </a:solidFill>
                  </a:tcPr>
                </a:tc>
                <a:tc>
                  <a:txBody>
                    <a:bodyPr/>
                    <a:lstStyle/>
                    <a:p>
                      <a:pPr algn="ctr"/>
                      <a:r>
                        <a:rPr sz="2000" b="1" i="0">
                          <a:solidFill>
                            <a:srgbClr val="B3261E"/>
                          </a:solidFill>
                          <a:latin typeface="Calibri"/>
                        </a:rPr>
                        <a:t>✖</a:t>
                      </a:r>
                    </a:p>
                  </a:txBody>
                  <a:tcPr anchor="ctr">
                    <a:solidFill>
                      <a:srgbClr val="F1F4F9"/>
                    </a:solidFill>
                  </a:tcPr>
                </a:tc>
                <a:tc>
                  <a:txBody>
                    <a:bodyPr/>
                    <a:lstStyle/>
                    <a:p>
                      <a:pPr algn="ctr"/>
                      <a:r>
                        <a:rPr sz="2000" b="1" i="0">
                          <a:solidFill>
                            <a:srgbClr val="C78400"/>
                          </a:solidFill>
                          <a:latin typeface="Calibri"/>
                        </a:rPr>
                        <a:t>◐</a:t>
                      </a:r>
                    </a:p>
                  </a:txBody>
                  <a:tcPr anchor="ctr">
                    <a:solidFill>
                      <a:srgbClr val="F1F4F9"/>
                    </a:solidFill>
                  </a:tcPr>
                </a:tc>
                <a:tc>
                  <a:txBody>
                    <a:bodyPr/>
                    <a:lstStyle/>
                    <a:p>
                      <a:pPr algn="ctr"/>
                      <a:r>
                        <a:rPr sz="2000" b="1" i="0">
                          <a:solidFill>
                            <a:srgbClr val="2E7D4F"/>
                          </a:solidFill>
                          <a:latin typeface="Calibri"/>
                        </a:rPr>
                        <a:t>✔</a:t>
                      </a:r>
                    </a:p>
                  </a:txBody>
                  <a:tcPr anchor="ctr">
                    <a:solidFill>
                      <a:srgbClr val="FBF1DC"/>
                    </a:solidFill>
                  </a:tcPr>
                </a:tc>
                <a:extLst>
                  <a:ext uri="{0D108BD9-81ED-4DB2-BD59-A6C34878D82A}">
                    <a16:rowId xmlns:a16="http://schemas.microsoft.com/office/drawing/2014/main" val="10003"/>
                  </a:ext>
                </a:extLst>
              </a:tr>
              <a:tr h="509451">
                <a:tc>
                  <a:txBody>
                    <a:bodyPr/>
                    <a:lstStyle/>
                    <a:p>
                      <a:pPr algn="l"/>
                      <a:r>
                        <a:rPr sz="1500" b="1" i="0">
                          <a:solidFill>
                            <a:srgbClr val="1D2433"/>
                          </a:solidFill>
                          <a:latin typeface="Calibri"/>
                        </a:rPr>
                        <a:t>Montée en charge Big Data</a:t>
                      </a:r>
                    </a:p>
                  </a:txBody>
                  <a:tcPr anchor="ctr">
                    <a:solidFill>
                      <a:srgbClr val="FFFFFF"/>
                    </a:solidFill>
                  </a:tcPr>
                </a:tc>
                <a:tc>
                  <a:txBody>
                    <a:bodyPr/>
                    <a:lstStyle/>
                    <a:p>
                      <a:pPr algn="ctr"/>
                      <a:r>
                        <a:rPr sz="2000" b="1" i="0">
                          <a:solidFill>
                            <a:srgbClr val="C78400"/>
                          </a:solidFill>
                          <a:latin typeface="Calibri"/>
                        </a:rPr>
                        <a:t>◐</a:t>
                      </a:r>
                    </a:p>
                  </a:txBody>
                  <a:tcPr anchor="ctr">
                    <a:solidFill>
                      <a:srgbClr val="FFFFFF"/>
                    </a:solidFill>
                  </a:tcPr>
                </a:tc>
                <a:tc>
                  <a:txBody>
                    <a:bodyPr/>
                    <a:lstStyle/>
                    <a:p>
                      <a:pPr algn="ctr"/>
                      <a:r>
                        <a:rPr sz="2000" b="1" i="0">
                          <a:solidFill>
                            <a:srgbClr val="2E7D4F"/>
                          </a:solidFill>
                          <a:latin typeface="Calibri"/>
                        </a:rPr>
                        <a:t>✔</a:t>
                      </a:r>
                    </a:p>
                  </a:txBody>
                  <a:tcPr anchor="ctr">
                    <a:solidFill>
                      <a:srgbClr val="FFFFFF"/>
                    </a:solidFill>
                  </a:tcPr>
                </a:tc>
                <a:tc>
                  <a:txBody>
                    <a:bodyPr/>
                    <a:lstStyle/>
                    <a:p>
                      <a:pPr algn="ctr"/>
                      <a:r>
                        <a:rPr sz="2000" b="1" i="0">
                          <a:solidFill>
                            <a:srgbClr val="2E7D4F"/>
                          </a:solidFill>
                          <a:latin typeface="Calibri"/>
                        </a:rPr>
                        <a:t>✔</a:t>
                      </a:r>
                    </a:p>
                  </a:txBody>
                  <a:tcPr anchor="ctr">
                    <a:solidFill>
                      <a:srgbClr val="FFFFFF"/>
                    </a:solidFill>
                  </a:tcPr>
                </a:tc>
                <a:tc>
                  <a:txBody>
                    <a:bodyPr/>
                    <a:lstStyle/>
                    <a:p>
                      <a:pPr algn="ctr"/>
                      <a:r>
                        <a:rPr sz="2000" b="1" i="0">
                          <a:solidFill>
                            <a:srgbClr val="B3261E"/>
                          </a:solidFill>
                          <a:latin typeface="Calibri"/>
                        </a:rPr>
                        <a:t>✖</a:t>
                      </a:r>
                    </a:p>
                  </a:txBody>
                  <a:tcPr anchor="ctr">
                    <a:solidFill>
                      <a:srgbClr val="FFFFFF"/>
                    </a:solidFill>
                  </a:tcPr>
                </a:tc>
                <a:tc>
                  <a:txBody>
                    <a:bodyPr/>
                    <a:lstStyle/>
                    <a:p>
                      <a:pPr algn="ctr"/>
                      <a:r>
                        <a:rPr sz="2000" b="1" i="0">
                          <a:solidFill>
                            <a:srgbClr val="2E7D4F"/>
                          </a:solidFill>
                          <a:latin typeface="Calibri"/>
                        </a:rPr>
                        <a:t>✔</a:t>
                      </a:r>
                    </a:p>
                  </a:txBody>
                  <a:tcPr anchor="ctr">
                    <a:solidFill>
                      <a:srgbClr val="FFFFFF"/>
                    </a:solidFill>
                  </a:tcPr>
                </a:tc>
                <a:tc>
                  <a:txBody>
                    <a:bodyPr/>
                    <a:lstStyle/>
                    <a:p>
                      <a:pPr algn="ctr"/>
                      <a:r>
                        <a:rPr sz="2000" b="1" i="0">
                          <a:solidFill>
                            <a:srgbClr val="2E7D4F"/>
                          </a:solidFill>
                          <a:latin typeface="Calibri"/>
                        </a:rPr>
                        <a:t>✔</a:t>
                      </a:r>
                    </a:p>
                  </a:txBody>
                  <a:tcPr anchor="ctr">
                    <a:solidFill>
                      <a:srgbClr val="FFFFFF"/>
                    </a:solidFill>
                  </a:tcPr>
                </a:tc>
                <a:tc>
                  <a:txBody>
                    <a:bodyPr/>
                    <a:lstStyle/>
                    <a:p>
                      <a:pPr algn="ctr"/>
                      <a:r>
                        <a:rPr sz="2000" b="1" i="0">
                          <a:solidFill>
                            <a:srgbClr val="2E7D4F"/>
                          </a:solidFill>
                          <a:latin typeface="Calibri"/>
                        </a:rPr>
                        <a:t>✔</a:t>
                      </a:r>
                    </a:p>
                  </a:txBody>
                  <a:tcPr anchor="ctr">
                    <a:solidFill>
                      <a:srgbClr val="FBF1DC"/>
                    </a:solidFill>
                  </a:tcPr>
                </a:tc>
                <a:extLst>
                  <a:ext uri="{0D108BD9-81ED-4DB2-BD59-A6C34878D82A}">
                    <a16:rowId xmlns:a16="http://schemas.microsoft.com/office/drawing/2014/main" val="10004"/>
                  </a:ext>
                </a:extLst>
              </a:tr>
              <a:tr h="509451">
                <a:tc>
                  <a:txBody>
                    <a:bodyPr/>
                    <a:lstStyle/>
                    <a:p>
                      <a:pPr algn="l"/>
                      <a:r>
                        <a:rPr sz="1500" b="1" i="0">
                          <a:solidFill>
                            <a:srgbClr val="1D2433"/>
                          </a:solidFill>
                          <a:latin typeface="Calibri"/>
                        </a:rPr>
                        <a:t>Hébergement interne</a:t>
                      </a:r>
                    </a:p>
                  </a:txBody>
                  <a:tcPr anchor="ctr">
                    <a:solidFill>
                      <a:srgbClr val="F1F4F9"/>
                    </a:solidFill>
                  </a:tcPr>
                </a:tc>
                <a:tc>
                  <a:txBody>
                    <a:bodyPr/>
                    <a:lstStyle/>
                    <a:p>
                      <a:pPr algn="ctr"/>
                      <a:r>
                        <a:rPr sz="2000" b="1" i="0">
                          <a:solidFill>
                            <a:srgbClr val="2E7D4F"/>
                          </a:solidFill>
                          <a:latin typeface="Calibri"/>
                        </a:rPr>
                        <a:t>✔</a:t>
                      </a:r>
                    </a:p>
                  </a:txBody>
                  <a:tcPr anchor="ctr">
                    <a:solidFill>
                      <a:srgbClr val="F1F4F9"/>
                    </a:solidFill>
                  </a:tcPr>
                </a:tc>
                <a:tc>
                  <a:txBody>
                    <a:bodyPr/>
                    <a:lstStyle/>
                    <a:p>
                      <a:pPr algn="ctr"/>
                      <a:r>
                        <a:rPr sz="2000" b="1" i="0">
                          <a:solidFill>
                            <a:srgbClr val="2E7D4F"/>
                          </a:solidFill>
                          <a:latin typeface="Calibri"/>
                        </a:rPr>
                        <a:t>✔</a:t>
                      </a:r>
                    </a:p>
                  </a:txBody>
                  <a:tcPr anchor="ctr">
                    <a:solidFill>
                      <a:srgbClr val="F1F4F9"/>
                    </a:solidFill>
                  </a:tcPr>
                </a:tc>
                <a:tc>
                  <a:txBody>
                    <a:bodyPr/>
                    <a:lstStyle/>
                    <a:p>
                      <a:pPr algn="ctr"/>
                      <a:r>
                        <a:rPr sz="2000" b="1" i="0">
                          <a:solidFill>
                            <a:srgbClr val="B3261E"/>
                          </a:solidFill>
                          <a:latin typeface="Calibri"/>
                        </a:rPr>
                        <a:t>✖</a:t>
                      </a:r>
                    </a:p>
                  </a:txBody>
                  <a:tcPr anchor="ctr">
                    <a:solidFill>
                      <a:srgbClr val="F1F4F9"/>
                    </a:solidFill>
                  </a:tcPr>
                </a:tc>
                <a:tc>
                  <a:txBody>
                    <a:bodyPr/>
                    <a:lstStyle/>
                    <a:p>
                      <a:pPr algn="ctr"/>
                      <a:r>
                        <a:rPr sz="2000" b="1" i="0">
                          <a:solidFill>
                            <a:srgbClr val="2E7D4F"/>
                          </a:solidFill>
                          <a:latin typeface="Calibri"/>
                        </a:rPr>
                        <a:t>✔</a:t>
                      </a:r>
                    </a:p>
                  </a:txBody>
                  <a:tcPr anchor="ctr">
                    <a:solidFill>
                      <a:srgbClr val="F1F4F9"/>
                    </a:solidFill>
                  </a:tcPr>
                </a:tc>
                <a:tc>
                  <a:txBody>
                    <a:bodyPr/>
                    <a:lstStyle/>
                    <a:p>
                      <a:pPr algn="ctr"/>
                      <a:r>
                        <a:rPr sz="2000" b="1" i="0">
                          <a:solidFill>
                            <a:srgbClr val="2E7D4F"/>
                          </a:solidFill>
                          <a:latin typeface="Calibri"/>
                        </a:rPr>
                        <a:t>✔</a:t>
                      </a:r>
                    </a:p>
                  </a:txBody>
                  <a:tcPr anchor="ctr">
                    <a:solidFill>
                      <a:srgbClr val="F1F4F9"/>
                    </a:solidFill>
                  </a:tcPr>
                </a:tc>
                <a:tc>
                  <a:txBody>
                    <a:bodyPr/>
                    <a:lstStyle/>
                    <a:p>
                      <a:pPr algn="ctr"/>
                      <a:r>
                        <a:rPr sz="2000" b="1" i="0">
                          <a:solidFill>
                            <a:srgbClr val="2E7D4F"/>
                          </a:solidFill>
                          <a:latin typeface="Calibri"/>
                        </a:rPr>
                        <a:t>✔</a:t>
                      </a:r>
                    </a:p>
                  </a:txBody>
                  <a:tcPr anchor="ctr">
                    <a:solidFill>
                      <a:srgbClr val="F1F4F9"/>
                    </a:solidFill>
                  </a:tcPr>
                </a:tc>
                <a:tc>
                  <a:txBody>
                    <a:bodyPr/>
                    <a:lstStyle/>
                    <a:p>
                      <a:pPr algn="ctr"/>
                      <a:r>
                        <a:rPr sz="2000" b="1" i="0">
                          <a:solidFill>
                            <a:srgbClr val="2E7D4F"/>
                          </a:solidFill>
                          <a:latin typeface="Calibri"/>
                        </a:rPr>
                        <a:t>✔</a:t>
                      </a:r>
                    </a:p>
                  </a:txBody>
                  <a:tcPr anchor="ctr">
                    <a:solidFill>
                      <a:srgbClr val="FBF1DC"/>
                    </a:solidFill>
                  </a:tcPr>
                </a:tc>
                <a:extLst>
                  <a:ext uri="{0D108BD9-81ED-4DB2-BD59-A6C34878D82A}">
                    <a16:rowId xmlns:a16="http://schemas.microsoft.com/office/drawing/2014/main" val="10005"/>
                  </a:ext>
                </a:extLst>
              </a:tr>
              <a:tr h="509454">
                <a:tc>
                  <a:txBody>
                    <a:bodyPr/>
                    <a:lstStyle/>
                    <a:p>
                      <a:pPr algn="l"/>
                      <a:r>
                        <a:rPr sz="1500" b="1" i="0">
                          <a:solidFill>
                            <a:srgbClr val="1D2433"/>
                          </a:solidFill>
                          <a:latin typeface="Calibri"/>
                        </a:rPr>
                        <a:t>VM 8 Go et Python 3.8</a:t>
                      </a:r>
                    </a:p>
                  </a:txBody>
                  <a:tcPr anchor="ctr">
                    <a:solidFill>
                      <a:srgbClr val="FFFFFF"/>
                    </a:solidFill>
                  </a:tcPr>
                </a:tc>
                <a:tc>
                  <a:txBody>
                    <a:bodyPr/>
                    <a:lstStyle/>
                    <a:p>
                      <a:pPr algn="ctr"/>
                      <a:r>
                        <a:rPr sz="2000" b="1" i="0">
                          <a:solidFill>
                            <a:srgbClr val="B3261E"/>
                          </a:solidFill>
                          <a:latin typeface="Calibri"/>
                        </a:rPr>
                        <a:t>✖</a:t>
                      </a:r>
                    </a:p>
                  </a:txBody>
                  <a:tcPr anchor="ctr">
                    <a:solidFill>
                      <a:srgbClr val="FFFFFF"/>
                    </a:solidFill>
                  </a:tcPr>
                </a:tc>
                <a:tc>
                  <a:txBody>
                    <a:bodyPr/>
                    <a:lstStyle/>
                    <a:p>
                      <a:pPr algn="ctr"/>
                      <a:r>
                        <a:rPr sz="2000" b="1" i="0">
                          <a:solidFill>
                            <a:srgbClr val="B3261E"/>
                          </a:solidFill>
                          <a:latin typeface="Calibri"/>
                        </a:rPr>
                        <a:t>✖</a:t>
                      </a:r>
                    </a:p>
                  </a:txBody>
                  <a:tcPr anchor="ctr">
                    <a:solidFill>
                      <a:srgbClr val="FFFFFF"/>
                    </a:solidFill>
                  </a:tcPr>
                </a:tc>
                <a:tc>
                  <a:txBody>
                    <a:bodyPr/>
                    <a:lstStyle/>
                    <a:p>
                      <a:pPr algn="ctr"/>
                      <a:r>
                        <a:rPr sz="2000" b="1" i="0">
                          <a:solidFill>
                            <a:srgbClr val="B3261E"/>
                          </a:solidFill>
                          <a:latin typeface="Calibri"/>
                        </a:rPr>
                        <a:t>✖</a:t>
                      </a:r>
                    </a:p>
                  </a:txBody>
                  <a:tcPr anchor="ctr">
                    <a:solidFill>
                      <a:srgbClr val="FFFFFF"/>
                    </a:solidFill>
                  </a:tcPr>
                </a:tc>
                <a:tc>
                  <a:txBody>
                    <a:bodyPr/>
                    <a:lstStyle/>
                    <a:p>
                      <a:pPr algn="ctr"/>
                      <a:r>
                        <a:rPr sz="2000" b="1" i="0">
                          <a:solidFill>
                            <a:srgbClr val="B3261E"/>
                          </a:solidFill>
                          <a:latin typeface="Calibri"/>
                        </a:rPr>
                        <a:t>✖</a:t>
                      </a:r>
                    </a:p>
                  </a:txBody>
                  <a:tcPr anchor="ctr">
                    <a:solidFill>
                      <a:srgbClr val="FFFFFF"/>
                    </a:solidFill>
                  </a:tcPr>
                </a:tc>
                <a:tc>
                  <a:txBody>
                    <a:bodyPr/>
                    <a:lstStyle/>
                    <a:p>
                      <a:pPr algn="ctr"/>
                      <a:r>
                        <a:rPr sz="2000" b="1" i="0">
                          <a:solidFill>
                            <a:srgbClr val="C78400"/>
                          </a:solidFill>
                          <a:latin typeface="Calibri"/>
                        </a:rPr>
                        <a:t>◐</a:t>
                      </a:r>
                    </a:p>
                  </a:txBody>
                  <a:tcPr anchor="ctr">
                    <a:solidFill>
                      <a:srgbClr val="FFFFFF"/>
                    </a:solidFill>
                  </a:tcPr>
                </a:tc>
                <a:tc>
                  <a:txBody>
                    <a:bodyPr/>
                    <a:lstStyle/>
                    <a:p>
                      <a:pPr algn="ctr"/>
                      <a:r>
                        <a:rPr sz="2000" b="1" i="0">
                          <a:solidFill>
                            <a:srgbClr val="B3261E"/>
                          </a:solidFill>
                          <a:latin typeface="Calibri"/>
                        </a:rPr>
                        <a:t>✖</a:t>
                      </a:r>
                    </a:p>
                  </a:txBody>
                  <a:tcPr anchor="ctr">
                    <a:solidFill>
                      <a:srgbClr val="FFFFFF"/>
                    </a:solidFill>
                  </a:tcPr>
                </a:tc>
                <a:tc>
                  <a:txBody>
                    <a:bodyPr/>
                    <a:lstStyle/>
                    <a:p>
                      <a:pPr algn="ctr"/>
                      <a:r>
                        <a:rPr sz="2000" b="1" i="0">
                          <a:solidFill>
                            <a:srgbClr val="2E7D4F"/>
                          </a:solidFill>
                          <a:latin typeface="Calibri"/>
                        </a:rPr>
                        <a:t>✔</a:t>
                      </a:r>
                    </a:p>
                  </a:txBody>
                  <a:tcPr anchor="ctr">
                    <a:solidFill>
                      <a:srgbClr val="FBF1DC"/>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548640" y="5257800"/>
            <a:ext cx="11094415" cy="365760"/>
          </a:xfrm>
          <a:prstGeom prst="rect">
            <a:avLst/>
          </a:prstGeom>
          <a:noFill/>
        </p:spPr>
        <p:txBody>
          <a:bodyPr wrap="square" lIns="18288" tIns="18288" rIns="18288" bIns="18288" anchor="t">
            <a:spAutoFit/>
          </a:bodyPr>
          <a:lstStyle/>
          <a:p>
            <a:pPr algn="l"/>
            <a:r>
              <a:rPr sz="1300" b="0" i="1">
                <a:solidFill>
                  <a:srgbClr val="5B6475"/>
                </a:solidFill>
                <a:latin typeface="Calibri"/>
              </a:rPr>
              <a:t>✔ capacité annoncée   ◐ partielle   ✖ absente — comparaison documentaire, aucun produit installé.</a:t>
            </a:r>
          </a:p>
        </p:txBody>
      </p:sp>
      <p:sp>
        <p:nvSpPr>
          <p:cNvPr id="12" name="Rounded Rectangle 11"/>
          <p:cNvSpPr/>
          <p:nvPr/>
        </p:nvSpPr>
        <p:spPr>
          <a:xfrm>
            <a:off x="548640" y="5669280"/>
            <a:ext cx="11094415" cy="548640"/>
          </a:xfrm>
          <a:prstGeom prst="roundRect">
            <a:avLst>
              <a:gd name="adj" fmla="val 8000"/>
            </a:avLst>
          </a:prstGeom>
          <a:solidFill>
            <a:srgbClr val="E2E9F3"/>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700" b="0" i="0">
                <a:solidFill>
                  <a:srgbClr val="1F3864"/>
                </a:solidFill>
                <a:latin typeface="Calibri"/>
              </a:rPr>
              <a:t>Décision : une </a:t>
            </a:r>
            <a:r>
              <a:rPr sz="1700" b="1" i="0">
                <a:solidFill>
                  <a:srgbClr val="1F3864"/>
                </a:solidFill>
                <a:latin typeface="Calibri"/>
              </a:rPr>
              <a:t>chaîne sur mesure adossée aux standards</a:t>
            </a:r>
            <a:r>
              <a:rPr sz="1700" b="0" i="0">
                <a:solidFill>
                  <a:srgbClr val="1F3864"/>
                </a:solidFill>
                <a:latin typeface="Calibri"/>
              </a:rPr>
              <a:t> (Fellegi-Sunter, FHIR, Medallion)</a:t>
            </a:r>
          </a:p>
        </p:txBody>
      </p:sp>
    </p:spTree>
    <p:extLst>
      <p:ext uri="{BB962C8B-B14F-4D97-AF65-F5344CB8AC3E}">
        <p14:creationId xmlns:p14="http://schemas.microsoft.com/office/powerpoint/2010/main" val="1906434059"/>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9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ÉTUDE DE L'EXISTANT</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Trois systèmes riches, cohérents… et isolés</a:t>
            </a:r>
          </a:p>
        </p:txBody>
      </p:sp>
      <p:sp>
        <p:nvSpPr>
          <p:cNvPr id="10" name="Rounded Rectangle 9"/>
          <p:cNvSpPr/>
          <p:nvPr/>
        </p:nvSpPr>
        <p:spPr>
          <a:xfrm>
            <a:off x="548640" y="1554480"/>
            <a:ext cx="3484778" cy="370332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TextBox 10"/>
          <p:cNvSpPr txBox="1"/>
          <p:nvPr/>
        </p:nvSpPr>
        <p:spPr>
          <a:xfrm>
            <a:off x="822959" y="1691640"/>
            <a:ext cx="2936138" cy="457200"/>
          </a:xfrm>
          <a:prstGeom prst="rect">
            <a:avLst/>
          </a:prstGeom>
          <a:noFill/>
        </p:spPr>
        <p:txBody>
          <a:bodyPr wrap="square" lIns="18288" tIns="18288" rIns="18288" bIns="18288" anchor="t">
            <a:spAutoFit/>
          </a:bodyPr>
          <a:lstStyle/>
          <a:p>
            <a:pPr algn="l"/>
            <a:r>
              <a:rPr sz="2400" b="1" i="0">
                <a:solidFill>
                  <a:srgbClr val="1F3864"/>
                </a:solidFill>
                <a:latin typeface="Calibri"/>
              </a:rPr>
              <a:t>MAVIS</a:t>
            </a:r>
          </a:p>
        </p:txBody>
      </p:sp>
      <p:sp>
        <p:nvSpPr>
          <p:cNvPr id="12" name="TextBox 11"/>
          <p:cNvSpPr txBox="1"/>
          <p:nvPr/>
        </p:nvSpPr>
        <p:spPr>
          <a:xfrm>
            <a:off x="822959" y="2167128"/>
            <a:ext cx="2936138" cy="457200"/>
          </a:xfrm>
          <a:prstGeom prst="rect">
            <a:avLst/>
          </a:prstGeom>
          <a:noFill/>
        </p:spPr>
        <p:txBody>
          <a:bodyPr wrap="square" lIns="18288" tIns="18288" rIns="18288" bIns="18288" anchor="t">
            <a:spAutoFit/>
          </a:bodyPr>
          <a:lstStyle/>
          <a:p>
            <a:pPr algn="l"/>
            <a:r>
              <a:rPr sz="1300" b="0" i="0">
                <a:solidFill>
                  <a:srgbClr val="5B6475"/>
                </a:solidFill>
                <a:latin typeface="Calibri"/>
              </a:rPr>
              <a:t>Odoo + module hospitalier · PostgreSQL distant</a:t>
            </a:r>
          </a:p>
        </p:txBody>
      </p:sp>
      <p:sp>
        <p:nvSpPr>
          <p:cNvPr id="13" name="TextBox 12"/>
          <p:cNvSpPr txBox="1"/>
          <p:nvPr/>
        </p:nvSpPr>
        <p:spPr>
          <a:xfrm>
            <a:off x="822959" y="2743200"/>
            <a:ext cx="2936138" cy="594360"/>
          </a:xfrm>
          <a:prstGeom prst="rect">
            <a:avLst/>
          </a:prstGeom>
          <a:noFill/>
        </p:spPr>
        <p:txBody>
          <a:bodyPr wrap="square" lIns="18288" tIns="18288" rIns="18288" bIns="18288" anchor="t">
            <a:spAutoFit/>
          </a:bodyPr>
          <a:lstStyle/>
          <a:p>
            <a:pPr algn="l"/>
            <a:r>
              <a:rPr sz="3600" b="1" i="0">
                <a:solidFill>
                  <a:srgbClr val="2E5597"/>
                </a:solidFill>
                <a:latin typeface="Calibri"/>
              </a:rPr>
              <a:t>73 090</a:t>
            </a:r>
          </a:p>
        </p:txBody>
      </p:sp>
      <p:sp>
        <p:nvSpPr>
          <p:cNvPr id="14" name="TextBox 13"/>
          <p:cNvSpPr txBox="1"/>
          <p:nvPr/>
        </p:nvSpPr>
        <p:spPr>
          <a:xfrm>
            <a:off x="822959" y="3346704"/>
            <a:ext cx="2936138" cy="365760"/>
          </a:xfrm>
          <a:prstGeom prst="rect">
            <a:avLst/>
          </a:prstGeom>
          <a:noFill/>
        </p:spPr>
        <p:txBody>
          <a:bodyPr wrap="square" lIns="18288" tIns="18288" rIns="18288" bIns="18288" anchor="t">
            <a:spAutoFit/>
          </a:bodyPr>
          <a:lstStyle/>
          <a:p>
            <a:pPr algn="l"/>
            <a:r>
              <a:rPr sz="1400" b="0" i="0">
                <a:solidFill>
                  <a:srgbClr val="1D2433"/>
                </a:solidFill>
                <a:latin typeface="Calibri"/>
              </a:rPr>
              <a:t>lignes en réplique locale</a:t>
            </a:r>
          </a:p>
        </p:txBody>
      </p:sp>
      <p:sp>
        <p:nvSpPr>
          <p:cNvPr id="15" name="TextBox 14"/>
          <p:cNvSpPr txBox="1"/>
          <p:nvPr/>
        </p:nvSpPr>
        <p:spPr>
          <a:xfrm>
            <a:off x="822959" y="3931920"/>
            <a:ext cx="2936138" cy="594360"/>
          </a:xfrm>
          <a:prstGeom prst="rect">
            <a:avLst/>
          </a:prstGeom>
          <a:noFill/>
        </p:spPr>
        <p:txBody>
          <a:bodyPr wrap="square" lIns="18288" tIns="18288" rIns="18288" bIns="18288" anchor="t">
            <a:spAutoFit/>
          </a:bodyPr>
          <a:lstStyle/>
          <a:p>
            <a:pPr algn="l"/>
            <a:r>
              <a:rPr sz="3600" b="1" i="0">
                <a:solidFill>
                  <a:srgbClr val="2E5597"/>
                </a:solidFill>
                <a:latin typeface="Calibri"/>
              </a:rPr>
              <a:t>1 260</a:t>
            </a:r>
          </a:p>
        </p:txBody>
      </p:sp>
      <p:sp>
        <p:nvSpPr>
          <p:cNvPr id="16" name="TextBox 15"/>
          <p:cNvSpPr txBox="1"/>
          <p:nvPr/>
        </p:nvSpPr>
        <p:spPr>
          <a:xfrm>
            <a:off x="822959" y="4535424"/>
            <a:ext cx="2936138" cy="365760"/>
          </a:xfrm>
          <a:prstGeom prst="rect">
            <a:avLst/>
          </a:prstGeom>
          <a:noFill/>
        </p:spPr>
        <p:txBody>
          <a:bodyPr wrap="square" lIns="18288" tIns="18288" rIns="18288" bIns="18288" anchor="t">
            <a:spAutoFit/>
          </a:bodyPr>
          <a:lstStyle/>
          <a:p>
            <a:pPr algn="l"/>
            <a:r>
              <a:rPr sz="1400" b="0" i="0">
                <a:solidFill>
                  <a:srgbClr val="1D2433"/>
                </a:solidFill>
                <a:latin typeface="Calibri"/>
              </a:rPr>
              <a:t>tables détectées, 11 retenues</a:t>
            </a:r>
          </a:p>
        </p:txBody>
      </p:sp>
      <p:sp>
        <p:nvSpPr>
          <p:cNvPr id="17" name="Rounded Rectangle 16"/>
          <p:cNvSpPr/>
          <p:nvPr/>
        </p:nvSpPr>
        <p:spPr>
          <a:xfrm>
            <a:off x="4353458" y="1554480"/>
            <a:ext cx="3484778" cy="370332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8" name="TextBox 17"/>
          <p:cNvSpPr txBox="1"/>
          <p:nvPr/>
        </p:nvSpPr>
        <p:spPr>
          <a:xfrm>
            <a:off x="4627778" y="1691640"/>
            <a:ext cx="2936138" cy="457200"/>
          </a:xfrm>
          <a:prstGeom prst="rect">
            <a:avLst/>
          </a:prstGeom>
          <a:noFill/>
        </p:spPr>
        <p:txBody>
          <a:bodyPr wrap="square" lIns="18288" tIns="18288" rIns="18288" bIns="18288" anchor="t">
            <a:spAutoFit/>
          </a:bodyPr>
          <a:lstStyle/>
          <a:p>
            <a:pPr algn="l"/>
            <a:r>
              <a:rPr sz="2400" b="1" i="0">
                <a:solidFill>
                  <a:srgbClr val="1F3864"/>
                </a:solidFill>
                <a:latin typeface="Calibri"/>
              </a:rPr>
              <a:t>MMT_DB</a:t>
            </a:r>
          </a:p>
        </p:txBody>
      </p:sp>
      <p:sp>
        <p:nvSpPr>
          <p:cNvPr id="19" name="TextBox 18"/>
          <p:cNvSpPr txBox="1"/>
          <p:nvPr/>
        </p:nvSpPr>
        <p:spPr>
          <a:xfrm>
            <a:off x="4627778" y="2167128"/>
            <a:ext cx="2936138" cy="457200"/>
          </a:xfrm>
          <a:prstGeom prst="rect">
            <a:avLst/>
          </a:prstGeom>
          <a:noFill/>
        </p:spPr>
        <p:txBody>
          <a:bodyPr wrap="square" lIns="18288" tIns="18288" rIns="18288" bIns="18288" anchor="t">
            <a:spAutoFit/>
          </a:bodyPr>
          <a:lstStyle/>
          <a:p>
            <a:pPr algn="l"/>
            <a:r>
              <a:rPr sz="1300" b="0" i="0">
                <a:solidFill>
                  <a:srgbClr val="5B6475"/>
                </a:solidFill>
                <a:latin typeface="Calibri"/>
              </a:rPr>
              <a:t>GNU Health · PostgreSQL local</a:t>
            </a:r>
          </a:p>
        </p:txBody>
      </p:sp>
      <p:sp>
        <p:nvSpPr>
          <p:cNvPr id="20" name="TextBox 19"/>
          <p:cNvSpPr txBox="1"/>
          <p:nvPr/>
        </p:nvSpPr>
        <p:spPr>
          <a:xfrm>
            <a:off x="4627778" y="2743200"/>
            <a:ext cx="2936138" cy="594360"/>
          </a:xfrm>
          <a:prstGeom prst="rect">
            <a:avLst/>
          </a:prstGeom>
          <a:noFill/>
        </p:spPr>
        <p:txBody>
          <a:bodyPr wrap="square" lIns="18288" tIns="18288" rIns="18288" bIns="18288" anchor="t">
            <a:spAutoFit/>
          </a:bodyPr>
          <a:lstStyle/>
          <a:p>
            <a:pPr algn="l"/>
            <a:r>
              <a:rPr sz="3600" b="1" i="0">
                <a:solidFill>
                  <a:srgbClr val="2E5597"/>
                </a:solidFill>
                <a:latin typeface="Calibri"/>
              </a:rPr>
              <a:t>60 271</a:t>
            </a:r>
          </a:p>
        </p:txBody>
      </p:sp>
      <p:sp>
        <p:nvSpPr>
          <p:cNvPr id="21" name="TextBox 20"/>
          <p:cNvSpPr txBox="1"/>
          <p:nvPr/>
        </p:nvSpPr>
        <p:spPr>
          <a:xfrm>
            <a:off x="4627778" y="3346704"/>
            <a:ext cx="2936138" cy="365760"/>
          </a:xfrm>
          <a:prstGeom prst="rect">
            <a:avLst/>
          </a:prstGeom>
          <a:noFill/>
        </p:spPr>
        <p:txBody>
          <a:bodyPr wrap="square" lIns="18288" tIns="18288" rIns="18288" bIns="18288" anchor="t">
            <a:spAutoFit/>
          </a:bodyPr>
          <a:lstStyle/>
          <a:p>
            <a:pPr algn="l"/>
            <a:r>
              <a:rPr sz="1400" b="0" i="0">
                <a:solidFill>
                  <a:srgbClr val="1D2433"/>
                </a:solidFill>
                <a:latin typeface="Calibri"/>
              </a:rPr>
              <a:t>lignes dans 9 tables</a:t>
            </a:r>
          </a:p>
        </p:txBody>
      </p:sp>
      <p:sp>
        <p:nvSpPr>
          <p:cNvPr id="22" name="TextBox 21"/>
          <p:cNvSpPr txBox="1"/>
          <p:nvPr/>
        </p:nvSpPr>
        <p:spPr>
          <a:xfrm>
            <a:off x="4627778" y="3931920"/>
            <a:ext cx="2936138" cy="594360"/>
          </a:xfrm>
          <a:prstGeom prst="rect">
            <a:avLst/>
          </a:prstGeom>
          <a:noFill/>
        </p:spPr>
        <p:txBody>
          <a:bodyPr wrap="square" lIns="18288" tIns="18288" rIns="18288" bIns="18288" anchor="t">
            <a:spAutoFit/>
          </a:bodyPr>
          <a:lstStyle/>
          <a:p>
            <a:pPr algn="l"/>
            <a:r>
              <a:rPr sz="3600" b="1" i="0">
                <a:solidFill>
                  <a:srgbClr val="2E5597"/>
                </a:solidFill>
                <a:latin typeface="Calibri"/>
              </a:rPr>
              <a:t>5</a:t>
            </a:r>
          </a:p>
        </p:txBody>
      </p:sp>
      <p:sp>
        <p:nvSpPr>
          <p:cNvPr id="23" name="TextBox 22"/>
          <p:cNvSpPr txBox="1"/>
          <p:nvPr/>
        </p:nvSpPr>
        <p:spPr>
          <a:xfrm>
            <a:off x="4627778" y="4535424"/>
            <a:ext cx="2936138" cy="365760"/>
          </a:xfrm>
          <a:prstGeom prst="rect">
            <a:avLst/>
          </a:prstGeom>
          <a:noFill/>
        </p:spPr>
        <p:txBody>
          <a:bodyPr wrap="square" lIns="18288" tIns="18288" rIns="18288" bIns="18288" anchor="t">
            <a:spAutoFit/>
          </a:bodyPr>
          <a:lstStyle/>
          <a:p>
            <a:pPr algn="l"/>
            <a:r>
              <a:rPr sz="1400" b="0" i="0">
                <a:solidFill>
                  <a:srgbClr val="1D2433"/>
                </a:solidFill>
                <a:latin typeface="Calibri"/>
              </a:rPr>
              <a:t>clés étrangères découvertes</a:t>
            </a:r>
          </a:p>
        </p:txBody>
      </p:sp>
      <p:sp>
        <p:nvSpPr>
          <p:cNvPr id="24" name="Rounded Rectangle 23"/>
          <p:cNvSpPr/>
          <p:nvPr/>
        </p:nvSpPr>
        <p:spPr>
          <a:xfrm>
            <a:off x="8158276" y="1554480"/>
            <a:ext cx="3484778" cy="370332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5" name="TextBox 24"/>
          <p:cNvSpPr txBox="1"/>
          <p:nvPr/>
        </p:nvSpPr>
        <p:spPr>
          <a:xfrm>
            <a:off x="8432596" y="1691640"/>
            <a:ext cx="2936138" cy="457200"/>
          </a:xfrm>
          <a:prstGeom prst="rect">
            <a:avLst/>
          </a:prstGeom>
          <a:noFill/>
        </p:spPr>
        <p:txBody>
          <a:bodyPr wrap="square" lIns="18288" tIns="18288" rIns="18288" bIns="18288" anchor="t">
            <a:spAutoFit/>
          </a:bodyPr>
          <a:lstStyle/>
          <a:p>
            <a:pPr algn="l"/>
            <a:r>
              <a:rPr sz="2400" b="1" i="0">
                <a:solidFill>
                  <a:srgbClr val="1F3864"/>
                </a:solidFill>
                <a:latin typeface="Calibri"/>
              </a:rPr>
              <a:t>CLINIQUE</a:t>
            </a:r>
          </a:p>
        </p:txBody>
      </p:sp>
      <p:sp>
        <p:nvSpPr>
          <p:cNvPr id="26" name="TextBox 25"/>
          <p:cNvSpPr txBox="1"/>
          <p:nvPr/>
        </p:nvSpPr>
        <p:spPr>
          <a:xfrm>
            <a:off x="8432596" y="2167128"/>
            <a:ext cx="2936138" cy="457200"/>
          </a:xfrm>
          <a:prstGeom prst="rect">
            <a:avLst/>
          </a:prstGeom>
          <a:noFill/>
        </p:spPr>
        <p:txBody>
          <a:bodyPr wrap="square" lIns="18288" tIns="18288" rIns="18288" bIns="18288" anchor="t">
            <a:spAutoFit/>
          </a:bodyPr>
          <a:lstStyle/>
          <a:p>
            <a:pPr algn="l"/>
            <a:r>
              <a:rPr sz="1300" b="0" i="0">
                <a:solidFill>
                  <a:srgbClr val="5B6475"/>
                </a:solidFill>
                <a:latin typeface="Calibri"/>
              </a:rPr>
              <a:t>SQLite</a:t>
            </a:r>
          </a:p>
        </p:txBody>
      </p:sp>
      <p:sp>
        <p:nvSpPr>
          <p:cNvPr id="27" name="TextBox 26"/>
          <p:cNvSpPr txBox="1"/>
          <p:nvPr/>
        </p:nvSpPr>
        <p:spPr>
          <a:xfrm>
            <a:off x="8432596" y="2743200"/>
            <a:ext cx="2936138" cy="594360"/>
          </a:xfrm>
          <a:prstGeom prst="rect">
            <a:avLst/>
          </a:prstGeom>
          <a:noFill/>
        </p:spPr>
        <p:txBody>
          <a:bodyPr wrap="square" lIns="18288" tIns="18288" rIns="18288" bIns="18288" anchor="t">
            <a:spAutoFit/>
          </a:bodyPr>
          <a:lstStyle/>
          <a:p>
            <a:pPr algn="l"/>
            <a:r>
              <a:rPr sz="3600" b="1" i="0">
                <a:solidFill>
                  <a:srgbClr val="2E5597"/>
                </a:solidFill>
                <a:latin typeface="Calibri"/>
              </a:rPr>
              <a:t>54 582</a:t>
            </a:r>
          </a:p>
        </p:txBody>
      </p:sp>
      <p:sp>
        <p:nvSpPr>
          <p:cNvPr id="28" name="TextBox 27"/>
          <p:cNvSpPr txBox="1"/>
          <p:nvPr/>
        </p:nvSpPr>
        <p:spPr>
          <a:xfrm>
            <a:off x="8432596" y="3346704"/>
            <a:ext cx="2936138" cy="365760"/>
          </a:xfrm>
          <a:prstGeom prst="rect">
            <a:avLst/>
          </a:prstGeom>
          <a:noFill/>
        </p:spPr>
        <p:txBody>
          <a:bodyPr wrap="square" lIns="18288" tIns="18288" rIns="18288" bIns="18288" anchor="t">
            <a:spAutoFit/>
          </a:bodyPr>
          <a:lstStyle/>
          <a:p>
            <a:pPr algn="l"/>
            <a:r>
              <a:rPr sz="1400" b="0" i="0">
                <a:solidFill>
                  <a:srgbClr val="1D2433"/>
                </a:solidFill>
                <a:latin typeface="Calibri"/>
              </a:rPr>
              <a:t>lignes dans 4 tables</a:t>
            </a:r>
          </a:p>
        </p:txBody>
      </p:sp>
      <p:sp>
        <p:nvSpPr>
          <p:cNvPr id="29" name="TextBox 28"/>
          <p:cNvSpPr txBox="1"/>
          <p:nvPr/>
        </p:nvSpPr>
        <p:spPr>
          <a:xfrm>
            <a:off x="8432596" y="3931920"/>
            <a:ext cx="2936138" cy="594360"/>
          </a:xfrm>
          <a:prstGeom prst="rect">
            <a:avLst/>
          </a:prstGeom>
          <a:noFill/>
        </p:spPr>
        <p:txBody>
          <a:bodyPr wrap="square" lIns="18288" tIns="18288" rIns="18288" bIns="18288" anchor="t">
            <a:spAutoFit/>
          </a:bodyPr>
          <a:lstStyle/>
          <a:p>
            <a:pPr algn="l"/>
            <a:r>
              <a:rPr sz="3600" b="1" i="0">
                <a:solidFill>
                  <a:srgbClr val="2E5597"/>
                </a:solidFill>
                <a:latin typeface="Calibri"/>
              </a:rPr>
              <a:t>0</a:t>
            </a:r>
          </a:p>
        </p:txBody>
      </p:sp>
      <p:sp>
        <p:nvSpPr>
          <p:cNvPr id="30" name="TextBox 29"/>
          <p:cNvSpPr txBox="1"/>
          <p:nvPr/>
        </p:nvSpPr>
        <p:spPr>
          <a:xfrm>
            <a:off x="8432596" y="4535424"/>
            <a:ext cx="2936138" cy="365760"/>
          </a:xfrm>
          <a:prstGeom prst="rect">
            <a:avLst/>
          </a:prstGeom>
          <a:noFill/>
        </p:spPr>
        <p:txBody>
          <a:bodyPr wrap="square" lIns="18288" tIns="18288" rIns="18288" bIns="18288" anchor="t">
            <a:spAutoFit/>
          </a:bodyPr>
          <a:lstStyle/>
          <a:p>
            <a:pPr algn="l"/>
            <a:r>
              <a:rPr sz="1400" b="0" i="0">
                <a:solidFill>
                  <a:srgbClr val="1D2433"/>
                </a:solidFill>
                <a:latin typeface="Calibri"/>
              </a:rPr>
              <a:t>violation de clé étrangère</a:t>
            </a:r>
          </a:p>
        </p:txBody>
      </p:sp>
      <p:sp>
        <p:nvSpPr>
          <p:cNvPr id="31" name="Rounded Rectangle 30"/>
          <p:cNvSpPr/>
          <p:nvPr/>
        </p:nvSpPr>
        <p:spPr>
          <a:xfrm>
            <a:off x="548640" y="5486400"/>
            <a:ext cx="11094415" cy="7315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0" i="0">
                <a:solidFill>
                  <a:srgbClr val="FFFFFF"/>
                </a:solidFill>
                <a:latin typeface="Calibri"/>
              </a:rPr>
              <a:t>Chaque base est </a:t>
            </a:r>
            <a:r>
              <a:rPr sz="1800" b="1" i="0">
                <a:solidFill>
                  <a:srgbClr val="FFFFFF"/>
                </a:solidFill>
                <a:latin typeface="Calibri"/>
              </a:rPr>
              <a:t>cohérente avec elle-même</a:t>
            </a:r>
            <a:r>
              <a:rPr sz="1800" b="0" i="0">
                <a:solidFill>
                  <a:srgbClr val="FFFFFF"/>
                </a:solidFill>
                <a:latin typeface="Calibri"/>
              </a:rPr>
              <a:t> : ce qui manque, c'est </a:t>
            </a:r>
            <a:r>
              <a:rPr sz="1800" b="1" i="0">
                <a:solidFill>
                  <a:srgbClr val="FFFFFF"/>
                </a:solidFill>
                <a:latin typeface="Calibri"/>
              </a:rPr>
              <a:t>le pont entre elles</a:t>
            </a:r>
            <a:r>
              <a:rPr sz="1800" b="0" i="0">
                <a:solidFill>
                  <a:srgbClr val="FFFFFF"/>
                </a:solidFill>
                <a:latin typeface="Calibri"/>
              </a:rPr>
              <a:t>.</a:t>
            </a:r>
          </a:p>
        </p:txBody>
      </p:sp>
    </p:spTree>
    <p:extLst>
      <p:ext uri="{BB962C8B-B14F-4D97-AF65-F5344CB8AC3E}">
        <p14:creationId xmlns:p14="http://schemas.microsoft.com/office/powerpoint/2010/main" val="1763394632"/>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10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ÉTUDE DE L'EXISTANT</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Cinq manques à combler</a:t>
            </a:r>
          </a:p>
        </p:txBody>
      </p:sp>
      <p:sp>
        <p:nvSpPr>
          <p:cNvPr id="10" name="Rounded Rectangle 9"/>
          <p:cNvSpPr/>
          <p:nvPr/>
        </p:nvSpPr>
        <p:spPr>
          <a:xfrm>
            <a:off x="548640" y="1554480"/>
            <a:ext cx="6949440" cy="749808"/>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Oval 10"/>
          <p:cNvSpPr/>
          <p:nvPr/>
        </p:nvSpPr>
        <p:spPr>
          <a:xfrm>
            <a:off x="713232" y="1682495"/>
            <a:ext cx="493776" cy="49377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1</a:t>
            </a:r>
          </a:p>
        </p:txBody>
      </p:sp>
      <p:sp>
        <p:nvSpPr>
          <p:cNvPr id="12" name="TextBox 11"/>
          <p:cNvSpPr txBox="1"/>
          <p:nvPr/>
        </p:nvSpPr>
        <p:spPr>
          <a:xfrm>
            <a:off x="1371600" y="1627632"/>
            <a:ext cx="5989320" cy="640080"/>
          </a:xfrm>
          <a:prstGeom prst="rect">
            <a:avLst/>
          </a:prstGeom>
          <a:noFill/>
        </p:spPr>
        <p:txBody>
          <a:bodyPr wrap="square" lIns="18288" tIns="18288" rIns="18288" bIns="18288" anchor="ctr">
            <a:spAutoFit/>
          </a:bodyPr>
          <a:lstStyle/>
          <a:p>
            <a:pPr algn="l"/>
            <a:r>
              <a:rPr sz="1600" b="1" i="0">
                <a:solidFill>
                  <a:srgbClr val="1D2433"/>
                </a:solidFill>
                <a:latin typeface="Calibri"/>
              </a:rPr>
              <a:t>Aucun identifiant transversal</a:t>
            </a:r>
            <a:r>
              <a:rPr sz="1600" b="0" i="0">
                <a:solidFill>
                  <a:srgbClr val="1D2433"/>
                </a:solidFill>
                <a:latin typeface="Calibri"/>
              </a:rPr>
              <a:t> — le CIN manque pour ~25 % des patients</a:t>
            </a:r>
          </a:p>
        </p:txBody>
      </p:sp>
      <p:sp>
        <p:nvSpPr>
          <p:cNvPr id="13" name="Rounded Rectangle 12"/>
          <p:cNvSpPr/>
          <p:nvPr/>
        </p:nvSpPr>
        <p:spPr>
          <a:xfrm>
            <a:off x="548640" y="2450591"/>
            <a:ext cx="6949440" cy="749808"/>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4" name="Oval 13"/>
          <p:cNvSpPr/>
          <p:nvPr/>
        </p:nvSpPr>
        <p:spPr>
          <a:xfrm>
            <a:off x="713232" y="2578608"/>
            <a:ext cx="493776" cy="49377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2</a:t>
            </a:r>
          </a:p>
        </p:txBody>
      </p:sp>
      <p:sp>
        <p:nvSpPr>
          <p:cNvPr id="15" name="TextBox 14"/>
          <p:cNvSpPr txBox="1"/>
          <p:nvPr/>
        </p:nvSpPr>
        <p:spPr>
          <a:xfrm>
            <a:off x="1371600" y="2523744"/>
            <a:ext cx="5989320" cy="640080"/>
          </a:xfrm>
          <a:prstGeom prst="rect">
            <a:avLst/>
          </a:prstGeom>
          <a:noFill/>
        </p:spPr>
        <p:txBody>
          <a:bodyPr wrap="square" lIns="18288" tIns="18288" rIns="18288" bIns="18288" anchor="ctr">
            <a:spAutoFit/>
          </a:bodyPr>
          <a:lstStyle/>
          <a:p>
            <a:pPr algn="l"/>
            <a:r>
              <a:rPr sz="1600" b="1" i="0">
                <a:solidFill>
                  <a:srgbClr val="1D2433"/>
                </a:solidFill>
                <a:latin typeface="Calibri"/>
              </a:rPr>
              <a:t>Aucune normalisation commune</a:t>
            </a:r>
            <a:r>
              <a:rPr sz="1600" b="0" i="0">
                <a:solidFill>
                  <a:srgbClr val="1D2433"/>
                </a:solidFill>
                <a:latin typeface="Calibri"/>
              </a:rPr>
              <a:t> — ni schéma pivot, ni formats partagés</a:t>
            </a:r>
          </a:p>
        </p:txBody>
      </p:sp>
      <p:sp>
        <p:nvSpPr>
          <p:cNvPr id="16" name="Rounded Rectangle 15"/>
          <p:cNvSpPr/>
          <p:nvPr/>
        </p:nvSpPr>
        <p:spPr>
          <a:xfrm>
            <a:off x="548640" y="3346704"/>
            <a:ext cx="6949440" cy="749808"/>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7" name="Oval 16"/>
          <p:cNvSpPr/>
          <p:nvPr/>
        </p:nvSpPr>
        <p:spPr>
          <a:xfrm>
            <a:off x="713232" y="3474720"/>
            <a:ext cx="493776" cy="49377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3</a:t>
            </a:r>
          </a:p>
        </p:txBody>
      </p:sp>
      <p:sp>
        <p:nvSpPr>
          <p:cNvPr id="18" name="TextBox 17"/>
          <p:cNvSpPr txBox="1"/>
          <p:nvPr/>
        </p:nvSpPr>
        <p:spPr>
          <a:xfrm>
            <a:off x="1371600" y="3419856"/>
            <a:ext cx="5989320" cy="640080"/>
          </a:xfrm>
          <a:prstGeom prst="rect">
            <a:avLst/>
          </a:prstGeom>
          <a:noFill/>
        </p:spPr>
        <p:txBody>
          <a:bodyPr wrap="square" lIns="18288" tIns="18288" rIns="18288" bIns="18288" anchor="ctr">
            <a:spAutoFit/>
          </a:bodyPr>
          <a:lstStyle/>
          <a:p>
            <a:pPr algn="l"/>
            <a:r>
              <a:rPr sz="1600" b="1" i="0">
                <a:solidFill>
                  <a:srgbClr val="1D2433"/>
                </a:solidFill>
                <a:latin typeface="Calibri"/>
              </a:rPr>
              <a:t>Aucun rapprochement d'identités</a:t>
            </a:r>
            <a:r>
              <a:rPr sz="1600" b="0" i="0">
                <a:solidFill>
                  <a:srgbClr val="1D2433"/>
                </a:solidFill>
                <a:latin typeface="Calibri"/>
              </a:rPr>
              <a:t> explicable</a:t>
            </a:r>
          </a:p>
        </p:txBody>
      </p:sp>
      <p:sp>
        <p:nvSpPr>
          <p:cNvPr id="19" name="Rounded Rectangle 18"/>
          <p:cNvSpPr/>
          <p:nvPr/>
        </p:nvSpPr>
        <p:spPr>
          <a:xfrm>
            <a:off x="548640" y="4242816"/>
            <a:ext cx="6949440" cy="749808"/>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0" name="Oval 19"/>
          <p:cNvSpPr/>
          <p:nvPr/>
        </p:nvSpPr>
        <p:spPr>
          <a:xfrm>
            <a:off x="713232" y="4370831"/>
            <a:ext cx="493776" cy="49377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4</a:t>
            </a:r>
          </a:p>
        </p:txBody>
      </p:sp>
      <p:sp>
        <p:nvSpPr>
          <p:cNvPr id="21" name="TextBox 20"/>
          <p:cNvSpPr txBox="1"/>
          <p:nvPr/>
        </p:nvSpPr>
        <p:spPr>
          <a:xfrm>
            <a:off x="1371600" y="4315968"/>
            <a:ext cx="5989320" cy="640080"/>
          </a:xfrm>
          <a:prstGeom prst="rect">
            <a:avLst/>
          </a:prstGeom>
          <a:noFill/>
        </p:spPr>
        <p:txBody>
          <a:bodyPr wrap="square" lIns="18288" tIns="18288" rIns="18288" bIns="18288" anchor="ctr">
            <a:spAutoFit/>
          </a:bodyPr>
          <a:lstStyle/>
          <a:p>
            <a:pPr algn="l"/>
            <a:r>
              <a:rPr sz="1600" b="1" i="0">
                <a:solidFill>
                  <a:srgbClr val="1D2433"/>
                </a:solidFill>
                <a:latin typeface="Calibri"/>
              </a:rPr>
              <a:t>Aucune gouvernance</a:t>
            </a:r>
            <a:r>
              <a:rPr sz="1600" b="0" i="0">
                <a:solidFill>
                  <a:srgbClr val="1D2433"/>
                </a:solidFill>
                <a:latin typeface="Calibri"/>
              </a:rPr>
              <a:t> — ni rôles, ni consentement, ni journal d'accès</a:t>
            </a:r>
          </a:p>
        </p:txBody>
      </p:sp>
      <p:sp>
        <p:nvSpPr>
          <p:cNvPr id="22" name="Rounded Rectangle 21"/>
          <p:cNvSpPr/>
          <p:nvPr/>
        </p:nvSpPr>
        <p:spPr>
          <a:xfrm>
            <a:off x="548640" y="5138928"/>
            <a:ext cx="6949440" cy="749808"/>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3" name="Oval 22"/>
          <p:cNvSpPr/>
          <p:nvPr/>
        </p:nvSpPr>
        <p:spPr>
          <a:xfrm>
            <a:off x="713232" y="5266944"/>
            <a:ext cx="493776" cy="493776"/>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i="0">
                <a:solidFill>
                  <a:srgbClr val="FFFFFF"/>
                </a:solidFill>
                <a:latin typeface="Calibri"/>
              </a:rPr>
              <a:t>5</a:t>
            </a:r>
          </a:p>
        </p:txBody>
      </p:sp>
      <p:sp>
        <p:nvSpPr>
          <p:cNvPr id="24" name="TextBox 23"/>
          <p:cNvSpPr txBox="1"/>
          <p:nvPr/>
        </p:nvSpPr>
        <p:spPr>
          <a:xfrm>
            <a:off x="1371600" y="5212080"/>
            <a:ext cx="5989320" cy="640080"/>
          </a:xfrm>
          <a:prstGeom prst="rect">
            <a:avLst/>
          </a:prstGeom>
          <a:noFill/>
        </p:spPr>
        <p:txBody>
          <a:bodyPr wrap="square" lIns="18288" tIns="18288" rIns="18288" bIns="18288" anchor="ctr">
            <a:spAutoFit/>
          </a:bodyPr>
          <a:lstStyle/>
          <a:p>
            <a:pPr algn="l"/>
            <a:r>
              <a:rPr sz="1600" b="1" i="0">
                <a:solidFill>
                  <a:srgbClr val="1D2433"/>
                </a:solidFill>
                <a:latin typeface="Calibri"/>
              </a:rPr>
              <a:t>Aucun espace de rejeu</a:t>
            </a:r>
            <a:r>
              <a:rPr sz="1600" b="0" i="0">
                <a:solidFill>
                  <a:srgbClr val="1D2433"/>
                </a:solidFill>
                <a:latin typeface="Calibri"/>
              </a:rPr>
              <a:t> — une erreur de traitement ne se rejoue pas</a:t>
            </a:r>
          </a:p>
        </p:txBody>
      </p:sp>
      <p:sp>
        <p:nvSpPr>
          <p:cNvPr id="25" name="Rounded Rectangle 24"/>
          <p:cNvSpPr/>
          <p:nvPr/>
        </p:nvSpPr>
        <p:spPr>
          <a:xfrm>
            <a:off x="7863840" y="1554480"/>
            <a:ext cx="3779215" cy="43434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6" name="TextBox 25"/>
          <p:cNvSpPr txBox="1"/>
          <p:nvPr/>
        </p:nvSpPr>
        <p:spPr>
          <a:xfrm>
            <a:off x="8183879" y="1920240"/>
            <a:ext cx="3139135" cy="1005840"/>
          </a:xfrm>
          <a:prstGeom prst="rect">
            <a:avLst/>
          </a:prstGeom>
          <a:noFill/>
        </p:spPr>
        <p:txBody>
          <a:bodyPr wrap="square" lIns="18288" tIns="18288" rIns="18288" bIns="18288" anchor="t">
            <a:spAutoFit/>
          </a:bodyPr>
          <a:lstStyle/>
          <a:p>
            <a:pPr algn="ctr"/>
            <a:r>
              <a:rPr sz="6000" b="1" i="0">
                <a:solidFill>
                  <a:srgbClr val="FFFFFF"/>
                </a:solidFill>
                <a:latin typeface="Calibri"/>
              </a:rPr>
              <a:t>24 872</a:t>
            </a:r>
          </a:p>
        </p:txBody>
      </p:sp>
      <p:sp>
        <p:nvSpPr>
          <p:cNvPr id="27" name="TextBox 26"/>
          <p:cNvSpPr txBox="1"/>
          <p:nvPr/>
        </p:nvSpPr>
        <p:spPr>
          <a:xfrm>
            <a:off x="8183879" y="3017520"/>
            <a:ext cx="3139135" cy="1097280"/>
          </a:xfrm>
          <a:prstGeom prst="rect">
            <a:avLst/>
          </a:prstGeom>
          <a:noFill/>
        </p:spPr>
        <p:txBody>
          <a:bodyPr wrap="square" lIns="18288" tIns="18288" rIns="18288" bIns="18288" anchor="t">
            <a:spAutoFit/>
          </a:bodyPr>
          <a:lstStyle/>
          <a:p>
            <a:pPr algn="ctr"/>
            <a:r>
              <a:rPr sz="1700" b="0" i="0">
                <a:solidFill>
                  <a:srgbClr val="E2E9F3"/>
                </a:solidFill>
                <a:latin typeface="Calibri"/>
              </a:rPr>
              <a:t>marqueurs de doublon dans le premier prototype (run du 24/08/2026)</a:t>
            </a:r>
          </a:p>
        </p:txBody>
      </p:sp>
      <p:sp>
        <p:nvSpPr>
          <p:cNvPr id="28" name="TextBox 27"/>
          <p:cNvSpPr txBox="1"/>
          <p:nvPr/>
        </p:nvSpPr>
        <p:spPr>
          <a:xfrm>
            <a:off x="8183879" y="4343400"/>
            <a:ext cx="3139135" cy="1280160"/>
          </a:xfrm>
          <a:prstGeom prst="rect">
            <a:avLst/>
          </a:prstGeom>
          <a:noFill/>
        </p:spPr>
        <p:txBody>
          <a:bodyPr wrap="square" lIns="18288" tIns="18288" rIns="18288" bIns="18288" anchor="t">
            <a:spAutoFit/>
          </a:bodyPr>
          <a:lstStyle/>
          <a:p>
            <a:pPr algn="ctr"/>
            <a:r>
              <a:rPr sz="1800" b="1" i="0">
                <a:solidFill>
                  <a:srgbClr val="FFFFFF"/>
                </a:solidFill>
                <a:latin typeface="Calibri"/>
              </a:rPr>
              <a:t>… sans référentiel patient ni justification des fusions</a:t>
            </a:r>
          </a:p>
        </p:txBody>
      </p:sp>
    </p:spTree>
    <p:extLst>
      <p:ext uri="{BB962C8B-B14F-4D97-AF65-F5344CB8AC3E}">
        <p14:creationId xmlns:p14="http://schemas.microsoft.com/office/powerpoint/2010/main" val="1343200141"/>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11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SOLUTION PROPOSÉE</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Une démarche en trois niveaux : chaque technologie répond à un besoin</a:t>
            </a:r>
          </a:p>
        </p:txBody>
      </p:sp>
      <p:sp>
        <p:nvSpPr>
          <p:cNvPr id="10" name="Rounded Rectangle 9"/>
          <p:cNvSpPr/>
          <p:nvPr/>
        </p:nvSpPr>
        <p:spPr>
          <a:xfrm>
            <a:off x="548640" y="1554480"/>
            <a:ext cx="3362858" cy="265176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TextBox 10"/>
          <p:cNvSpPr txBox="1"/>
          <p:nvPr/>
        </p:nvSpPr>
        <p:spPr>
          <a:xfrm>
            <a:off x="822959" y="1691640"/>
            <a:ext cx="2814218" cy="320040"/>
          </a:xfrm>
          <a:prstGeom prst="rect">
            <a:avLst/>
          </a:prstGeom>
          <a:noFill/>
        </p:spPr>
        <p:txBody>
          <a:bodyPr wrap="square" lIns="18288" tIns="18288" rIns="18288" bIns="18288" anchor="t">
            <a:spAutoFit/>
          </a:bodyPr>
          <a:lstStyle/>
          <a:p>
            <a:pPr algn="l"/>
            <a:r>
              <a:rPr sz="1300" b="1" i="0">
                <a:solidFill>
                  <a:srgbClr val="2E5597"/>
                </a:solidFill>
                <a:latin typeface="Calibri"/>
              </a:rPr>
              <a:t>NIVEAU 1</a:t>
            </a:r>
          </a:p>
        </p:txBody>
      </p:sp>
      <p:sp>
        <p:nvSpPr>
          <p:cNvPr id="12" name="TextBox 11"/>
          <p:cNvSpPr txBox="1"/>
          <p:nvPr/>
        </p:nvSpPr>
        <p:spPr>
          <a:xfrm>
            <a:off x="822959" y="2011680"/>
            <a:ext cx="2814218" cy="548640"/>
          </a:xfrm>
          <a:prstGeom prst="rect">
            <a:avLst/>
          </a:prstGeom>
          <a:noFill/>
        </p:spPr>
        <p:txBody>
          <a:bodyPr wrap="square" lIns="18288" tIns="18288" rIns="18288" bIns="18288" anchor="t">
            <a:spAutoFit/>
          </a:bodyPr>
          <a:lstStyle/>
          <a:p>
            <a:pPr algn="l"/>
            <a:r>
              <a:rPr sz="3000" b="1" i="0">
                <a:solidFill>
                  <a:srgbClr val="1F3864"/>
                </a:solidFill>
                <a:latin typeface="Calibri"/>
              </a:rPr>
              <a:t>MVP</a:t>
            </a:r>
          </a:p>
        </p:txBody>
      </p:sp>
      <p:sp>
        <p:nvSpPr>
          <p:cNvPr id="13" name="TextBox 12"/>
          <p:cNvSpPr txBox="1"/>
          <p:nvPr/>
        </p:nvSpPr>
        <p:spPr>
          <a:xfrm>
            <a:off x="822959" y="2651760"/>
            <a:ext cx="2814218" cy="457200"/>
          </a:xfrm>
          <a:prstGeom prst="rect">
            <a:avLst/>
          </a:prstGeom>
          <a:noFill/>
        </p:spPr>
        <p:txBody>
          <a:bodyPr wrap="square" lIns="18288" tIns="18288" rIns="18288" bIns="18288" anchor="t">
            <a:spAutoFit/>
          </a:bodyPr>
          <a:lstStyle/>
          <a:p>
            <a:pPr algn="l"/>
            <a:r>
              <a:rPr sz="1500" b="0" i="0">
                <a:solidFill>
                  <a:srgbClr val="5B6475"/>
                </a:solidFill>
                <a:latin typeface="Calibri"/>
              </a:rPr>
              <a:t>CSV · Pandas · PostgreSQL</a:t>
            </a:r>
          </a:p>
        </p:txBody>
      </p:sp>
      <p:sp>
        <p:nvSpPr>
          <p:cNvPr id="14" name="TextBox 13"/>
          <p:cNvSpPr txBox="1"/>
          <p:nvPr/>
        </p:nvSpPr>
        <p:spPr>
          <a:xfrm>
            <a:off x="822959" y="3154680"/>
            <a:ext cx="2814218" cy="914400"/>
          </a:xfrm>
          <a:prstGeom prst="rect">
            <a:avLst/>
          </a:prstGeom>
          <a:noFill/>
        </p:spPr>
        <p:txBody>
          <a:bodyPr wrap="square" lIns="18288" tIns="18288" rIns="18288" bIns="18288" anchor="t">
            <a:spAutoFit/>
          </a:bodyPr>
          <a:lstStyle/>
          <a:p>
            <a:pPr algn="l"/>
            <a:r>
              <a:rPr sz="1600" b="0" i="0">
                <a:solidFill>
                  <a:srgbClr val="1D2433"/>
                </a:solidFill>
                <a:latin typeface="Calibri"/>
              </a:rPr>
              <a:t>résoudre le problème métier au plus simple</a:t>
            </a:r>
          </a:p>
        </p:txBody>
      </p:sp>
      <p:sp>
        <p:nvSpPr>
          <p:cNvPr id="15" name="Right Arrow 14"/>
          <p:cNvSpPr/>
          <p:nvPr/>
        </p:nvSpPr>
        <p:spPr>
          <a:xfrm>
            <a:off x="3984650" y="2606040"/>
            <a:ext cx="356616" cy="548640"/>
          </a:xfrm>
          <a:prstGeom prst="rightArrow">
            <a:avLst/>
          </a:prstGeom>
          <a:solidFill>
            <a:srgbClr val="C78400"/>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6" name="Rounded Rectangle 15"/>
          <p:cNvSpPr/>
          <p:nvPr/>
        </p:nvSpPr>
        <p:spPr>
          <a:xfrm>
            <a:off x="4414418" y="1554480"/>
            <a:ext cx="3362858" cy="265176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7" name="TextBox 16"/>
          <p:cNvSpPr txBox="1"/>
          <p:nvPr/>
        </p:nvSpPr>
        <p:spPr>
          <a:xfrm>
            <a:off x="4688738" y="1691640"/>
            <a:ext cx="2814218" cy="320040"/>
          </a:xfrm>
          <a:prstGeom prst="rect">
            <a:avLst/>
          </a:prstGeom>
          <a:noFill/>
        </p:spPr>
        <p:txBody>
          <a:bodyPr wrap="square" lIns="18288" tIns="18288" rIns="18288" bIns="18288" anchor="t">
            <a:spAutoFit/>
          </a:bodyPr>
          <a:lstStyle/>
          <a:p>
            <a:pPr algn="l"/>
            <a:r>
              <a:rPr sz="1300" b="1" i="0">
                <a:solidFill>
                  <a:srgbClr val="2E5597"/>
                </a:solidFill>
                <a:latin typeface="Calibri"/>
              </a:rPr>
              <a:t>NIVEAU 2</a:t>
            </a:r>
          </a:p>
        </p:txBody>
      </p:sp>
      <p:sp>
        <p:nvSpPr>
          <p:cNvPr id="18" name="TextBox 17"/>
          <p:cNvSpPr txBox="1"/>
          <p:nvPr/>
        </p:nvSpPr>
        <p:spPr>
          <a:xfrm>
            <a:off x="4688738" y="2011680"/>
            <a:ext cx="2814218" cy="548640"/>
          </a:xfrm>
          <a:prstGeom prst="rect">
            <a:avLst/>
          </a:prstGeom>
          <a:noFill/>
        </p:spPr>
        <p:txBody>
          <a:bodyPr wrap="square" lIns="18288" tIns="18288" rIns="18288" bIns="18288" anchor="t">
            <a:spAutoFit/>
          </a:bodyPr>
          <a:lstStyle/>
          <a:p>
            <a:pPr algn="l"/>
            <a:r>
              <a:rPr sz="3000" b="1" i="0">
                <a:solidFill>
                  <a:srgbClr val="1F3864"/>
                </a:solidFill>
                <a:latin typeface="Calibri"/>
              </a:rPr>
              <a:t>Spark</a:t>
            </a:r>
          </a:p>
        </p:txBody>
      </p:sp>
      <p:sp>
        <p:nvSpPr>
          <p:cNvPr id="19" name="TextBox 18"/>
          <p:cNvSpPr txBox="1"/>
          <p:nvPr/>
        </p:nvSpPr>
        <p:spPr>
          <a:xfrm>
            <a:off x="4688738" y="2651760"/>
            <a:ext cx="2814218" cy="457200"/>
          </a:xfrm>
          <a:prstGeom prst="rect">
            <a:avLst/>
          </a:prstGeom>
          <a:noFill/>
        </p:spPr>
        <p:txBody>
          <a:bodyPr wrap="square" lIns="18288" tIns="18288" rIns="18288" bIns="18288" anchor="t">
            <a:spAutoFit/>
          </a:bodyPr>
          <a:lstStyle/>
          <a:p>
            <a:pPr algn="l"/>
            <a:r>
              <a:rPr sz="1500" b="0" i="0">
                <a:solidFill>
                  <a:srgbClr val="5B6475"/>
                </a:solidFill>
                <a:latin typeface="Calibri"/>
              </a:rPr>
              <a:t>même moteur en PySpark</a:t>
            </a:r>
          </a:p>
        </p:txBody>
      </p:sp>
      <p:sp>
        <p:nvSpPr>
          <p:cNvPr id="20" name="TextBox 19"/>
          <p:cNvSpPr txBox="1"/>
          <p:nvPr/>
        </p:nvSpPr>
        <p:spPr>
          <a:xfrm>
            <a:off x="4688738" y="3154680"/>
            <a:ext cx="2814218" cy="914400"/>
          </a:xfrm>
          <a:prstGeom prst="rect">
            <a:avLst/>
          </a:prstGeom>
          <a:noFill/>
        </p:spPr>
        <p:txBody>
          <a:bodyPr wrap="square" lIns="18288" tIns="18288" rIns="18288" bIns="18288" anchor="t">
            <a:spAutoFit/>
          </a:bodyPr>
          <a:lstStyle/>
          <a:p>
            <a:pPr algn="l"/>
            <a:r>
              <a:rPr sz="1600" b="0" i="0">
                <a:solidFill>
                  <a:srgbClr val="1D2433"/>
                </a:solidFill>
                <a:latin typeface="Calibri"/>
              </a:rPr>
              <a:t>changer d'échelle </a:t>
            </a:r>
            <a:r>
              <a:rPr sz="1600" b="1" i="0">
                <a:solidFill>
                  <a:srgbClr val="1D2433"/>
                </a:solidFill>
                <a:latin typeface="Calibri"/>
              </a:rPr>
              <a:t>sans changer la logique</a:t>
            </a:r>
          </a:p>
        </p:txBody>
      </p:sp>
      <p:sp>
        <p:nvSpPr>
          <p:cNvPr id="21" name="Right Arrow 20"/>
          <p:cNvSpPr/>
          <p:nvPr/>
        </p:nvSpPr>
        <p:spPr>
          <a:xfrm>
            <a:off x="7850428" y="2606040"/>
            <a:ext cx="356616" cy="548640"/>
          </a:xfrm>
          <a:prstGeom prst="rightArrow">
            <a:avLst/>
          </a:prstGeom>
          <a:solidFill>
            <a:srgbClr val="C78400"/>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2" name="Rounded Rectangle 21"/>
          <p:cNvSpPr/>
          <p:nvPr/>
        </p:nvSpPr>
        <p:spPr>
          <a:xfrm>
            <a:off x="8280196" y="1554480"/>
            <a:ext cx="3362858" cy="26517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3" name="TextBox 22"/>
          <p:cNvSpPr txBox="1"/>
          <p:nvPr/>
        </p:nvSpPr>
        <p:spPr>
          <a:xfrm>
            <a:off x="8554516" y="1691640"/>
            <a:ext cx="2814218" cy="320040"/>
          </a:xfrm>
          <a:prstGeom prst="rect">
            <a:avLst/>
          </a:prstGeom>
          <a:noFill/>
        </p:spPr>
        <p:txBody>
          <a:bodyPr wrap="square" lIns="18288" tIns="18288" rIns="18288" bIns="18288" anchor="t">
            <a:spAutoFit/>
          </a:bodyPr>
          <a:lstStyle/>
          <a:p>
            <a:pPr algn="l"/>
            <a:r>
              <a:rPr sz="1300" b="1" i="0">
                <a:solidFill>
                  <a:srgbClr val="C78400"/>
                </a:solidFill>
                <a:latin typeface="Calibri"/>
              </a:rPr>
              <a:t>NIVEAU 3</a:t>
            </a:r>
          </a:p>
        </p:txBody>
      </p:sp>
      <p:sp>
        <p:nvSpPr>
          <p:cNvPr id="24" name="TextBox 23"/>
          <p:cNvSpPr txBox="1"/>
          <p:nvPr/>
        </p:nvSpPr>
        <p:spPr>
          <a:xfrm>
            <a:off x="8554516" y="2011680"/>
            <a:ext cx="2814218" cy="548640"/>
          </a:xfrm>
          <a:prstGeom prst="rect">
            <a:avLst/>
          </a:prstGeom>
          <a:noFill/>
        </p:spPr>
        <p:txBody>
          <a:bodyPr wrap="square" lIns="18288" tIns="18288" rIns="18288" bIns="18288" anchor="t">
            <a:spAutoFit/>
          </a:bodyPr>
          <a:lstStyle/>
          <a:p>
            <a:pPr algn="l"/>
            <a:r>
              <a:rPr sz="3000" b="1" i="0">
                <a:solidFill>
                  <a:srgbClr val="FFFFFF"/>
                </a:solidFill>
                <a:latin typeface="Calibri"/>
              </a:rPr>
              <a:t>Big Data</a:t>
            </a:r>
          </a:p>
        </p:txBody>
      </p:sp>
      <p:sp>
        <p:nvSpPr>
          <p:cNvPr id="25" name="TextBox 24"/>
          <p:cNvSpPr txBox="1"/>
          <p:nvPr/>
        </p:nvSpPr>
        <p:spPr>
          <a:xfrm>
            <a:off x="8554516" y="2651760"/>
            <a:ext cx="2814218" cy="457200"/>
          </a:xfrm>
          <a:prstGeom prst="rect">
            <a:avLst/>
          </a:prstGeom>
          <a:noFill/>
        </p:spPr>
        <p:txBody>
          <a:bodyPr wrap="square" lIns="18288" tIns="18288" rIns="18288" bIns="18288" anchor="t">
            <a:spAutoFit/>
          </a:bodyPr>
          <a:lstStyle/>
          <a:p>
            <a:pPr algn="l"/>
            <a:r>
              <a:rPr sz="1500" b="0" i="0">
                <a:solidFill>
                  <a:srgbClr val="E2E9F3"/>
                </a:solidFill>
                <a:latin typeface="Calibri"/>
              </a:rPr>
              <a:t>HDFS · Hive · Spark</a:t>
            </a:r>
          </a:p>
        </p:txBody>
      </p:sp>
      <p:sp>
        <p:nvSpPr>
          <p:cNvPr id="26" name="TextBox 25"/>
          <p:cNvSpPr txBox="1"/>
          <p:nvPr/>
        </p:nvSpPr>
        <p:spPr>
          <a:xfrm>
            <a:off x="8554516" y="3154680"/>
            <a:ext cx="2814218" cy="914400"/>
          </a:xfrm>
          <a:prstGeom prst="rect">
            <a:avLst/>
          </a:prstGeom>
          <a:noFill/>
        </p:spPr>
        <p:txBody>
          <a:bodyPr wrap="square" lIns="18288" tIns="18288" rIns="18288" bIns="18288" anchor="t">
            <a:spAutoFit/>
          </a:bodyPr>
          <a:lstStyle/>
          <a:p>
            <a:pPr algn="l"/>
            <a:r>
              <a:rPr sz="1600" b="0" i="0">
                <a:solidFill>
                  <a:srgbClr val="FFFFFF"/>
                </a:solidFill>
                <a:latin typeface="Calibri"/>
              </a:rPr>
              <a:t>lac Medallion rejouable et planifiable</a:t>
            </a:r>
          </a:p>
        </p:txBody>
      </p:sp>
      <p:sp>
        <p:nvSpPr>
          <p:cNvPr id="27" name="Rounded Rectangle 26"/>
          <p:cNvSpPr/>
          <p:nvPr/>
        </p:nvSpPr>
        <p:spPr>
          <a:xfrm>
            <a:off x="548640" y="4480560"/>
            <a:ext cx="2377440" cy="713232"/>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700" b="1" i="0">
                <a:solidFill>
                  <a:srgbClr val="1D2433"/>
                </a:solidFill>
                <a:latin typeface="Calibri"/>
              </a:rPr>
              <a:t>Validation</a:t>
            </a:r>
          </a:p>
        </p:txBody>
      </p:sp>
      <p:sp>
        <p:nvSpPr>
          <p:cNvPr id="28" name="TextBox 27"/>
          <p:cNvSpPr txBox="1"/>
          <p:nvPr/>
        </p:nvSpPr>
        <p:spPr>
          <a:xfrm>
            <a:off x="3154680" y="4480560"/>
            <a:ext cx="8488375" cy="713232"/>
          </a:xfrm>
          <a:prstGeom prst="rect">
            <a:avLst/>
          </a:prstGeom>
          <a:noFill/>
        </p:spPr>
        <p:txBody>
          <a:bodyPr wrap="square" lIns="18288" tIns="18288" rIns="18288" bIns="18288" anchor="ctr">
            <a:spAutoFit/>
          </a:bodyPr>
          <a:lstStyle/>
          <a:p>
            <a:pPr algn="l"/>
            <a:r>
              <a:rPr sz="1700" b="0" i="0">
                <a:solidFill>
                  <a:srgbClr val="1D2433"/>
                </a:solidFill>
                <a:latin typeface="Calibri"/>
              </a:rPr>
              <a:t>vérité terrain avant le passage à l'échelle</a:t>
            </a:r>
          </a:p>
        </p:txBody>
      </p:sp>
      <p:sp>
        <p:nvSpPr>
          <p:cNvPr id="29" name="Rounded Rectangle 28"/>
          <p:cNvSpPr/>
          <p:nvPr/>
        </p:nvSpPr>
        <p:spPr>
          <a:xfrm>
            <a:off x="548640" y="5349240"/>
            <a:ext cx="2377440" cy="713232"/>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700" b="1" i="0">
                <a:solidFill>
                  <a:srgbClr val="1D2433"/>
                </a:solidFill>
                <a:latin typeface="Calibri"/>
              </a:rPr>
              <a:t>Gouvernance</a:t>
            </a:r>
          </a:p>
        </p:txBody>
      </p:sp>
      <p:sp>
        <p:nvSpPr>
          <p:cNvPr id="30" name="TextBox 29"/>
          <p:cNvSpPr txBox="1"/>
          <p:nvPr/>
        </p:nvSpPr>
        <p:spPr>
          <a:xfrm>
            <a:off x="3154680" y="5349240"/>
            <a:ext cx="8488375" cy="713232"/>
          </a:xfrm>
          <a:prstGeom prst="rect">
            <a:avLst/>
          </a:prstGeom>
          <a:noFill/>
        </p:spPr>
        <p:txBody>
          <a:bodyPr wrap="square" lIns="18288" tIns="18288" rIns="18288" bIns="18288" anchor="ctr">
            <a:spAutoFit/>
          </a:bodyPr>
          <a:lstStyle/>
          <a:p>
            <a:pPr algn="l"/>
            <a:r>
              <a:rPr sz="1700" b="0" i="0">
                <a:solidFill>
                  <a:srgbClr val="1D2433"/>
                </a:solidFill>
                <a:latin typeface="Calibri"/>
              </a:rPr>
              <a:t>consentement, audit et API sur la zone GOLD</a:t>
            </a:r>
          </a:p>
        </p:txBody>
      </p:sp>
      <p:sp>
        <p:nvSpPr>
          <p:cNvPr id="31" name="TextBox 30"/>
          <p:cNvSpPr txBox="1"/>
          <p:nvPr/>
        </p:nvSpPr>
        <p:spPr>
          <a:xfrm>
            <a:off x="548640" y="6035040"/>
            <a:ext cx="11094415" cy="274320"/>
          </a:xfrm>
          <a:prstGeom prst="rect">
            <a:avLst/>
          </a:prstGeom>
          <a:noFill/>
        </p:spPr>
        <p:txBody>
          <a:bodyPr wrap="square" lIns="18288" tIns="18288" rIns="18288" bIns="18288" anchor="t">
            <a:spAutoFit/>
          </a:bodyPr>
          <a:lstStyle/>
          <a:p>
            <a:pPr algn="l"/>
            <a:r>
              <a:rPr sz="1300" b="0" i="1">
                <a:solidFill>
                  <a:srgbClr val="5B6475"/>
                </a:solidFill>
                <a:latin typeface="Calibri"/>
              </a:rPr>
              <a:t>Deux étapes transverses : on ne passe à l'échelle, et on n'ouvre les accès, qu'une fois la preuve établie.</a:t>
            </a:r>
          </a:p>
        </p:txBody>
      </p:sp>
    </p:spTree>
    <p:extLst>
      <p:ext uri="{BB962C8B-B14F-4D97-AF65-F5344CB8AC3E}">
        <p14:creationId xmlns:p14="http://schemas.microsoft.com/office/powerpoint/2010/main" val="3795437009"/>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12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SOLUTION PROPOSÉE</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Architecture : de la source à l'API gouvernée</a:t>
            </a:r>
          </a:p>
        </p:txBody>
      </p:sp>
      <p:sp>
        <p:nvSpPr>
          <p:cNvPr id="10" name="TextBox 9"/>
          <p:cNvSpPr txBox="1"/>
          <p:nvPr/>
        </p:nvSpPr>
        <p:spPr>
          <a:xfrm>
            <a:off x="548640" y="1645920"/>
            <a:ext cx="1920240" cy="274320"/>
          </a:xfrm>
          <a:prstGeom prst="rect">
            <a:avLst/>
          </a:prstGeom>
          <a:noFill/>
        </p:spPr>
        <p:txBody>
          <a:bodyPr wrap="square" lIns="18288" tIns="18288" rIns="18288" bIns="18288" anchor="t">
            <a:spAutoFit/>
          </a:bodyPr>
          <a:lstStyle/>
          <a:p>
            <a:pPr algn="l"/>
            <a:r>
              <a:rPr sz="1200" b="1" i="0">
                <a:solidFill>
                  <a:srgbClr val="2E5597"/>
                </a:solidFill>
                <a:latin typeface="Calibri"/>
              </a:rPr>
              <a:t>SOURCES</a:t>
            </a:r>
          </a:p>
        </p:txBody>
      </p:sp>
      <p:sp>
        <p:nvSpPr>
          <p:cNvPr id="11" name="Rounded Rectangle 10"/>
          <p:cNvSpPr/>
          <p:nvPr/>
        </p:nvSpPr>
        <p:spPr>
          <a:xfrm>
            <a:off x="548640" y="1965960"/>
            <a:ext cx="1920240" cy="530352"/>
          </a:xfrm>
          <a:prstGeom prst="roundRect">
            <a:avLst>
              <a:gd name="adj" fmla="val 8000"/>
            </a:avLst>
          </a:prstGeom>
          <a:solidFill>
            <a:srgbClr val="FFFFFF"/>
          </a:solidFill>
          <a:ln w="15875">
            <a:solidFill>
              <a:srgbClr val="C9D2E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0" i="0">
                <a:solidFill>
                  <a:srgbClr val="1D2433"/>
                </a:solidFill>
                <a:latin typeface="Calibri"/>
              </a:rPr>
              <a:t>Pharmacie</a:t>
            </a:r>
          </a:p>
        </p:txBody>
      </p:sp>
      <p:sp>
        <p:nvSpPr>
          <p:cNvPr id="12" name="Rounded Rectangle 11"/>
          <p:cNvSpPr/>
          <p:nvPr/>
        </p:nvSpPr>
        <p:spPr>
          <a:xfrm>
            <a:off x="548640" y="2624328"/>
            <a:ext cx="1920240" cy="530352"/>
          </a:xfrm>
          <a:prstGeom prst="roundRect">
            <a:avLst>
              <a:gd name="adj" fmla="val 8000"/>
            </a:avLst>
          </a:prstGeom>
          <a:solidFill>
            <a:srgbClr val="FFFFFF"/>
          </a:solidFill>
          <a:ln w="15875">
            <a:solidFill>
              <a:srgbClr val="C9D2E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0" i="0">
                <a:solidFill>
                  <a:srgbClr val="1D2433"/>
                </a:solidFill>
                <a:latin typeface="Calibri"/>
              </a:rPr>
              <a:t>Consultation</a:t>
            </a:r>
          </a:p>
        </p:txBody>
      </p:sp>
      <p:sp>
        <p:nvSpPr>
          <p:cNvPr id="13" name="Rounded Rectangle 12"/>
          <p:cNvSpPr/>
          <p:nvPr/>
        </p:nvSpPr>
        <p:spPr>
          <a:xfrm>
            <a:off x="548640" y="3282696"/>
            <a:ext cx="1920240" cy="530352"/>
          </a:xfrm>
          <a:prstGeom prst="roundRect">
            <a:avLst>
              <a:gd name="adj" fmla="val 8000"/>
            </a:avLst>
          </a:prstGeom>
          <a:solidFill>
            <a:srgbClr val="FFFFFF"/>
          </a:solidFill>
          <a:ln w="15875">
            <a:solidFill>
              <a:srgbClr val="C9D2E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0" i="0">
                <a:solidFill>
                  <a:srgbClr val="1D2433"/>
                </a:solidFill>
                <a:latin typeface="Calibri"/>
              </a:rPr>
              <a:t>Imagerie</a:t>
            </a:r>
          </a:p>
        </p:txBody>
      </p:sp>
      <p:sp>
        <p:nvSpPr>
          <p:cNvPr id="14" name="TextBox 13"/>
          <p:cNvSpPr txBox="1"/>
          <p:nvPr/>
        </p:nvSpPr>
        <p:spPr>
          <a:xfrm>
            <a:off x="3063240" y="1645920"/>
            <a:ext cx="6172200" cy="274320"/>
          </a:xfrm>
          <a:prstGeom prst="rect">
            <a:avLst/>
          </a:prstGeom>
          <a:noFill/>
        </p:spPr>
        <p:txBody>
          <a:bodyPr wrap="square" lIns="18288" tIns="18288" rIns="18288" bIns="18288" anchor="t">
            <a:spAutoFit/>
          </a:bodyPr>
          <a:lstStyle/>
          <a:p>
            <a:pPr algn="l"/>
            <a:r>
              <a:rPr sz="1200" b="1" i="0">
                <a:solidFill>
                  <a:srgbClr val="2E5597"/>
                </a:solidFill>
                <a:latin typeface="Calibri"/>
              </a:rPr>
              <a:t>LAC DE DONNÉES — HDFS · HIVE · SPARK</a:t>
            </a:r>
          </a:p>
        </p:txBody>
      </p:sp>
      <p:sp>
        <p:nvSpPr>
          <p:cNvPr id="15" name="Rounded Rectangle 14"/>
          <p:cNvSpPr/>
          <p:nvPr/>
        </p:nvSpPr>
        <p:spPr>
          <a:xfrm>
            <a:off x="3063240" y="1965960"/>
            <a:ext cx="1783080" cy="1847088"/>
          </a:xfrm>
          <a:prstGeom prst="roundRect">
            <a:avLst>
              <a:gd name="adj" fmla="val 8000"/>
            </a:avLst>
          </a:prstGeom>
          <a:solidFill>
            <a:srgbClr val="FFFFFF"/>
          </a:solidFill>
          <a:ln w="31750">
            <a:solidFill>
              <a:srgbClr val="8A6F55"/>
            </a:solid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6" name="TextBox 15"/>
          <p:cNvSpPr txBox="1"/>
          <p:nvPr/>
        </p:nvSpPr>
        <p:spPr>
          <a:xfrm>
            <a:off x="3154680" y="2103120"/>
            <a:ext cx="1600200" cy="457200"/>
          </a:xfrm>
          <a:prstGeom prst="rect">
            <a:avLst/>
          </a:prstGeom>
          <a:noFill/>
        </p:spPr>
        <p:txBody>
          <a:bodyPr wrap="square" lIns="18288" tIns="18288" rIns="18288" bIns="18288" anchor="t">
            <a:spAutoFit/>
          </a:bodyPr>
          <a:lstStyle/>
          <a:p>
            <a:pPr algn="ctr"/>
            <a:r>
              <a:rPr sz="2200" b="1" i="0">
                <a:solidFill>
                  <a:srgbClr val="8A6F55"/>
                </a:solidFill>
                <a:latin typeface="Calibri"/>
              </a:rPr>
              <a:t>RAW</a:t>
            </a:r>
          </a:p>
        </p:txBody>
      </p:sp>
      <p:sp>
        <p:nvSpPr>
          <p:cNvPr id="17" name="TextBox 16"/>
          <p:cNvSpPr txBox="1"/>
          <p:nvPr/>
        </p:nvSpPr>
        <p:spPr>
          <a:xfrm>
            <a:off x="3154680" y="2606040"/>
            <a:ext cx="1600200" cy="1097280"/>
          </a:xfrm>
          <a:prstGeom prst="rect">
            <a:avLst/>
          </a:prstGeom>
          <a:noFill/>
        </p:spPr>
        <p:txBody>
          <a:bodyPr wrap="square" lIns="18288" tIns="18288" rIns="18288" bIns="18288" anchor="t">
            <a:spAutoFit/>
          </a:bodyPr>
          <a:lstStyle/>
          <a:p>
            <a:pPr algn="ctr"/>
            <a:r>
              <a:rPr sz="1300" b="0" i="0">
                <a:solidFill>
                  <a:srgbClr val="1D2433"/>
                </a:solidFill>
                <a:latin typeface="Calibri"/>
              </a:rPr>
              <a:t>brut, inchangé</a:t>
            </a:r>
          </a:p>
        </p:txBody>
      </p:sp>
      <p:cxnSp>
        <p:nvCxnSpPr>
          <p:cNvPr id="18" name="Connector 17"/>
          <p:cNvCxnSpPr/>
          <p:nvPr/>
        </p:nvCxnSpPr>
        <p:spPr>
          <a:xfrm>
            <a:off x="4892040" y="2880360"/>
            <a:ext cx="320040" cy="0"/>
          </a:xfrm>
          <a:prstGeom prst="line">
            <a:avLst/>
          </a:prstGeom>
          <a:ln w="28575">
            <a:solidFill>
              <a:srgbClr val="2E55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257800" y="1965960"/>
            <a:ext cx="1783080" cy="1847088"/>
          </a:xfrm>
          <a:prstGeom prst="roundRect">
            <a:avLst>
              <a:gd name="adj" fmla="val 8000"/>
            </a:avLst>
          </a:prstGeom>
          <a:solidFill>
            <a:srgbClr val="FFFFFF"/>
          </a:solidFill>
          <a:ln w="31750">
            <a:solidFill>
              <a:srgbClr val="6F7B8C"/>
            </a:solid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0" name="TextBox 19"/>
          <p:cNvSpPr txBox="1"/>
          <p:nvPr/>
        </p:nvSpPr>
        <p:spPr>
          <a:xfrm>
            <a:off x="5349240" y="2103120"/>
            <a:ext cx="1600200" cy="457200"/>
          </a:xfrm>
          <a:prstGeom prst="rect">
            <a:avLst/>
          </a:prstGeom>
          <a:noFill/>
        </p:spPr>
        <p:txBody>
          <a:bodyPr wrap="square" lIns="18288" tIns="18288" rIns="18288" bIns="18288" anchor="t">
            <a:spAutoFit/>
          </a:bodyPr>
          <a:lstStyle/>
          <a:p>
            <a:pPr algn="ctr"/>
            <a:r>
              <a:rPr sz="2200" b="1" i="0">
                <a:solidFill>
                  <a:srgbClr val="6F7B8C"/>
                </a:solidFill>
                <a:latin typeface="Calibri"/>
              </a:rPr>
              <a:t>SILVER</a:t>
            </a:r>
          </a:p>
        </p:txBody>
      </p:sp>
      <p:sp>
        <p:nvSpPr>
          <p:cNvPr id="21" name="TextBox 20"/>
          <p:cNvSpPr txBox="1"/>
          <p:nvPr/>
        </p:nvSpPr>
        <p:spPr>
          <a:xfrm>
            <a:off x="5349240" y="2606040"/>
            <a:ext cx="1600200" cy="1097280"/>
          </a:xfrm>
          <a:prstGeom prst="rect">
            <a:avLst/>
          </a:prstGeom>
          <a:noFill/>
        </p:spPr>
        <p:txBody>
          <a:bodyPr wrap="square" lIns="18288" tIns="18288" rIns="18288" bIns="18288" anchor="t">
            <a:spAutoFit/>
          </a:bodyPr>
          <a:lstStyle/>
          <a:p>
            <a:pPr algn="ctr"/>
            <a:r>
              <a:rPr sz="1300" b="0" i="0">
                <a:solidFill>
                  <a:srgbClr val="1D2433"/>
                </a:solidFill>
                <a:latin typeface="Calibri"/>
              </a:rPr>
              <a:t>FHIR normalisé</a:t>
            </a:r>
          </a:p>
          <a:p>
            <a:pPr algn="ctr"/>
            <a:r>
              <a:rPr sz="1300" b="0" i="0">
                <a:solidFill>
                  <a:srgbClr val="1D2433"/>
                </a:solidFill>
                <a:latin typeface="Calibri"/>
              </a:rPr>
              <a:t>+ patient maître</a:t>
            </a:r>
          </a:p>
        </p:txBody>
      </p:sp>
      <p:cxnSp>
        <p:nvCxnSpPr>
          <p:cNvPr id="22" name="Connector 21"/>
          <p:cNvCxnSpPr/>
          <p:nvPr/>
        </p:nvCxnSpPr>
        <p:spPr>
          <a:xfrm>
            <a:off x="7086600" y="2880360"/>
            <a:ext cx="320040" cy="0"/>
          </a:xfrm>
          <a:prstGeom prst="line">
            <a:avLst/>
          </a:prstGeom>
          <a:ln w="28575">
            <a:solidFill>
              <a:srgbClr val="2E55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52360" y="1965960"/>
            <a:ext cx="1783080" cy="1847088"/>
          </a:xfrm>
          <a:prstGeom prst="roundRect">
            <a:avLst>
              <a:gd name="adj" fmla="val 8000"/>
            </a:avLst>
          </a:prstGeom>
          <a:solidFill>
            <a:srgbClr val="FFFFFF"/>
          </a:solidFill>
          <a:ln w="31750">
            <a:solidFill>
              <a:srgbClr val="B8860B"/>
            </a:solid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4" name="TextBox 23"/>
          <p:cNvSpPr txBox="1"/>
          <p:nvPr/>
        </p:nvSpPr>
        <p:spPr>
          <a:xfrm>
            <a:off x="7543800" y="2103120"/>
            <a:ext cx="1600200" cy="457200"/>
          </a:xfrm>
          <a:prstGeom prst="rect">
            <a:avLst/>
          </a:prstGeom>
          <a:noFill/>
        </p:spPr>
        <p:txBody>
          <a:bodyPr wrap="square" lIns="18288" tIns="18288" rIns="18288" bIns="18288" anchor="t">
            <a:spAutoFit/>
          </a:bodyPr>
          <a:lstStyle/>
          <a:p>
            <a:pPr algn="ctr"/>
            <a:r>
              <a:rPr sz="2200" b="1" i="0">
                <a:solidFill>
                  <a:srgbClr val="B8860B"/>
                </a:solidFill>
                <a:latin typeface="Calibri"/>
              </a:rPr>
              <a:t>GOLD</a:t>
            </a:r>
          </a:p>
        </p:txBody>
      </p:sp>
      <p:sp>
        <p:nvSpPr>
          <p:cNvPr id="25" name="TextBox 24"/>
          <p:cNvSpPr txBox="1"/>
          <p:nvPr/>
        </p:nvSpPr>
        <p:spPr>
          <a:xfrm>
            <a:off x="7543800" y="2606040"/>
            <a:ext cx="1600200" cy="1097280"/>
          </a:xfrm>
          <a:prstGeom prst="rect">
            <a:avLst/>
          </a:prstGeom>
          <a:noFill/>
        </p:spPr>
        <p:txBody>
          <a:bodyPr wrap="square" lIns="18288" tIns="18288" rIns="18288" bIns="18288" anchor="t">
            <a:spAutoFit/>
          </a:bodyPr>
          <a:lstStyle/>
          <a:p>
            <a:pPr algn="ctr"/>
            <a:r>
              <a:rPr sz="1300" b="0" i="0">
                <a:solidFill>
                  <a:srgbClr val="1D2433"/>
                </a:solidFill>
                <a:latin typeface="Calibri"/>
              </a:rPr>
              <a:t>agrégats</a:t>
            </a:r>
          </a:p>
          <a:p>
            <a:pPr algn="ctr"/>
            <a:r>
              <a:rPr sz="1300" b="0" i="0">
                <a:solidFill>
                  <a:srgbClr val="1D2433"/>
                </a:solidFill>
                <a:latin typeface="Calibri"/>
              </a:rPr>
              <a:t>+ consentement</a:t>
            </a:r>
          </a:p>
        </p:txBody>
      </p:sp>
      <p:cxnSp>
        <p:nvCxnSpPr>
          <p:cNvPr id="26" name="Connector 25"/>
          <p:cNvCxnSpPr/>
          <p:nvPr/>
        </p:nvCxnSpPr>
        <p:spPr>
          <a:xfrm>
            <a:off x="2514600" y="2880360"/>
            <a:ext cx="502920" cy="0"/>
          </a:xfrm>
          <a:prstGeom prst="line">
            <a:avLst/>
          </a:prstGeom>
          <a:ln w="28575">
            <a:solidFill>
              <a:srgbClr val="2E55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029200" y="4206240"/>
            <a:ext cx="2240280" cy="77724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300" b="1" i="0">
                <a:solidFill>
                  <a:srgbClr val="1D2433"/>
                </a:solidFill>
                <a:latin typeface="Calibri"/>
              </a:rPr>
              <a:t>Moteur de déduplication</a:t>
            </a:r>
          </a:p>
          <a:p>
            <a:pPr algn="ctr"/>
            <a:r>
              <a:rPr sz="1300" b="0" i="0">
                <a:solidFill>
                  <a:srgbClr val="1D2433"/>
                </a:solidFill>
                <a:latin typeface="Calibri"/>
              </a:rPr>
              <a:t>exact + probabiliste</a:t>
            </a:r>
          </a:p>
        </p:txBody>
      </p:sp>
      <p:cxnSp>
        <p:nvCxnSpPr>
          <p:cNvPr id="28" name="Connector 27"/>
          <p:cNvCxnSpPr/>
          <p:nvPr/>
        </p:nvCxnSpPr>
        <p:spPr>
          <a:xfrm flipV="1">
            <a:off x="6149340" y="3858768"/>
            <a:ext cx="0" cy="301752"/>
          </a:xfrm>
          <a:prstGeom prst="line">
            <a:avLst/>
          </a:prstGeom>
          <a:ln w="28575">
            <a:solidFill>
              <a:srgbClr val="C78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9692640" y="1965960"/>
            <a:ext cx="1950415" cy="1051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FFFFFF"/>
                </a:solidFill>
                <a:latin typeface="Calibri"/>
              </a:rPr>
              <a:t>API de gouvernance</a:t>
            </a:r>
          </a:p>
          <a:p>
            <a:pPr algn="ctr"/>
            <a:r>
              <a:rPr sz="1400" b="0" i="0">
                <a:solidFill>
                  <a:srgbClr val="FFFFFF"/>
                </a:solidFill>
                <a:latin typeface="Calibri"/>
              </a:rPr>
              <a:t>rôle · finalité · consentement</a:t>
            </a:r>
          </a:p>
        </p:txBody>
      </p:sp>
      <p:cxnSp>
        <p:nvCxnSpPr>
          <p:cNvPr id="30" name="Connector 29"/>
          <p:cNvCxnSpPr/>
          <p:nvPr/>
        </p:nvCxnSpPr>
        <p:spPr>
          <a:xfrm>
            <a:off x="9281160" y="2487168"/>
            <a:ext cx="365759" cy="0"/>
          </a:xfrm>
          <a:prstGeom prst="line">
            <a:avLst/>
          </a:prstGeom>
          <a:ln w="28575">
            <a:solidFill>
              <a:srgbClr val="2E55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692640" y="3291840"/>
            <a:ext cx="1950415" cy="1051560"/>
          </a:xfrm>
          <a:prstGeom prst="roundRect">
            <a:avLst>
              <a:gd name="adj" fmla="val 8000"/>
            </a:avLst>
          </a:prstGeom>
          <a:solidFill>
            <a:srgbClr val="E2E9F3"/>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1D2433"/>
                </a:solidFill>
                <a:latin typeface="Calibri"/>
              </a:rPr>
              <a:t>PostgreSQL</a:t>
            </a:r>
          </a:p>
          <a:p>
            <a:pPr algn="ctr"/>
            <a:r>
              <a:rPr sz="1400" b="0" i="0">
                <a:solidFill>
                  <a:srgbClr val="1D2433"/>
                </a:solidFill>
                <a:latin typeface="Calibri"/>
              </a:rPr>
              <a:t>patients maîtres · consentements · audit</a:t>
            </a:r>
          </a:p>
        </p:txBody>
      </p:sp>
      <p:cxnSp>
        <p:nvCxnSpPr>
          <p:cNvPr id="32" name="Connector 31"/>
          <p:cNvCxnSpPr/>
          <p:nvPr/>
        </p:nvCxnSpPr>
        <p:spPr>
          <a:xfrm flipV="1">
            <a:off x="10667847" y="3044952"/>
            <a:ext cx="0" cy="219456"/>
          </a:xfrm>
          <a:prstGeom prst="line">
            <a:avLst/>
          </a:prstGeom>
          <a:ln w="28575">
            <a:solidFill>
              <a:srgbClr val="2E55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692640" y="4617720"/>
            <a:ext cx="1950415" cy="566928"/>
          </a:xfrm>
          <a:prstGeom prst="roundRect">
            <a:avLst>
              <a:gd name="adj" fmla="val 8000"/>
            </a:avLst>
          </a:prstGeom>
          <a:solidFill>
            <a:srgbClr val="FFFFFF"/>
          </a:solidFill>
          <a:ln w="15875">
            <a:solidFill>
              <a:srgbClr val="C9D2E0"/>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300" b="0" i="0">
                <a:solidFill>
                  <a:srgbClr val="1D2433"/>
                </a:solidFill>
                <a:latin typeface="Calibri"/>
              </a:rPr>
              <a:t>Journal d'audit de chaque appel</a:t>
            </a:r>
          </a:p>
        </p:txBody>
      </p:sp>
      <p:cxnSp>
        <p:nvCxnSpPr>
          <p:cNvPr id="34" name="Connector 33"/>
          <p:cNvCxnSpPr/>
          <p:nvPr/>
        </p:nvCxnSpPr>
        <p:spPr>
          <a:xfrm>
            <a:off x="10667847" y="4370832"/>
            <a:ext cx="0" cy="219456"/>
          </a:xfrm>
          <a:prstGeom prst="line">
            <a:avLst/>
          </a:prstGeom>
          <a:ln w="28575">
            <a:solidFill>
              <a:srgbClr val="2E559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5577840"/>
            <a:ext cx="2011680" cy="365760"/>
          </a:xfrm>
          <a:prstGeom prst="rect">
            <a:avLst/>
          </a:prstGeom>
          <a:noFill/>
        </p:spPr>
        <p:txBody>
          <a:bodyPr wrap="square" lIns="18288" tIns="18288" rIns="18288" bIns="18288" anchor="t">
            <a:spAutoFit/>
          </a:bodyPr>
          <a:lstStyle/>
          <a:p>
            <a:pPr algn="l"/>
            <a:r>
              <a:rPr sz="1400" b="1" i="0">
                <a:solidFill>
                  <a:srgbClr val="5B6475"/>
                </a:solidFill>
                <a:latin typeface="Calibri"/>
              </a:rPr>
              <a:t>Outils libres :</a:t>
            </a:r>
          </a:p>
        </p:txBody>
      </p:sp>
      <p:pic>
        <p:nvPicPr>
          <p:cNvPr id="36" name="Picture 35" descr="hadoop.png"/>
          <p:cNvPicPr>
            <a:picLocks noChangeAspect="1"/>
          </p:cNvPicPr>
          <p:nvPr/>
        </p:nvPicPr>
        <p:blipFill>
          <a:blip r:embed="rId7"/>
          <a:stretch>
            <a:fillRect/>
          </a:stretch>
        </p:blipFill>
        <p:spPr>
          <a:xfrm>
            <a:off x="2514600" y="5394959"/>
            <a:ext cx="927912" cy="324769"/>
          </a:xfrm>
          <a:prstGeom prst="rect">
            <a:avLst/>
          </a:prstGeom>
        </p:spPr>
      </p:pic>
      <p:pic>
        <p:nvPicPr>
          <p:cNvPr id="37" name="Picture 36" descr="hive.png"/>
          <p:cNvPicPr>
            <a:picLocks noChangeAspect="1"/>
          </p:cNvPicPr>
          <p:nvPr/>
        </p:nvPicPr>
        <p:blipFill>
          <a:blip r:embed="rId8"/>
          <a:stretch>
            <a:fillRect/>
          </a:stretch>
        </p:blipFill>
        <p:spPr>
          <a:xfrm>
            <a:off x="3533952" y="5394959"/>
            <a:ext cx="927912" cy="324769"/>
          </a:xfrm>
          <a:prstGeom prst="rect">
            <a:avLst/>
          </a:prstGeom>
        </p:spPr>
      </p:pic>
      <p:pic>
        <p:nvPicPr>
          <p:cNvPr id="38" name="Picture 37" descr="spark.png"/>
          <p:cNvPicPr>
            <a:picLocks noChangeAspect="1"/>
          </p:cNvPicPr>
          <p:nvPr/>
        </p:nvPicPr>
        <p:blipFill>
          <a:blip r:embed="rId9"/>
          <a:stretch>
            <a:fillRect/>
          </a:stretch>
        </p:blipFill>
        <p:spPr>
          <a:xfrm>
            <a:off x="4553305" y="5394959"/>
            <a:ext cx="927912" cy="324769"/>
          </a:xfrm>
          <a:prstGeom prst="rect">
            <a:avLst/>
          </a:prstGeom>
        </p:spPr>
      </p:pic>
      <p:pic>
        <p:nvPicPr>
          <p:cNvPr id="39" name="Picture 38" descr="python.png"/>
          <p:cNvPicPr>
            <a:picLocks noChangeAspect="1"/>
          </p:cNvPicPr>
          <p:nvPr/>
        </p:nvPicPr>
        <p:blipFill>
          <a:blip r:embed="rId10"/>
          <a:stretch>
            <a:fillRect/>
          </a:stretch>
        </p:blipFill>
        <p:spPr>
          <a:xfrm>
            <a:off x="5572658" y="5394959"/>
            <a:ext cx="927912" cy="324769"/>
          </a:xfrm>
          <a:prstGeom prst="rect">
            <a:avLst/>
          </a:prstGeom>
        </p:spPr>
      </p:pic>
      <p:pic>
        <p:nvPicPr>
          <p:cNvPr id="40" name="Picture 39" descr="pandas.png"/>
          <p:cNvPicPr>
            <a:picLocks noChangeAspect="1"/>
          </p:cNvPicPr>
          <p:nvPr/>
        </p:nvPicPr>
        <p:blipFill>
          <a:blip r:embed="rId11"/>
          <a:stretch>
            <a:fillRect/>
          </a:stretch>
        </p:blipFill>
        <p:spPr>
          <a:xfrm>
            <a:off x="6592011" y="5394959"/>
            <a:ext cx="927912" cy="324769"/>
          </a:xfrm>
          <a:prstGeom prst="rect">
            <a:avLst/>
          </a:prstGeom>
        </p:spPr>
      </p:pic>
      <p:pic>
        <p:nvPicPr>
          <p:cNvPr id="41" name="Picture 40" descr="rapidfuzz.png"/>
          <p:cNvPicPr>
            <a:picLocks noChangeAspect="1"/>
          </p:cNvPicPr>
          <p:nvPr/>
        </p:nvPicPr>
        <p:blipFill>
          <a:blip r:embed="rId12"/>
          <a:stretch>
            <a:fillRect/>
          </a:stretch>
        </p:blipFill>
        <p:spPr>
          <a:xfrm>
            <a:off x="7611364" y="5394959"/>
            <a:ext cx="927912" cy="324769"/>
          </a:xfrm>
          <a:prstGeom prst="rect">
            <a:avLst/>
          </a:prstGeom>
        </p:spPr>
      </p:pic>
      <p:pic>
        <p:nvPicPr>
          <p:cNvPr id="42" name="Picture 41" descr="postgresql.png"/>
          <p:cNvPicPr>
            <a:picLocks noChangeAspect="1"/>
          </p:cNvPicPr>
          <p:nvPr/>
        </p:nvPicPr>
        <p:blipFill>
          <a:blip r:embed="rId13"/>
          <a:stretch>
            <a:fillRect/>
          </a:stretch>
        </p:blipFill>
        <p:spPr>
          <a:xfrm>
            <a:off x="8630716" y="5394959"/>
            <a:ext cx="927912" cy="324769"/>
          </a:xfrm>
          <a:prstGeom prst="rect">
            <a:avLst/>
          </a:prstGeom>
        </p:spPr>
      </p:pic>
      <p:pic>
        <p:nvPicPr>
          <p:cNvPr id="43" name="Picture 42" descr="fastapi.png"/>
          <p:cNvPicPr>
            <a:picLocks noChangeAspect="1"/>
          </p:cNvPicPr>
          <p:nvPr/>
        </p:nvPicPr>
        <p:blipFill>
          <a:blip r:embed="rId14"/>
          <a:stretch>
            <a:fillRect/>
          </a:stretch>
        </p:blipFill>
        <p:spPr>
          <a:xfrm>
            <a:off x="9650069" y="5394959"/>
            <a:ext cx="927912" cy="324769"/>
          </a:xfrm>
          <a:prstGeom prst="rect">
            <a:avLst/>
          </a:prstGeom>
        </p:spPr>
      </p:pic>
      <p:pic>
        <p:nvPicPr>
          <p:cNvPr id="44" name="Picture 43" descr="vagrant.png"/>
          <p:cNvPicPr>
            <a:picLocks noChangeAspect="1"/>
          </p:cNvPicPr>
          <p:nvPr/>
        </p:nvPicPr>
        <p:blipFill>
          <a:blip r:embed="rId15"/>
          <a:stretch>
            <a:fillRect/>
          </a:stretch>
        </p:blipFill>
        <p:spPr>
          <a:xfrm>
            <a:off x="10669422" y="5394959"/>
            <a:ext cx="927912" cy="324769"/>
          </a:xfrm>
          <a:prstGeom prst="rect">
            <a:avLst/>
          </a:prstGeom>
        </p:spPr>
      </p:pic>
    </p:spTree>
    <p:extLst>
      <p:ext uri="{BB962C8B-B14F-4D97-AF65-F5344CB8AC3E}">
        <p14:creationId xmlns:p14="http://schemas.microsoft.com/office/powerpoint/2010/main" val="465070843"/>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13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FONCTIONNALITÉS PRINCIPALES</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Déduplication explicable : jamais de fusion sans justification</a:t>
            </a:r>
          </a:p>
        </p:txBody>
      </p:sp>
      <p:sp>
        <p:nvSpPr>
          <p:cNvPr id="10" name="Oval 9"/>
          <p:cNvSpPr/>
          <p:nvPr/>
        </p:nvSpPr>
        <p:spPr>
          <a:xfrm>
            <a:off x="548640" y="1664207"/>
            <a:ext cx="603504" cy="60350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1</a:t>
            </a:r>
          </a:p>
        </p:txBody>
      </p:sp>
      <p:sp>
        <p:nvSpPr>
          <p:cNvPr id="11" name="TextBox 10"/>
          <p:cNvSpPr txBox="1"/>
          <p:nvPr/>
        </p:nvSpPr>
        <p:spPr>
          <a:xfrm>
            <a:off x="1325880" y="1572768"/>
            <a:ext cx="4754880" cy="384048"/>
          </a:xfrm>
          <a:prstGeom prst="rect">
            <a:avLst/>
          </a:prstGeom>
          <a:noFill/>
        </p:spPr>
        <p:txBody>
          <a:bodyPr wrap="square" lIns="18288" tIns="18288" rIns="18288" bIns="18288" anchor="t">
            <a:spAutoFit/>
          </a:bodyPr>
          <a:lstStyle/>
          <a:p>
            <a:pPr algn="l"/>
            <a:r>
              <a:rPr sz="1900" b="1" i="0">
                <a:solidFill>
                  <a:srgbClr val="1F3864"/>
                </a:solidFill>
                <a:latin typeface="Calibri"/>
              </a:rPr>
              <a:t>Blocking</a:t>
            </a:r>
          </a:p>
        </p:txBody>
      </p:sp>
      <p:sp>
        <p:nvSpPr>
          <p:cNvPr id="12" name="TextBox 11"/>
          <p:cNvSpPr txBox="1"/>
          <p:nvPr/>
        </p:nvSpPr>
        <p:spPr>
          <a:xfrm>
            <a:off x="1325880" y="1965960"/>
            <a:ext cx="4754880" cy="548640"/>
          </a:xfrm>
          <a:prstGeom prst="rect">
            <a:avLst/>
          </a:prstGeom>
          <a:noFill/>
        </p:spPr>
        <p:txBody>
          <a:bodyPr wrap="square" lIns="18288" tIns="18288" rIns="18288" bIns="18288" anchor="t">
            <a:spAutoFit/>
          </a:bodyPr>
          <a:lstStyle/>
          <a:p>
            <a:pPr algn="l"/>
            <a:r>
              <a:rPr sz="1500" b="0" i="0">
                <a:solidFill>
                  <a:srgbClr val="1D2433"/>
                </a:solidFill>
                <a:latin typeface="Calibri"/>
              </a:rPr>
              <a:t>ne comparer que les candidats : préfixe du nom, date, CIN</a:t>
            </a:r>
          </a:p>
        </p:txBody>
      </p:sp>
      <p:sp>
        <p:nvSpPr>
          <p:cNvPr id="13" name="Oval 12"/>
          <p:cNvSpPr/>
          <p:nvPr/>
        </p:nvSpPr>
        <p:spPr>
          <a:xfrm>
            <a:off x="548640" y="2688336"/>
            <a:ext cx="603504" cy="60350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2</a:t>
            </a:r>
          </a:p>
        </p:txBody>
      </p:sp>
      <p:sp>
        <p:nvSpPr>
          <p:cNvPr id="14" name="TextBox 13"/>
          <p:cNvSpPr txBox="1"/>
          <p:nvPr/>
        </p:nvSpPr>
        <p:spPr>
          <a:xfrm>
            <a:off x="1325880" y="2596896"/>
            <a:ext cx="4754880" cy="384048"/>
          </a:xfrm>
          <a:prstGeom prst="rect">
            <a:avLst/>
          </a:prstGeom>
          <a:noFill/>
        </p:spPr>
        <p:txBody>
          <a:bodyPr wrap="square" lIns="18288" tIns="18288" rIns="18288" bIns="18288" anchor="t">
            <a:spAutoFit/>
          </a:bodyPr>
          <a:lstStyle/>
          <a:p>
            <a:pPr algn="l"/>
            <a:r>
              <a:rPr sz="1900" b="1" i="0">
                <a:solidFill>
                  <a:srgbClr val="1F3864"/>
                </a:solidFill>
                <a:latin typeface="Calibri"/>
              </a:rPr>
              <a:t>Passe exacte</a:t>
            </a:r>
          </a:p>
        </p:txBody>
      </p:sp>
      <p:sp>
        <p:nvSpPr>
          <p:cNvPr id="15" name="TextBox 14"/>
          <p:cNvSpPr txBox="1"/>
          <p:nvPr/>
        </p:nvSpPr>
        <p:spPr>
          <a:xfrm>
            <a:off x="1325880" y="2990088"/>
            <a:ext cx="4754880" cy="548640"/>
          </a:xfrm>
          <a:prstGeom prst="rect">
            <a:avLst/>
          </a:prstGeom>
          <a:noFill/>
        </p:spPr>
        <p:txBody>
          <a:bodyPr wrap="square" lIns="18288" tIns="18288" rIns="18288" bIns="18288" anchor="t">
            <a:spAutoFit/>
          </a:bodyPr>
          <a:lstStyle/>
          <a:p>
            <a:pPr algn="l"/>
            <a:r>
              <a:rPr sz="1500" b="0" i="0">
                <a:solidFill>
                  <a:srgbClr val="1D2433"/>
                </a:solidFill>
                <a:latin typeface="Calibri"/>
              </a:rPr>
              <a:t>nom normalisé + naissance + CIN identiques → score 1,0</a:t>
            </a:r>
          </a:p>
        </p:txBody>
      </p:sp>
      <p:sp>
        <p:nvSpPr>
          <p:cNvPr id="16" name="Oval 15"/>
          <p:cNvSpPr/>
          <p:nvPr/>
        </p:nvSpPr>
        <p:spPr>
          <a:xfrm>
            <a:off x="548640" y="3712464"/>
            <a:ext cx="603504" cy="60350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i="0">
                <a:solidFill>
                  <a:srgbClr val="FFFFFF"/>
                </a:solidFill>
                <a:latin typeface="Calibri"/>
              </a:rPr>
              <a:t>3</a:t>
            </a:r>
          </a:p>
        </p:txBody>
      </p:sp>
      <p:sp>
        <p:nvSpPr>
          <p:cNvPr id="17" name="TextBox 16"/>
          <p:cNvSpPr txBox="1"/>
          <p:nvPr/>
        </p:nvSpPr>
        <p:spPr>
          <a:xfrm>
            <a:off x="1325880" y="3621024"/>
            <a:ext cx="4754880" cy="384048"/>
          </a:xfrm>
          <a:prstGeom prst="rect">
            <a:avLst/>
          </a:prstGeom>
          <a:noFill/>
        </p:spPr>
        <p:txBody>
          <a:bodyPr wrap="square" lIns="18288" tIns="18288" rIns="18288" bIns="18288" anchor="t">
            <a:spAutoFit/>
          </a:bodyPr>
          <a:lstStyle/>
          <a:p>
            <a:pPr algn="l"/>
            <a:r>
              <a:rPr sz="1900" b="1" i="0">
                <a:solidFill>
                  <a:srgbClr val="1F3864"/>
                </a:solidFill>
                <a:latin typeface="Calibri"/>
              </a:rPr>
              <a:t>Passe probabiliste</a:t>
            </a:r>
          </a:p>
        </p:txBody>
      </p:sp>
      <p:sp>
        <p:nvSpPr>
          <p:cNvPr id="18" name="TextBox 17"/>
          <p:cNvSpPr txBox="1"/>
          <p:nvPr/>
        </p:nvSpPr>
        <p:spPr>
          <a:xfrm>
            <a:off x="1325880" y="4014216"/>
            <a:ext cx="4754880" cy="548640"/>
          </a:xfrm>
          <a:prstGeom prst="rect">
            <a:avLst/>
          </a:prstGeom>
          <a:noFill/>
        </p:spPr>
        <p:txBody>
          <a:bodyPr wrap="square" lIns="18288" tIns="18288" rIns="18288" bIns="18288" anchor="t">
            <a:spAutoFit/>
          </a:bodyPr>
          <a:lstStyle/>
          <a:p>
            <a:pPr algn="l"/>
            <a:r>
              <a:rPr sz="1500" b="0" i="0">
                <a:solidFill>
                  <a:srgbClr val="1D2433"/>
                </a:solidFill>
                <a:latin typeface="Calibri"/>
              </a:rPr>
              <a:t>score pondéré ≥ 0,80 → fusion ; sinon nouveau patient maître</a:t>
            </a:r>
          </a:p>
        </p:txBody>
      </p:sp>
      <p:sp>
        <p:nvSpPr>
          <p:cNvPr id="19" name="Rounded Rectangle 18"/>
          <p:cNvSpPr/>
          <p:nvPr/>
        </p:nvSpPr>
        <p:spPr>
          <a:xfrm>
            <a:off x="548640" y="4709160"/>
            <a:ext cx="5577840" cy="14173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0" i="0">
                <a:solidFill>
                  <a:srgbClr val="FFFFFF"/>
                </a:solidFill>
                <a:latin typeface="Calibri"/>
              </a:rPr>
              <a:t>Chaque décision porte </a:t>
            </a:r>
            <a:r>
              <a:rPr sz="1600" b="1" i="0">
                <a:solidFill>
                  <a:srgbClr val="FFFFFF"/>
                </a:solidFill>
                <a:latin typeface="Calibri"/>
              </a:rPr>
              <a:t>méthode · score · explication</a:t>
            </a:r>
          </a:p>
          <a:p>
            <a:pPr algn="ctr"/>
            <a:r>
              <a:rPr sz="1500" b="0" i="0">
                <a:solidFill>
                  <a:srgbClr val="FFFFFF"/>
                </a:solidFill>
                <a:latin typeface="Consolas"/>
              </a:rPr>
              <a:t>exact</a:t>
            </a:r>
            <a:r>
              <a:rPr sz="1600" b="0" i="0">
                <a:solidFill>
                  <a:srgbClr val="FFFFFF"/>
                </a:solidFill>
                <a:latin typeface="Calibri"/>
              </a:rPr>
              <a:t> · </a:t>
            </a:r>
            <a:r>
              <a:rPr sz="1500" b="0" i="0">
                <a:solidFill>
                  <a:srgbClr val="FFFFFF"/>
                </a:solidFill>
                <a:latin typeface="Consolas"/>
              </a:rPr>
              <a:t>probabilistic</a:t>
            </a:r>
            <a:r>
              <a:rPr sz="1600" b="0" i="0">
                <a:solidFill>
                  <a:srgbClr val="FFFFFF"/>
                </a:solidFill>
                <a:latin typeface="Calibri"/>
              </a:rPr>
              <a:t> · </a:t>
            </a:r>
            <a:r>
              <a:rPr sz="1500" b="0" i="0">
                <a:solidFill>
                  <a:srgbClr val="FFFFFF"/>
                </a:solidFill>
                <a:latin typeface="Consolas"/>
              </a:rPr>
              <a:t>new_master</a:t>
            </a:r>
          </a:p>
        </p:txBody>
      </p:sp>
      <p:sp>
        <p:nvSpPr>
          <p:cNvPr id="20" name="TextBox 19"/>
          <p:cNvSpPr txBox="1"/>
          <p:nvPr/>
        </p:nvSpPr>
        <p:spPr>
          <a:xfrm>
            <a:off x="6675120" y="1554480"/>
            <a:ext cx="4967935" cy="365760"/>
          </a:xfrm>
          <a:prstGeom prst="rect">
            <a:avLst/>
          </a:prstGeom>
          <a:noFill/>
        </p:spPr>
        <p:txBody>
          <a:bodyPr wrap="square" lIns="18288" tIns="18288" rIns="18288" bIns="18288" anchor="t">
            <a:spAutoFit/>
          </a:bodyPr>
          <a:lstStyle/>
          <a:p>
            <a:pPr algn="l"/>
            <a:r>
              <a:rPr sz="1700" b="1" i="0">
                <a:solidFill>
                  <a:srgbClr val="1F3864"/>
                </a:solidFill>
                <a:latin typeface="Calibri"/>
              </a:rPr>
              <a:t>Composition du score de similarité</a:t>
            </a:r>
          </a:p>
        </p:txBody>
      </p:sp>
      <p:sp>
        <p:nvSpPr>
          <p:cNvPr id="21" name="Rectangle 20"/>
          <p:cNvSpPr/>
          <p:nvPr/>
        </p:nvSpPr>
        <p:spPr>
          <a:xfrm>
            <a:off x="6675120" y="2103120"/>
            <a:ext cx="2483967" cy="82296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2" name="TextBox 21"/>
          <p:cNvSpPr txBox="1"/>
          <p:nvPr/>
        </p:nvSpPr>
        <p:spPr>
          <a:xfrm>
            <a:off x="6675120" y="2148840"/>
            <a:ext cx="2483967" cy="731520"/>
          </a:xfrm>
          <a:prstGeom prst="rect">
            <a:avLst/>
          </a:prstGeom>
          <a:noFill/>
        </p:spPr>
        <p:txBody>
          <a:bodyPr wrap="square" lIns="18288" tIns="18288" rIns="18288" bIns="18288" anchor="ctr">
            <a:spAutoFit/>
          </a:bodyPr>
          <a:lstStyle/>
          <a:p>
            <a:pPr algn="ctr"/>
            <a:r>
              <a:rPr sz="1500" b="1" i="0">
                <a:solidFill>
                  <a:srgbClr val="FFFFFF"/>
                </a:solidFill>
                <a:latin typeface="Calibri"/>
              </a:rPr>
              <a:t>Nom</a:t>
            </a:r>
          </a:p>
          <a:p>
            <a:pPr algn="ctr"/>
            <a:r>
              <a:rPr sz="1500" b="1" i="0">
                <a:solidFill>
                  <a:srgbClr val="FFFFFF"/>
                </a:solidFill>
                <a:latin typeface="Calibri"/>
              </a:rPr>
              <a:t>0,5</a:t>
            </a:r>
          </a:p>
        </p:txBody>
      </p:sp>
      <p:sp>
        <p:nvSpPr>
          <p:cNvPr id="23" name="Rectangle 22"/>
          <p:cNvSpPr/>
          <p:nvPr/>
        </p:nvSpPr>
        <p:spPr>
          <a:xfrm>
            <a:off x="9159087" y="2103120"/>
            <a:ext cx="1490380" cy="822960"/>
          </a:xfrm>
          <a:prstGeom prst="rect">
            <a:avLst/>
          </a:prstGeom>
          <a:solidFill>
            <a:srgbClr val="2E5597"/>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4" name="TextBox 23"/>
          <p:cNvSpPr txBox="1"/>
          <p:nvPr/>
        </p:nvSpPr>
        <p:spPr>
          <a:xfrm>
            <a:off x="9159087" y="2148840"/>
            <a:ext cx="1490380" cy="731520"/>
          </a:xfrm>
          <a:prstGeom prst="rect">
            <a:avLst/>
          </a:prstGeom>
          <a:noFill/>
        </p:spPr>
        <p:txBody>
          <a:bodyPr wrap="square" lIns="18288" tIns="18288" rIns="18288" bIns="18288" anchor="ctr">
            <a:spAutoFit/>
          </a:bodyPr>
          <a:lstStyle/>
          <a:p>
            <a:pPr algn="ctr"/>
            <a:r>
              <a:rPr sz="1500" b="1" i="0">
                <a:solidFill>
                  <a:srgbClr val="FFFFFF"/>
                </a:solidFill>
                <a:latin typeface="Calibri"/>
              </a:rPr>
              <a:t>Naissance</a:t>
            </a:r>
          </a:p>
          <a:p>
            <a:pPr algn="ctr"/>
            <a:r>
              <a:rPr sz="1500" b="1" i="0">
                <a:solidFill>
                  <a:srgbClr val="FFFFFF"/>
                </a:solidFill>
                <a:latin typeface="Calibri"/>
              </a:rPr>
              <a:t>0,3</a:t>
            </a:r>
          </a:p>
        </p:txBody>
      </p:sp>
      <p:sp>
        <p:nvSpPr>
          <p:cNvPr id="25" name="Rectangle 24"/>
          <p:cNvSpPr/>
          <p:nvPr/>
        </p:nvSpPr>
        <p:spPr>
          <a:xfrm>
            <a:off x="10649468" y="2103120"/>
            <a:ext cx="496793" cy="822960"/>
          </a:xfrm>
          <a:prstGeom prst="rect">
            <a:avLst/>
          </a:prstGeom>
          <a:solidFill>
            <a:srgbClr val="8EAADB"/>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6" name="TextBox 25"/>
          <p:cNvSpPr txBox="1"/>
          <p:nvPr/>
        </p:nvSpPr>
        <p:spPr>
          <a:xfrm>
            <a:off x="10649468" y="2148840"/>
            <a:ext cx="496793" cy="731520"/>
          </a:xfrm>
          <a:prstGeom prst="rect">
            <a:avLst/>
          </a:prstGeom>
          <a:noFill/>
        </p:spPr>
        <p:txBody>
          <a:bodyPr wrap="square" lIns="18288" tIns="18288" rIns="18288" bIns="18288" anchor="ctr">
            <a:spAutoFit/>
          </a:bodyPr>
          <a:lstStyle/>
          <a:p>
            <a:pPr algn="ctr"/>
            <a:r>
              <a:rPr sz="1300" b="1" i="0">
                <a:solidFill>
                  <a:srgbClr val="1D2433"/>
                </a:solidFill>
                <a:latin typeface="Calibri"/>
              </a:rPr>
              <a:t>CIN</a:t>
            </a:r>
          </a:p>
          <a:p>
            <a:pPr algn="ctr"/>
            <a:r>
              <a:rPr sz="1300" b="1" i="0">
                <a:solidFill>
                  <a:srgbClr val="1D2433"/>
                </a:solidFill>
                <a:latin typeface="Calibri"/>
              </a:rPr>
              <a:t>0,1</a:t>
            </a:r>
          </a:p>
        </p:txBody>
      </p:sp>
      <p:sp>
        <p:nvSpPr>
          <p:cNvPr id="27" name="Rectangle 26"/>
          <p:cNvSpPr/>
          <p:nvPr/>
        </p:nvSpPr>
        <p:spPr>
          <a:xfrm>
            <a:off x="11146261" y="2103120"/>
            <a:ext cx="496793" cy="822960"/>
          </a:xfrm>
          <a:prstGeom prst="rect">
            <a:avLst/>
          </a:prstGeom>
          <a:solidFill>
            <a:srgbClr val="E2E9F3"/>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8" name="TextBox 27"/>
          <p:cNvSpPr txBox="1"/>
          <p:nvPr/>
        </p:nvSpPr>
        <p:spPr>
          <a:xfrm>
            <a:off x="11146261" y="2148840"/>
            <a:ext cx="496793" cy="731520"/>
          </a:xfrm>
          <a:prstGeom prst="rect">
            <a:avLst/>
          </a:prstGeom>
          <a:noFill/>
        </p:spPr>
        <p:txBody>
          <a:bodyPr wrap="square" lIns="18288" tIns="18288" rIns="18288" bIns="18288" anchor="ctr">
            <a:spAutoFit/>
          </a:bodyPr>
          <a:lstStyle/>
          <a:p>
            <a:pPr algn="ctr"/>
            <a:r>
              <a:rPr sz="1300" b="1" i="0">
                <a:solidFill>
                  <a:srgbClr val="1D2433"/>
                </a:solidFill>
                <a:latin typeface="Calibri"/>
              </a:rPr>
              <a:t>Ville</a:t>
            </a:r>
          </a:p>
          <a:p>
            <a:pPr algn="ctr"/>
            <a:r>
              <a:rPr sz="1300" b="1" i="0">
                <a:solidFill>
                  <a:srgbClr val="1D2433"/>
                </a:solidFill>
                <a:latin typeface="Calibri"/>
              </a:rPr>
              <a:t>0,1</a:t>
            </a:r>
          </a:p>
        </p:txBody>
      </p:sp>
      <p:cxnSp>
        <p:nvCxnSpPr>
          <p:cNvPr id="29" name="Connector 28"/>
          <p:cNvCxnSpPr/>
          <p:nvPr/>
        </p:nvCxnSpPr>
        <p:spPr>
          <a:xfrm flipV="1">
            <a:off x="10649468" y="2971800"/>
            <a:ext cx="0" cy="548639"/>
          </a:xfrm>
          <a:prstGeom prst="line">
            <a:avLst/>
          </a:prstGeom>
          <a:ln w="31750">
            <a:solidFill>
              <a:srgbClr val="C78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186428" y="3520439"/>
            <a:ext cx="2926080" cy="411480"/>
          </a:xfrm>
          <a:prstGeom prst="rect">
            <a:avLst/>
          </a:prstGeom>
          <a:noFill/>
        </p:spPr>
        <p:txBody>
          <a:bodyPr wrap="square" lIns="18288" tIns="18288" rIns="18288" bIns="18288" anchor="t">
            <a:spAutoFit/>
          </a:bodyPr>
          <a:lstStyle/>
          <a:p>
            <a:pPr algn="ctr"/>
            <a:r>
              <a:rPr sz="1600" b="1" i="0">
                <a:solidFill>
                  <a:srgbClr val="C78400"/>
                </a:solidFill>
                <a:latin typeface="Calibri"/>
              </a:rPr>
              <a:t>seuil de fusion : 0,80</a:t>
            </a:r>
          </a:p>
        </p:txBody>
      </p:sp>
      <p:sp>
        <p:nvSpPr>
          <p:cNvPr id="31" name="Rounded Rectangle 30"/>
          <p:cNvSpPr/>
          <p:nvPr/>
        </p:nvSpPr>
        <p:spPr>
          <a:xfrm>
            <a:off x="6675120" y="4160520"/>
            <a:ext cx="4967935" cy="196596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32" name="TextBox 31"/>
          <p:cNvSpPr txBox="1"/>
          <p:nvPr/>
        </p:nvSpPr>
        <p:spPr>
          <a:xfrm>
            <a:off x="6949440" y="4270248"/>
            <a:ext cx="4419295" cy="320040"/>
          </a:xfrm>
          <a:prstGeom prst="rect">
            <a:avLst/>
          </a:prstGeom>
          <a:noFill/>
        </p:spPr>
        <p:txBody>
          <a:bodyPr wrap="square" lIns="18288" tIns="18288" rIns="18288" bIns="18288" anchor="t">
            <a:spAutoFit/>
          </a:bodyPr>
          <a:lstStyle/>
          <a:p>
            <a:pPr algn="l"/>
            <a:r>
              <a:rPr sz="1200" b="1" i="0">
                <a:solidFill>
                  <a:srgbClr val="2E5597"/>
                </a:solidFill>
                <a:latin typeface="Calibri"/>
              </a:rPr>
              <a:t>EXEMPLE — CAS DE RÉFÉRENCE</a:t>
            </a:r>
          </a:p>
        </p:txBody>
      </p:sp>
      <p:sp>
        <p:nvSpPr>
          <p:cNvPr id="33" name="TextBox 32"/>
          <p:cNvSpPr txBox="1"/>
          <p:nvPr/>
        </p:nvSpPr>
        <p:spPr>
          <a:xfrm>
            <a:off x="6949440" y="4617720"/>
            <a:ext cx="4419295" cy="1463040"/>
          </a:xfrm>
          <a:prstGeom prst="rect">
            <a:avLst/>
          </a:prstGeom>
          <a:noFill/>
        </p:spPr>
        <p:txBody>
          <a:bodyPr wrap="square" lIns="18288" tIns="18288" rIns="18288" bIns="18288" anchor="t">
            <a:spAutoFit/>
          </a:bodyPr>
          <a:lstStyle/>
          <a:p>
            <a:pPr algn="l">
              <a:spcAft>
                <a:spcPts val="600"/>
              </a:spcAft>
            </a:pPr>
            <a:r>
              <a:rPr sz="1500" b="1" i="0">
                <a:solidFill>
                  <a:srgbClr val="1D2433"/>
                </a:solidFill>
                <a:latin typeface="Calibri"/>
              </a:rPr>
              <a:t>Jean Rakoto</a:t>
            </a:r>
            <a:r>
              <a:rPr sz="1500" b="0" i="0">
                <a:solidFill>
                  <a:srgbClr val="1D2433"/>
                </a:solidFill>
                <a:latin typeface="Calibri"/>
              </a:rPr>
              <a:t> : 3 fiches → </a:t>
            </a:r>
            <a:r>
              <a:rPr sz="1500" b="1" i="0">
                <a:solidFill>
                  <a:srgbClr val="1D2433"/>
                </a:solidFill>
                <a:latin typeface="Calibri"/>
              </a:rPr>
              <a:t>PAT-0102</a:t>
            </a:r>
            <a:r>
              <a:rPr sz="1500" b="0" i="0">
                <a:solidFill>
                  <a:srgbClr val="1D2433"/>
                </a:solidFill>
                <a:latin typeface="Calibri"/>
              </a:rPr>
              <a:t>, méthode </a:t>
            </a:r>
            <a:r>
              <a:rPr sz="1500" b="0" i="1">
                <a:solidFill>
                  <a:srgbClr val="1D2433"/>
                </a:solidFill>
                <a:latin typeface="Calibri"/>
              </a:rPr>
              <a:t>exacte</a:t>
            </a:r>
            <a:r>
              <a:rPr sz="1500" b="0" i="0">
                <a:solidFill>
                  <a:srgbClr val="1D2433"/>
                </a:solidFill>
                <a:latin typeface="Calibri"/>
              </a:rPr>
              <a:t> (CIN identique après normalisation)</a:t>
            </a:r>
          </a:p>
          <a:p>
            <a:pPr algn="l">
              <a:spcAft>
                <a:spcPts val="600"/>
              </a:spcAft>
            </a:pPr>
            <a:r>
              <a:rPr sz="1500" b="1" i="0">
                <a:solidFill>
                  <a:srgbClr val="1D2433"/>
                </a:solidFill>
                <a:latin typeface="Calibri"/>
              </a:rPr>
              <a:t>Nirina</a:t>
            </a:r>
            <a:r>
              <a:rPr sz="1500" b="0" i="0">
                <a:solidFill>
                  <a:srgbClr val="1D2433"/>
                </a:solidFill>
                <a:latin typeface="Calibri"/>
              </a:rPr>
              <a:t> : rattachée par méthode </a:t>
            </a:r>
            <a:r>
              <a:rPr sz="1500" b="0" i="1">
                <a:solidFill>
                  <a:srgbClr val="1D2433"/>
                </a:solidFill>
                <a:latin typeface="Calibri"/>
              </a:rPr>
              <a:t>probabiliste</a:t>
            </a:r>
            <a:r>
              <a:rPr sz="1500" b="0" i="0">
                <a:solidFill>
                  <a:srgbClr val="1D2433"/>
                </a:solidFill>
                <a:latin typeface="Calibri"/>
              </a:rPr>
              <a:t>, score ≥ 0,80</a:t>
            </a:r>
          </a:p>
        </p:txBody>
      </p:sp>
    </p:spTree>
    <p:extLst>
      <p:ext uri="{BB962C8B-B14F-4D97-AF65-F5344CB8AC3E}">
        <p14:creationId xmlns:p14="http://schemas.microsoft.com/office/powerpoint/2010/main" val="1650417033"/>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14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FONCTIONNALITÉS PRINCIPALES</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Gouvernance : qui demande, pourquoi, et la trace de chaque accès</a:t>
            </a:r>
          </a:p>
        </p:txBody>
      </p:sp>
      <p:sp>
        <p:nvSpPr>
          <p:cNvPr id="10" name="Rounded Rectangle 9"/>
          <p:cNvSpPr/>
          <p:nvPr/>
        </p:nvSpPr>
        <p:spPr>
          <a:xfrm>
            <a:off x="548640" y="1554480"/>
            <a:ext cx="3383280" cy="25146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Oval 10"/>
          <p:cNvSpPr/>
          <p:nvPr/>
        </p:nvSpPr>
        <p:spPr>
          <a:xfrm>
            <a:off x="777240" y="1737360"/>
            <a:ext cx="566928" cy="56692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a:rPr>
              <a:t>1</a:t>
            </a:r>
          </a:p>
        </p:txBody>
      </p:sp>
      <p:sp>
        <p:nvSpPr>
          <p:cNvPr id="12" name="TextBox 11"/>
          <p:cNvSpPr txBox="1"/>
          <p:nvPr/>
        </p:nvSpPr>
        <p:spPr>
          <a:xfrm>
            <a:off x="1508760" y="1737360"/>
            <a:ext cx="2286000" cy="548640"/>
          </a:xfrm>
          <a:prstGeom prst="rect">
            <a:avLst/>
          </a:prstGeom>
          <a:noFill/>
        </p:spPr>
        <p:txBody>
          <a:bodyPr wrap="square" lIns="18288" tIns="18288" rIns="18288" bIns="18288" anchor="ctr">
            <a:spAutoFit/>
          </a:bodyPr>
          <a:lstStyle/>
          <a:p>
            <a:pPr algn="l"/>
            <a:r>
              <a:rPr sz="2400" b="1" i="0">
                <a:solidFill>
                  <a:srgbClr val="1F3864"/>
                </a:solidFill>
                <a:latin typeface="Calibri"/>
              </a:rPr>
              <a:t>Qui ?</a:t>
            </a:r>
          </a:p>
        </p:txBody>
      </p:sp>
      <p:sp>
        <p:nvSpPr>
          <p:cNvPr id="13" name="TextBox 12"/>
          <p:cNvSpPr txBox="1"/>
          <p:nvPr/>
        </p:nvSpPr>
        <p:spPr>
          <a:xfrm>
            <a:off x="822959" y="2423160"/>
            <a:ext cx="2834640" cy="548640"/>
          </a:xfrm>
          <a:prstGeom prst="rect">
            <a:avLst/>
          </a:prstGeom>
          <a:noFill/>
        </p:spPr>
        <p:txBody>
          <a:bodyPr wrap="square" lIns="18288" tIns="18288" rIns="18288" bIns="18288" anchor="t">
            <a:spAutoFit/>
          </a:bodyPr>
          <a:lstStyle/>
          <a:p>
            <a:pPr algn="l"/>
            <a:r>
              <a:rPr sz="1500" b="0" i="0">
                <a:solidFill>
                  <a:srgbClr val="1D2433"/>
                </a:solidFill>
                <a:latin typeface="Calibri"/>
              </a:rPr>
              <a:t>clé d'API → utilisateur → rôle</a:t>
            </a:r>
          </a:p>
        </p:txBody>
      </p:sp>
      <p:sp>
        <p:nvSpPr>
          <p:cNvPr id="14" name="TextBox 13"/>
          <p:cNvSpPr txBox="1"/>
          <p:nvPr/>
        </p:nvSpPr>
        <p:spPr>
          <a:xfrm>
            <a:off x="822959" y="3017520"/>
            <a:ext cx="2834640" cy="1005840"/>
          </a:xfrm>
          <a:prstGeom prst="rect">
            <a:avLst/>
          </a:prstGeom>
          <a:noFill/>
        </p:spPr>
        <p:txBody>
          <a:bodyPr wrap="square" lIns="18288" tIns="18288" rIns="18288" bIns="18288" anchor="t">
            <a:spAutoFit/>
          </a:bodyPr>
          <a:lstStyle/>
          <a:p>
            <a:pPr marL="228600" indent="-201168" algn="l">
              <a:spcAft>
                <a:spcPts val="300"/>
              </a:spcAft>
              <a:buClr>
                <a:srgbClr val="2E5597"/>
              </a:buClr>
              <a:buChar char="•"/>
            </a:pPr>
            <a:r>
              <a:rPr sz="1500" b="1" i="0">
                <a:solidFill>
                  <a:srgbClr val="5B6475"/>
                </a:solidFill>
                <a:latin typeface="Calibri"/>
              </a:rPr>
              <a:t>401</a:t>
            </a:r>
            <a:r>
              <a:rPr sz="1500" b="0" i="0">
                <a:solidFill>
                  <a:srgbClr val="5B6475"/>
                </a:solidFill>
                <a:latin typeface="Calibri"/>
              </a:rPr>
              <a:t> clé absente ou inconnue</a:t>
            </a:r>
          </a:p>
          <a:p>
            <a:pPr marL="228600" indent="-201168" algn="l">
              <a:spcAft>
                <a:spcPts val="300"/>
              </a:spcAft>
              <a:buClr>
                <a:srgbClr val="2E5597"/>
              </a:buClr>
              <a:buChar char="•"/>
            </a:pPr>
            <a:r>
              <a:rPr sz="1500" b="1" i="0">
                <a:solidFill>
                  <a:srgbClr val="5B6475"/>
                </a:solidFill>
                <a:latin typeface="Calibri"/>
              </a:rPr>
              <a:t>403</a:t>
            </a:r>
            <a:r>
              <a:rPr sz="1500" b="0" i="0">
                <a:solidFill>
                  <a:srgbClr val="5B6475"/>
                </a:solidFill>
                <a:latin typeface="Calibri"/>
              </a:rPr>
              <a:t> rôle insuffisant</a:t>
            </a:r>
          </a:p>
        </p:txBody>
      </p:sp>
      <p:sp>
        <p:nvSpPr>
          <p:cNvPr id="15" name="Right Arrow 14"/>
          <p:cNvSpPr/>
          <p:nvPr/>
        </p:nvSpPr>
        <p:spPr>
          <a:xfrm>
            <a:off x="4005072" y="2560320"/>
            <a:ext cx="310896" cy="502920"/>
          </a:xfrm>
          <a:prstGeom prst="rightArrow">
            <a:avLst/>
          </a:prstGeom>
          <a:solidFill>
            <a:srgbClr val="C78400"/>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6" name="Rounded Rectangle 15"/>
          <p:cNvSpPr/>
          <p:nvPr/>
        </p:nvSpPr>
        <p:spPr>
          <a:xfrm>
            <a:off x="4389120" y="1554480"/>
            <a:ext cx="3383280" cy="25146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7" name="Oval 16"/>
          <p:cNvSpPr/>
          <p:nvPr/>
        </p:nvSpPr>
        <p:spPr>
          <a:xfrm>
            <a:off x="4617720" y="1737360"/>
            <a:ext cx="566928" cy="56692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a:rPr>
              <a:t>2</a:t>
            </a:r>
          </a:p>
        </p:txBody>
      </p:sp>
      <p:sp>
        <p:nvSpPr>
          <p:cNvPr id="18" name="TextBox 17"/>
          <p:cNvSpPr txBox="1"/>
          <p:nvPr/>
        </p:nvSpPr>
        <p:spPr>
          <a:xfrm>
            <a:off x="5349240" y="1737360"/>
            <a:ext cx="2286000" cy="548640"/>
          </a:xfrm>
          <a:prstGeom prst="rect">
            <a:avLst/>
          </a:prstGeom>
          <a:noFill/>
        </p:spPr>
        <p:txBody>
          <a:bodyPr wrap="square" lIns="18288" tIns="18288" rIns="18288" bIns="18288" anchor="ctr">
            <a:spAutoFit/>
          </a:bodyPr>
          <a:lstStyle/>
          <a:p>
            <a:pPr algn="l"/>
            <a:r>
              <a:rPr sz="2400" b="1" i="0">
                <a:solidFill>
                  <a:srgbClr val="1F3864"/>
                </a:solidFill>
                <a:latin typeface="Calibri"/>
              </a:rPr>
              <a:t>Pourquoi ?</a:t>
            </a:r>
          </a:p>
        </p:txBody>
      </p:sp>
      <p:sp>
        <p:nvSpPr>
          <p:cNvPr id="19" name="TextBox 18"/>
          <p:cNvSpPr txBox="1"/>
          <p:nvPr/>
        </p:nvSpPr>
        <p:spPr>
          <a:xfrm>
            <a:off x="4663440" y="2423160"/>
            <a:ext cx="2834640" cy="548640"/>
          </a:xfrm>
          <a:prstGeom prst="rect">
            <a:avLst/>
          </a:prstGeom>
          <a:noFill/>
        </p:spPr>
        <p:txBody>
          <a:bodyPr wrap="square" lIns="18288" tIns="18288" rIns="18288" bIns="18288" anchor="t">
            <a:spAutoFit/>
          </a:bodyPr>
          <a:lstStyle/>
          <a:p>
            <a:pPr algn="l"/>
            <a:r>
              <a:rPr sz="1500" b="0" i="0">
                <a:solidFill>
                  <a:srgbClr val="1D2433"/>
                </a:solidFill>
                <a:latin typeface="Calibri"/>
              </a:rPr>
              <a:t>finalité déclarée → consentement du patient</a:t>
            </a:r>
          </a:p>
        </p:txBody>
      </p:sp>
      <p:sp>
        <p:nvSpPr>
          <p:cNvPr id="20" name="TextBox 19"/>
          <p:cNvSpPr txBox="1"/>
          <p:nvPr/>
        </p:nvSpPr>
        <p:spPr>
          <a:xfrm>
            <a:off x="4663440" y="3017520"/>
            <a:ext cx="2834640" cy="1005840"/>
          </a:xfrm>
          <a:prstGeom prst="rect">
            <a:avLst/>
          </a:prstGeom>
          <a:noFill/>
        </p:spPr>
        <p:txBody>
          <a:bodyPr wrap="square" lIns="18288" tIns="18288" rIns="18288" bIns="18288" anchor="t">
            <a:spAutoFit/>
          </a:bodyPr>
          <a:lstStyle/>
          <a:p>
            <a:pPr marL="228600" indent="-201168" algn="l">
              <a:spcAft>
                <a:spcPts val="300"/>
              </a:spcAft>
              <a:buClr>
                <a:srgbClr val="2E5597"/>
              </a:buClr>
              <a:buChar char="•"/>
            </a:pPr>
            <a:r>
              <a:rPr sz="1500" b="1" i="0">
                <a:solidFill>
                  <a:srgbClr val="5B6475"/>
                </a:solidFill>
                <a:latin typeface="Calibri"/>
              </a:rPr>
              <a:t>422</a:t>
            </a:r>
            <a:r>
              <a:rPr sz="1500" b="0" i="0">
                <a:solidFill>
                  <a:srgbClr val="5B6475"/>
                </a:solidFill>
                <a:latin typeface="Calibri"/>
              </a:rPr>
              <a:t> finalité absente ou inconnue</a:t>
            </a:r>
          </a:p>
          <a:p>
            <a:pPr marL="228600" indent="-201168" algn="l">
              <a:spcAft>
                <a:spcPts val="300"/>
              </a:spcAft>
              <a:buClr>
                <a:srgbClr val="2E5597"/>
              </a:buClr>
              <a:buChar char="•"/>
            </a:pPr>
            <a:r>
              <a:rPr sz="1500" b="1" i="0">
                <a:solidFill>
                  <a:srgbClr val="5B6475"/>
                </a:solidFill>
                <a:latin typeface="Calibri"/>
              </a:rPr>
              <a:t>403</a:t>
            </a:r>
            <a:r>
              <a:rPr sz="1500" b="0" i="0">
                <a:solidFill>
                  <a:srgbClr val="5B6475"/>
                </a:solidFill>
                <a:latin typeface="Calibri"/>
              </a:rPr>
              <a:t> finalité non consentie</a:t>
            </a:r>
          </a:p>
        </p:txBody>
      </p:sp>
      <p:sp>
        <p:nvSpPr>
          <p:cNvPr id="21" name="Right Arrow 20"/>
          <p:cNvSpPr/>
          <p:nvPr/>
        </p:nvSpPr>
        <p:spPr>
          <a:xfrm>
            <a:off x="7845552" y="2560320"/>
            <a:ext cx="310896" cy="502920"/>
          </a:xfrm>
          <a:prstGeom prst="rightArrow">
            <a:avLst/>
          </a:prstGeom>
          <a:solidFill>
            <a:srgbClr val="C78400"/>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2" name="Rounded Rectangle 21"/>
          <p:cNvSpPr/>
          <p:nvPr/>
        </p:nvSpPr>
        <p:spPr>
          <a:xfrm>
            <a:off x="8229600" y="1554480"/>
            <a:ext cx="3383280" cy="25146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3" name="Oval 22"/>
          <p:cNvSpPr/>
          <p:nvPr/>
        </p:nvSpPr>
        <p:spPr>
          <a:xfrm>
            <a:off x="8458200" y="1737360"/>
            <a:ext cx="566928" cy="566928"/>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a:rPr>
              <a:t>3</a:t>
            </a:r>
          </a:p>
        </p:txBody>
      </p:sp>
      <p:sp>
        <p:nvSpPr>
          <p:cNvPr id="24" name="TextBox 23"/>
          <p:cNvSpPr txBox="1"/>
          <p:nvPr/>
        </p:nvSpPr>
        <p:spPr>
          <a:xfrm>
            <a:off x="9189720" y="1737360"/>
            <a:ext cx="2286000" cy="548640"/>
          </a:xfrm>
          <a:prstGeom prst="rect">
            <a:avLst/>
          </a:prstGeom>
          <a:noFill/>
        </p:spPr>
        <p:txBody>
          <a:bodyPr wrap="square" lIns="18288" tIns="18288" rIns="18288" bIns="18288" anchor="ctr">
            <a:spAutoFit/>
          </a:bodyPr>
          <a:lstStyle/>
          <a:p>
            <a:pPr algn="l"/>
            <a:r>
              <a:rPr sz="2400" b="1" i="0">
                <a:solidFill>
                  <a:srgbClr val="1F3864"/>
                </a:solidFill>
                <a:latin typeface="Calibri"/>
              </a:rPr>
              <a:t>Trace</a:t>
            </a:r>
          </a:p>
        </p:txBody>
      </p:sp>
      <p:sp>
        <p:nvSpPr>
          <p:cNvPr id="25" name="TextBox 24"/>
          <p:cNvSpPr txBox="1"/>
          <p:nvPr/>
        </p:nvSpPr>
        <p:spPr>
          <a:xfrm>
            <a:off x="8503920" y="2423160"/>
            <a:ext cx="2834640" cy="548640"/>
          </a:xfrm>
          <a:prstGeom prst="rect">
            <a:avLst/>
          </a:prstGeom>
          <a:noFill/>
        </p:spPr>
        <p:txBody>
          <a:bodyPr wrap="square" lIns="18288" tIns="18288" rIns="18288" bIns="18288" anchor="t">
            <a:spAutoFit/>
          </a:bodyPr>
          <a:lstStyle/>
          <a:p>
            <a:pPr algn="l"/>
            <a:r>
              <a:rPr sz="1500" b="0" i="0">
                <a:solidFill>
                  <a:srgbClr val="1D2433"/>
                </a:solidFill>
                <a:latin typeface="Calibri"/>
              </a:rPr>
              <a:t>chaque appel journalisé</a:t>
            </a:r>
          </a:p>
        </p:txBody>
      </p:sp>
      <p:sp>
        <p:nvSpPr>
          <p:cNvPr id="26" name="TextBox 25"/>
          <p:cNvSpPr txBox="1"/>
          <p:nvPr/>
        </p:nvSpPr>
        <p:spPr>
          <a:xfrm>
            <a:off x="8503920" y="3017520"/>
            <a:ext cx="2834640" cy="1005840"/>
          </a:xfrm>
          <a:prstGeom prst="rect">
            <a:avLst/>
          </a:prstGeom>
          <a:noFill/>
        </p:spPr>
        <p:txBody>
          <a:bodyPr wrap="square" lIns="18288" tIns="18288" rIns="18288" bIns="18288" anchor="t">
            <a:spAutoFit/>
          </a:bodyPr>
          <a:lstStyle/>
          <a:p>
            <a:pPr marL="228600" indent="-201168" algn="l">
              <a:spcAft>
                <a:spcPts val="300"/>
              </a:spcAft>
              <a:buClr>
                <a:srgbClr val="2E5597"/>
              </a:buClr>
              <a:buChar char="•"/>
            </a:pPr>
            <a:r>
              <a:rPr sz="1500" b="0" i="0">
                <a:solidFill>
                  <a:srgbClr val="5B6475"/>
                </a:solidFill>
                <a:latin typeface="Calibri"/>
              </a:rPr>
              <a:t>finalité demandée</a:t>
            </a:r>
          </a:p>
          <a:p>
            <a:pPr marL="228600" indent="-201168" algn="l">
              <a:spcAft>
                <a:spcPts val="300"/>
              </a:spcAft>
              <a:buClr>
                <a:srgbClr val="2E5597"/>
              </a:buClr>
              <a:buChar char="•"/>
            </a:pPr>
            <a:r>
              <a:rPr sz="1500" b="0" i="0">
                <a:solidFill>
                  <a:srgbClr val="5B6475"/>
                </a:solidFill>
                <a:latin typeface="Calibri"/>
              </a:rPr>
              <a:t>motif du refus</a:t>
            </a:r>
          </a:p>
        </p:txBody>
      </p:sp>
      <p:sp>
        <p:nvSpPr>
          <p:cNvPr id="27" name="Rounded Rectangle 26"/>
          <p:cNvSpPr/>
          <p:nvPr/>
        </p:nvSpPr>
        <p:spPr>
          <a:xfrm>
            <a:off x="548640" y="4343400"/>
            <a:ext cx="11094415" cy="17830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8" name="TextBox 27"/>
          <p:cNvSpPr txBox="1"/>
          <p:nvPr/>
        </p:nvSpPr>
        <p:spPr>
          <a:xfrm>
            <a:off x="868680" y="4480560"/>
            <a:ext cx="5486400" cy="320040"/>
          </a:xfrm>
          <a:prstGeom prst="rect">
            <a:avLst/>
          </a:prstGeom>
          <a:noFill/>
        </p:spPr>
        <p:txBody>
          <a:bodyPr wrap="square" lIns="18288" tIns="18288" rIns="18288" bIns="18288" anchor="t">
            <a:spAutoFit/>
          </a:bodyPr>
          <a:lstStyle/>
          <a:p>
            <a:pPr algn="l"/>
            <a:r>
              <a:rPr sz="1200" b="1" i="0">
                <a:solidFill>
                  <a:srgbClr val="C78400"/>
                </a:solidFill>
                <a:latin typeface="Calibri"/>
              </a:rPr>
              <a:t>EXEMPLE DE REFUS</a:t>
            </a:r>
          </a:p>
        </p:txBody>
      </p:sp>
      <p:sp>
        <p:nvSpPr>
          <p:cNvPr id="29" name="TextBox 28"/>
          <p:cNvSpPr txBox="1"/>
          <p:nvPr/>
        </p:nvSpPr>
        <p:spPr>
          <a:xfrm>
            <a:off x="868680" y="4818888"/>
            <a:ext cx="10454335" cy="1234440"/>
          </a:xfrm>
          <a:prstGeom prst="rect">
            <a:avLst/>
          </a:prstGeom>
          <a:noFill/>
        </p:spPr>
        <p:txBody>
          <a:bodyPr wrap="square" lIns="18288" tIns="18288" rIns="18288" bIns="18288" anchor="t">
            <a:spAutoFit/>
          </a:bodyPr>
          <a:lstStyle/>
          <a:p>
            <a:pPr algn="l">
              <a:spcAft>
                <a:spcPts val="400"/>
              </a:spcAft>
            </a:pPr>
            <a:r>
              <a:rPr sz="1600" b="0" i="0">
                <a:solidFill>
                  <a:srgbClr val="FFFFFF"/>
                </a:solidFill>
                <a:latin typeface="Consolas"/>
              </a:rPr>
              <a:t>GET /patients/PAT-0102?purpose=analytics</a:t>
            </a:r>
          </a:p>
          <a:p>
            <a:pPr algn="l">
              <a:spcAft>
                <a:spcPts val="400"/>
              </a:spcAft>
            </a:pPr>
            <a:r>
              <a:rPr sz="1600" b="0" i="0">
                <a:solidFill>
                  <a:srgbClr val="FFFFFF"/>
                </a:solidFill>
                <a:latin typeface="Consolas"/>
              </a:rPr>
              <a:t>→ 403  « consentement non accorde pour la finalite analytics »</a:t>
            </a:r>
          </a:p>
          <a:p>
            <a:pPr algn="l">
              <a:spcAft>
                <a:spcPts val="400"/>
              </a:spcAft>
            </a:pPr>
            <a:r>
              <a:rPr sz="1600" b="0" i="0">
                <a:solidFill>
                  <a:srgbClr val="FFFFFF"/>
                </a:solidFill>
                <a:latin typeface="Consolas"/>
              </a:rPr>
              <a:t>→ access_audit : purpose = analytics · refusal_reason enregistré</a:t>
            </a:r>
          </a:p>
        </p:txBody>
      </p:sp>
    </p:spTree>
    <p:extLst>
      <p:ext uri="{BB962C8B-B14F-4D97-AF65-F5344CB8AC3E}">
        <p14:creationId xmlns:p14="http://schemas.microsoft.com/office/powerpoint/2010/main" val="1300378795"/>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15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CAS D'UTILISATION</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Sur le jeu difficile : 1 057 fiches ramenées à 803 patients</a:t>
            </a:r>
          </a:p>
        </p:txBody>
      </p:sp>
      <p:sp>
        <p:nvSpPr>
          <p:cNvPr id="10" name="Rounded Rectangle 9"/>
          <p:cNvSpPr/>
          <p:nvPr/>
        </p:nvSpPr>
        <p:spPr>
          <a:xfrm>
            <a:off x="548640" y="1600200"/>
            <a:ext cx="3017520" cy="210312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TextBox 10"/>
          <p:cNvSpPr txBox="1"/>
          <p:nvPr/>
        </p:nvSpPr>
        <p:spPr>
          <a:xfrm>
            <a:off x="640080" y="1709928"/>
            <a:ext cx="2834639" cy="777240"/>
          </a:xfrm>
          <a:prstGeom prst="rect">
            <a:avLst/>
          </a:prstGeom>
          <a:noFill/>
        </p:spPr>
        <p:txBody>
          <a:bodyPr wrap="square" lIns="18288" tIns="18288" rIns="18288" bIns="18288" anchor="ctr">
            <a:spAutoFit/>
          </a:bodyPr>
          <a:lstStyle/>
          <a:p>
            <a:pPr algn="ctr"/>
            <a:r>
              <a:rPr sz="6000" b="1" i="0">
                <a:solidFill>
                  <a:srgbClr val="1F3864"/>
                </a:solidFill>
                <a:latin typeface="Calibri"/>
              </a:rPr>
              <a:t>1 057</a:t>
            </a:r>
          </a:p>
        </p:txBody>
      </p:sp>
      <p:sp>
        <p:nvSpPr>
          <p:cNvPr id="12" name="TextBox 11"/>
          <p:cNvSpPr txBox="1"/>
          <p:nvPr/>
        </p:nvSpPr>
        <p:spPr>
          <a:xfrm>
            <a:off x="685800" y="2496312"/>
            <a:ext cx="2743200" cy="1142999"/>
          </a:xfrm>
          <a:prstGeom prst="rect">
            <a:avLst/>
          </a:prstGeom>
          <a:noFill/>
        </p:spPr>
        <p:txBody>
          <a:bodyPr wrap="square" lIns="18288" tIns="18288" rIns="18288" bIns="18288" anchor="t">
            <a:spAutoFit/>
          </a:bodyPr>
          <a:lstStyle/>
          <a:p>
            <a:pPr algn="ctr"/>
            <a:r>
              <a:rPr sz="1500" b="0" i="0">
                <a:solidFill>
                  <a:srgbClr val="5B6475"/>
                </a:solidFill>
                <a:latin typeface="Calibri"/>
              </a:rPr>
              <a:t>fiches dans la zone SILVER
(404 + 353 + 300)</a:t>
            </a:r>
          </a:p>
        </p:txBody>
      </p:sp>
      <p:sp>
        <p:nvSpPr>
          <p:cNvPr id="13" name="Right Arrow 12"/>
          <p:cNvSpPr/>
          <p:nvPr/>
        </p:nvSpPr>
        <p:spPr>
          <a:xfrm>
            <a:off x="3703320" y="2331720"/>
            <a:ext cx="731520" cy="640080"/>
          </a:xfrm>
          <a:prstGeom prst="rightArrow">
            <a:avLst/>
          </a:prstGeom>
          <a:solidFill>
            <a:srgbClr val="C78400"/>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4" name="Rounded Rectangle 13"/>
          <p:cNvSpPr/>
          <p:nvPr/>
        </p:nvSpPr>
        <p:spPr>
          <a:xfrm>
            <a:off x="4572000" y="1600200"/>
            <a:ext cx="3017520" cy="21031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5" name="TextBox 14"/>
          <p:cNvSpPr txBox="1"/>
          <p:nvPr/>
        </p:nvSpPr>
        <p:spPr>
          <a:xfrm>
            <a:off x="4663440" y="1709928"/>
            <a:ext cx="2834639" cy="777240"/>
          </a:xfrm>
          <a:prstGeom prst="rect">
            <a:avLst/>
          </a:prstGeom>
          <a:noFill/>
        </p:spPr>
        <p:txBody>
          <a:bodyPr wrap="square" lIns="18288" tIns="18288" rIns="18288" bIns="18288" anchor="ctr">
            <a:spAutoFit/>
          </a:bodyPr>
          <a:lstStyle/>
          <a:p>
            <a:pPr algn="ctr"/>
            <a:r>
              <a:rPr sz="6000" b="1" i="0">
                <a:solidFill>
                  <a:srgbClr val="FFFFFF"/>
                </a:solidFill>
                <a:latin typeface="Calibri"/>
              </a:rPr>
              <a:t>803</a:t>
            </a:r>
          </a:p>
        </p:txBody>
      </p:sp>
      <p:sp>
        <p:nvSpPr>
          <p:cNvPr id="16" name="TextBox 15"/>
          <p:cNvSpPr txBox="1"/>
          <p:nvPr/>
        </p:nvSpPr>
        <p:spPr>
          <a:xfrm>
            <a:off x="4709160" y="2496312"/>
            <a:ext cx="2743200" cy="1142999"/>
          </a:xfrm>
          <a:prstGeom prst="rect">
            <a:avLst/>
          </a:prstGeom>
          <a:noFill/>
        </p:spPr>
        <p:txBody>
          <a:bodyPr wrap="square" lIns="18288" tIns="18288" rIns="18288" bIns="18288" anchor="t">
            <a:spAutoFit/>
          </a:bodyPr>
          <a:lstStyle/>
          <a:p>
            <a:pPr algn="ctr"/>
            <a:r>
              <a:rPr sz="1500" b="0" i="0">
                <a:solidFill>
                  <a:srgbClr val="E2E9F3"/>
                </a:solidFill>
                <a:latin typeface="Calibri"/>
              </a:rPr>
              <a:t>patients maîtres distincts</a:t>
            </a:r>
          </a:p>
        </p:txBody>
      </p:sp>
      <p:sp>
        <p:nvSpPr>
          <p:cNvPr id="17" name="Rounded Rectangle 16"/>
          <p:cNvSpPr/>
          <p:nvPr/>
        </p:nvSpPr>
        <p:spPr>
          <a:xfrm>
            <a:off x="7955279" y="1600200"/>
            <a:ext cx="3687775" cy="100584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8" name="TextBox 17"/>
          <p:cNvSpPr txBox="1"/>
          <p:nvPr/>
        </p:nvSpPr>
        <p:spPr>
          <a:xfrm>
            <a:off x="8046719" y="1709928"/>
            <a:ext cx="3504895" cy="777240"/>
          </a:xfrm>
          <a:prstGeom prst="rect">
            <a:avLst/>
          </a:prstGeom>
          <a:noFill/>
        </p:spPr>
        <p:txBody>
          <a:bodyPr wrap="square" lIns="18288" tIns="18288" rIns="18288" bIns="18288" anchor="ctr">
            <a:spAutoFit/>
          </a:bodyPr>
          <a:lstStyle/>
          <a:p>
            <a:pPr algn="ctr"/>
            <a:r>
              <a:rPr sz="3000" b="1" i="0">
                <a:solidFill>
                  <a:srgbClr val="1F3864"/>
                </a:solidFill>
                <a:latin typeface="Calibri"/>
              </a:rPr>
              <a:t>254</a:t>
            </a:r>
          </a:p>
        </p:txBody>
      </p:sp>
      <p:sp>
        <p:nvSpPr>
          <p:cNvPr id="19" name="TextBox 18"/>
          <p:cNvSpPr txBox="1"/>
          <p:nvPr/>
        </p:nvSpPr>
        <p:spPr>
          <a:xfrm>
            <a:off x="8092440" y="2496312"/>
            <a:ext cx="3413455" cy="45720"/>
          </a:xfrm>
          <a:prstGeom prst="rect">
            <a:avLst/>
          </a:prstGeom>
          <a:noFill/>
        </p:spPr>
        <p:txBody>
          <a:bodyPr wrap="square" lIns="18288" tIns="18288" rIns="18288" bIns="18288" anchor="t">
            <a:spAutoFit/>
          </a:bodyPr>
          <a:lstStyle/>
          <a:p>
            <a:pPr algn="ctr"/>
            <a:r>
              <a:rPr sz="1300" b="0" i="0">
                <a:solidFill>
                  <a:srgbClr val="5B6475"/>
                </a:solidFill>
                <a:latin typeface="Calibri"/>
              </a:rPr>
              <a:t>doublons rattachés</a:t>
            </a:r>
          </a:p>
        </p:txBody>
      </p:sp>
      <p:sp>
        <p:nvSpPr>
          <p:cNvPr id="20" name="Rounded Rectangle 19"/>
          <p:cNvSpPr/>
          <p:nvPr/>
        </p:nvSpPr>
        <p:spPr>
          <a:xfrm>
            <a:off x="7955279" y="2697480"/>
            <a:ext cx="3687775" cy="100584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1" name="TextBox 20"/>
          <p:cNvSpPr txBox="1"/>
          <p:nvPr/>
        </p:nvSpPr>
        <p:spPr>
          <a:xfrm>
            <a:off x="8046719" y="2807208"/>
            <a:ext cx="3504895" cy="777240"/>
          </a:xfrm>
          <a:prstGeom prst="rect">
            <a:avLst/>
          </a:prstGeom>
          <a:noFill/>
        </p:spPr>
        <p:txBody>
          <a:bodyPr wrap="square" lIns="18288" tIns="18288" rIns="18288" bIns="18288" anchor="ctr">
            <a:spAutoFit/>
          </a:bodyPr>
          <a:lstStyle/>
          <a:p>
            <a:pPr algn="ctr"/>
            <a:r>
              <a:rPr sz="3000" b="1" i="0">
                <a:solidFill>
                  <a:srgbClr val="1F3864"/>
                </a:solidFill>
                <a:latin typeface="Calibri"/>
              </a:rPr>
              <a:t>24,03 %</a:t>
            </a:r>
          </a:p>
        </p:txBody>
      </p:sp>
      <p:sp>
        <p:nvSpPr>
          <p:cNvPr id="22" name="TextBox 21"/>
          <p:cNvSpPr txBox="1"/>
          <p:nvPr/>
        </p:nvSpPr>
        <p:spPr>
          <a:xfrm>
            <a:off x="8092440" y="3593592"/>
            <a:ext cx="3413455" cy="45720"/>
          </a:xfrm>
          <a:prstGeom prst="rect">
            <a:avLst/>
          </a:prstGeom>
          <a:noFill/>
        </p:spPr>
        <p:txBody>
          <a:bodyPr wrap="square" lIns="18288" tIns="18288" rIns="18288" bIns="18288" anchor="t">
            <a:spAutoFit/>
          </a:bodyPr>
          <a:lstStyle/>
          <a:p>
            <a:pPr algn="ctr"/>
            <a:r>
              <a:rPr sz="1300" b="0" i="0">
                <a:solidFill>
                  <a:srgbClr val="5B6475"/>
                </a:solidFill>
                <a:latin typeface="Calibri"/>
              </a:rPr>
              <a:t>taux de doublons</a:t>
            </a:r>
          </a:p>
        </p:txBody>
      </p:sp>
      <p:sp>
        <p:nvSpPr>
          <p:cNvPr id="23" name="TextBox 22"/>
          <p:cNvSpPr txBox="1"/>
          <p:nvPr/>
        </p:nvSpPr>
        <p:spPr>
          <a:xfrm>
            <a:off x="548640" y="4114800"/>
            <a:ext cx="3017520" cy="594360"/>
          </a:xfrm>
          <a:prstGeom prst="rect">
            <a:avLst/>
          </a:prstGeom>
          <a:noFill/>
        </p:spPr>
        <p:txBody>
          <a:bodyPr wrap="square" lIns="18288" tIns="18288" rIns="18288" bIns="18288" anchor="ctr">
            <a:spAutoFit/>
          </a:bodyPr>
          <a:lstStyle/>
          <a:p>
            <a:pPr algn="l"/>
            <a:r>
              <a:rPr sz="2200" b="1" i="0">
                <a:solidFill>
                  <a:srgbClr val="1F3864"/>
                </a:solidFill>
                <a:latin typeface="Calibri"/>
              </a:rPr>
              <a:t>1 057 − 254 = 803</a:t>
            </a:r>
          </a:p>
        </p:txBody>
      </p:sp>
      <p:sp>
        <p:nvSpPr>
          <p:cNvPr id="24" name="TextBox 23"/>
          <p:cNvSpPr txBox="1"/>
          <p:nvPr/>
        </p:nvSpPr>
        <p:spPr>
          <a:xfrm>
            <a:off x="3657600" y="4114800"/>
            <a:ext cx="7985455" cy="594360"/>
          </a:xfrm>
          <a:prstGeom prst="rect">
            <a:avLst/>
          </a:prstGeom>
          <a:noFill/>
        </p:spPr>
        <p:txBody>
          <a:bodyPr wrap="square" lIns="18288" tIns="18288" rIns="18288" bIns="18288" anchor="ctr">
            <a:spAutoFit/>
          </a:bodyPr>
          <a:lstStyle/>
          <a:p>
            <a:pPr algn="l"/>
            <a:r>
              <a:rPr sz="1600" b="0" i="0">
                <a:solidFill>
                  <a:srgbClr val="1D2433"/>
                </a:solidFill>
                <a:latin typeface="Calibri"/>
              </a:rPr>
              <a:t>cohérence vérifiée par comptage sur le lac</a:t>
            </a:r>
          </a:p>
        </p:txBody>
      </p:sp>
      <p:sp>
        <p:nvSpPr>
          <p:cNvPr id="25" name="TextBox 24"/>
          <p:cNvSpPr txBox="1"/>
          <p:nvPr/>
        </p:nvSpPr>
        <p:spPr>
          <a:xfrm>
            <a:off x="548640" y="4800600"/>
            <a:ext cx="3017520" cy="594360"/>
          </a:xfrm>
          <a:prstGeom prst="rect">
            <a:avLst/>
          </a:prstGeom>
          <a:noFill/>
        </p:spPr>
        <p:txBody>
          <a:bodyPr wrap="square" lIns="18288" tIns="18288" rIns="18288" bIns="18288" anchor="ctr">
            <a:spAutoFit/>
          </a:bodyPr>
          <a:lstStyle/>
          <a:p>
            <a:pPr algn="l"/>
            <a:r>
              <a:rPr sz="2200" b="1" i="0">
                <a:solidFill>
                  <a:srgbClr val="1F3864"/>
                </a:solidFill>
                <a:latin typeface="Calibri"/>
              </a:rPr>
              <a:t>5 / 5</a:t>
            </a:r>
          </a:p>
        </p:txBody>
      </p:sp>
      <p:sp>
        <p:nvSpPr>
          <p:cNvPr id="26" name="TextBox 25"/>
          <p:cNvSpPr txBox="1"/>
          <p:nvPr/>
        </p:nvSpPr>
        <p:spPr>
          <a:xfrm>
            <a:off x="3657600" y="4800600"/>
            <a:ext cx="7985455" cy="594360"/>
          </a:xfrm>
          <a:prstGeom prst="rect">
            <a:avLst/>
          </a:prstGeom>
          <a:noFill/>
        </p:spPr>
        <p:txBody>
          <a:bodyPr wrap="square" lIns="18288" tIns="18288" rIns="18288" bIns="18288" anchor="ctr">
            <a:spAutoFit/>
          </a:bodyPr>
          <a:lstStyle/>
          <a:p>
            <a:pPr algn="l"/>
            <a:r>
              <a:rPr sz="1600" b="0" i="0">
                <a:solidFill>
                  <a:srgbClr val="1D2433"/>
                </a:solidFill>
                <a:latin typeface="Calibri"/>
              </a:rPr>
              <a:t>étapes du pipeline réussies (run du 29/09/2026)</a:t>
            </a:r>
          </a:p>
        </p:txBody>
      </p:sp>
      <p:sp>
        <p:nvSpPr>
          <p:cNvPr id="27" name="TextBox 26"/>
          <p:cNvSpPr txBox="1"/>
          <p:nvPr/>
        </p:nvSpPr>
        <p:spPr>
          <a:xfrm>
            <a:off x="548640" y="5486400"/>
            <a:ext cx="3017520" cy="594360"/>
          </a:xfrm>
          <a:prstGeom prst="rect">
            <a:avLst/>
          </a:prstGeom>
          <a:noFill/>
        </p:spPr>
        <p:txBody>
          <a:bodyPr wrap="square" lIns="18288" tIns="18288" rIns="18288" bIns="18288" anchor="ctr">
            <a:spAutoFit/>
          </a:bodyPr>
          <a:lstStyle/>
          <a:p>
            <a:pPr algn="l"/>
            <a:r>
              <a:rPr sz="2200" b="1" i="0">
                <a:solidFill>
                  <a:srgbClr val="1F3864"/>
                </a:solidFill>
                <a:latin typeface="Calibri"/>
              </a:rPr>
              <a:t>123 / 123</a:t>
            </a:r>
          </a:p>
        </p:txBody>
      </p:sp>
      <p:sp>
        <p:nvSpPr>
          <p:cNvPr id="28" name="TextBox 27"/>
          <p:cNvSpPr txBox="1"/>
          <p:nvPr/>
        </p:nvSpPr>
        <p:spPr>
          <a:xfrm>
            <a:off x="3657600" y="5486400"/>
            <a:ext cx="7985455" cy="594360"/>
          </a:xfrm>
          <a:prstGeom prst="rect">
            <a:avLst/>
          </a:prstGeom>
          <a:noFill/>
        </p:spPr>
        <p:txBody>
          <a:bodyPr wrap="square" lIns="18288" tIns="18288" rIns="18288" bIns="18288" anchor="ctr">
            <a:spAutoFit/>
          </a:bodyPr>
          <a:lstStyle/>
          <a:p>
            <a:pPr algn="l"/>
            <a:r>
              <a:rPr sz="1600" b="0" i="0">
                <a:solidFill>
                  <a:srgbClr val="1D2433"/>
                </a:solidFill>
                <a:latin typeface="Calibri"/>
              </a:rPr>
              <a:t>tests automatisés réussis (moteur, gouvernance, pipeline)</a:t>
            </a:r>
          </a:p>
        </p:txBody>
      </p:sp>
      <p:sp>
        <p:nvSpPr>
          <p:cNvPr id="29" name="TextBox 28"/>
          <p:cNvSpPr txBox="1"/>
          <p:nvPr/>
        </p:nvSpPr>
        <p:spPr>
          <a:xfrm>
            <a:off x="548640" y="6126480"/>
            <a:ext cx="11094415" cy="274320"/>
          </a:xfrm>
          <a:prstGeom prst="rect">
            <a:avLst/>
          </a:prstGeom>
          <a:noFill/>
        </p:spPr>
        <p:txBody>
          <a:bodyPr wrap="square" lIns="18288" tIns="18288" rIns="18288" bIns="18288" anchor="t">
            <a:spAutoFit/>
          </a:bodyPr>
          <a:lstStyle/>
          <a:p>
            <a:pPr algn="l"/>
            <a:r>
              <a:rPr sz="1200" b="0" i="1">
                <a:solidFill>
                  <a:srgbClr val="5B6475"/>
                </a:solidFill>
                <a:latin typeface="Calibri"/>
              </a:rPr>
              <a:t>Jeu d'évaluation difficile, données synthétiques — aucune donnée réelle.</a:t>
            </a:r>
          </a:p>
        </p:txBody>
      </p:sp>
    </p:spTree>
    <p:extLst>
      <p:ext uri="{BB962C8B-B14F-4D97-AF65-F5344CB8AC3E}">
        <p14:creationId xmlns:p14="http://schemas.microsoft.com/office/powerpoint/2010/main" val="2658253395"/>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16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CAS D'UTILISATION</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Évaluation sur vérité terrain : zéro fusion à tort</a:t>
            </a:r>
          </a:p>
        </p:txBody>
      </p:sp>
      <p:graphicFrame>
        <p:nvGraphicFramePr>
          <p:cNvPr id="10" name="Chart 9"/>
          <p:cNvGraphicFramePr>
            <a:graphicFrameLocks noGrp="1"/>
          </p:cNvGraphicFramePr>
          <p:nvPr/>
        </p:nvGraphicFramePr>
        <p:xfrm>
          <a:off x="548640" y="1463040"/>
          <a:ext cx="6949440" cy="4754880"/>
        </p:xfrm>
        <a:graphic>
          <a:graphicData uri="http://schemas.openxmlformats.org/drawingml/2006/chart">
            <c:chart xmlns:c="http://schemas.openxmlformats.org/drawingml/2006/chart" xmlns:r="http://schemas.openxmlformats.org/officeDocument/2006/relationships" r:id="rId7"/>
          </a:graphicData>
        </a:graphic>
      </p:graphicFrame>
      <p:sp>
        <p:nvSpPr>
          <p:cNvPr id="11" name="Rounded Rectangle 10"/>
          <p:cNvSpPr/>
          <p:nvPr/>
        </p:nvSpPr>
        <p:spPr>
          <a:xfrm>
            <a:off x="7863840" y="1554480"/>
            <a:ext cx="3779215" cy="155448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2" name="TextBox 11"/>
          <p:cNvSpPr txBox="1"/>
          <p:nvPr/>
        </p:nvSpPr>
        <p:spPr>
          <a:xfrm>
            <a:off x="7955279" y="1664207"/>
            <a:ext cx="3596335" cy="777240"/>
          </a:xfrm>
          <a:prstGeom prst="rect">
            <a:avLst/>
          </a:prstGeom>
          <a:noFill/>
        </p:spPr>
        <p:txBody>
          <a:bodyPr wrap="square" lIns="18288" tIns="18288" rIns="18288" bIns="18288" anchor="ctr">
            <a:spAutoFit/>
          </a:bodyPr>
          <a:lstStyle/>
          <a:p>
            <a:pPr algn="ctr"/>
            <a:r>
              <a:rPr sz="5400" b="1" i="0">
                <a:solidFill>
                  <a:srgbClr val="FFFFFF"/>
                </a:solidFill>
                <a:latin typeface="Calibri"/>
              </a:rPr>
              <a:t>0</a:t>
            </a:r>
          </a:p>
        </p:txBody>
      </p:sp>
      <p:sp>
        <p:nvSpPr>
          <p:cNvPr id="13" name="TextBox 12"/>
          <p:cNvSpPr txBox="1"/>
          <p:nvPr/>
        </p:nvSpPr>
        <p:spPr>
          <a:xfrm>
            <a:off x="8001000" y="2450591"/>
            <a:ext cx="3504895" cy="594359"/>
          </a:xfrm>
          <a:prstGeom prst="rect">
            <a:avLst/>
          </a:prstGeom>
          <a:noFill/>
        </p:spPr>
        <p:txBody>
          <a:bodyPr wrap="square" lIns="18288" tIns="18288" rIns="18288" bIns="18288" anchor="t">
            <a:spAutoFit/>
          </a:bodyPr>
          <a:lstStyle/>
          <a:p>
            <a:pPr algn="ctr"/>
            <a:r>
              <a:rPr sz="1500" b="0" i="0">
                <a:solidFill>
                  <a:srgbClr val="E2E9F3"/>
                </a:solidFill>
                <a:latin typeface="Calibri"/>
              </a:rPr>
              <a:t>faux positif sur les trois niveaux</a:t>
            </a:r>
          </a:p>
        </p:txBody>
      </p:sp>
      <p:sp>
        <p:nvSpPr>
          <p:cNvPr id="14" name="Rounded Rectangle 13"/>
          <p:cNvSpPr/>
          <p:nvPr/>
        </p:nvSpPr>
        <p:spPr>
          <a:xfrm>
            <a:off x="7863840" y="3291839"/>
            <a:ext cx="3779215" cy="132588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5" name="TextBox 14"/>
          <p:cNvSpPr txBox="1"/>
          <p:nvPr/>
        </p:nvSpPr>
        <p:spPr>
          <a:xfrm>
            <a:off x="8092440" y="3383280"/>
            <a:ext cx="3322015" cy="1188720"/>
          </a:xfrm>
          <a:prstGeom prst="rect">
            <a:avLst/>
          </a:prstGeom>
          <a:noFill/>
        </p:spPr>
        <p:txBody>
          <a:bodyPr wrap="square" lIns="18288" tIns="18288" rIns="18288" bIns="18288" anchor="t">
            <a:spAutoFit/>
          </a:bodyPr>
          <a:lstStyle/>
          <a:p>
            <a:pPr algn="l">
              <a:spcAft>
                <a:spcPts val="400"/>
              </a:spcAft>
            </a:pPr>
            <a:r>
              <a:rPr sz="1500" b="1" i="0">
                <a:solidFill>
                  <a:srgbClr val="1D2433"/>
                </a:solidFill>
                <a:latin typeface="Calibri"/>
              </a:rPr>
              <a:t>Parité Pandas = Spark</a:t>
            </a:r>
          </a:p>
          <a:p>
            <a:pPr algn="l">
              <a:spcAft>
                <a:spcPts val="400"/>
              </a:spcAft>
            </a:pPr>
            <a:r>
              <a:rPr sz="1500" b="0" i="0">
                <a:solidFill>
                  <a:srgbClr val="1D2433"/>
                </a:solidFill>
                <a:latin typeface="Calibri"/>
              </a:rPr>
              <a:t>VP 307 · FP 0 · FN 420 dans les deux implémentations</a:t>
            </a:r>
          </a:p>
        </p:txBody>
      </p:sp>
      <p:sp>
        <p:nvSpPr>
          <p:cNvPr id="16" name="Rounded Rectangle 15"/>
          <p:cNvSpPr/>
          <p:nvPr/>
        </p:nvSpPr>
        <p:spPr>
          <a:xfrm>
            <a:off x="7863840" y="4800600"/>
            <a:ext cx="3779215" cy="141732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7" name="TextBox 16"/>
          <p:cNvSpPr txBox="1"/>
          <p:nvPr/>
        </p:nvSpPr>
        <p:spPr>
          <a:xfrm>
            <a:off x="8092440" y="4892040"/>
            <a:ext cx="3322015" cy="1280160"/>
          </a:xfrm>
          <a:prstGeom prst="rect">
            <a:avLst/>
          </a:prstGeom>
          <a:noFill/>
        </p:spPr>
        <p:txBody>
          <a:bodyPr wrap="square" lIns="18288" tIns="18288" rIns="18288" bIns="18288" anchor="t">
            <a:spAutoFit/>
          </a:bodyPr>
          <a:lstStyle/>
          <a:p>
            <a:pPr algn="l">
              <a:spcAft>
                <a:spcPts val="400"/>
              </a:spcAft>
            </a:pPr>
            <a:r>
              <a:rPr sz="1500" b="1" i="0">
                <a:solidFill>
                  <a:srgbClr val="1D2433"/>
                </a:solidFill>
                <a:latin typeface="Calibri"/>
              </a:rPr>
              <a:t>Rappel difficile : 0,287 → 0,422</a:t>
            </a:r>
          </a:p>
          <a:p>
            <a:pPr algn="l">
              <a:spcAft>
                <a:spcPts val="400"/>
              </a:spcAft>
            </a:pPr>
            <a:r>
              <a:rPr sz="1500" b="0" i="0">
                <a:solidFill>
                  <a:srgbClr val="1D2433"/>
                </a:solidFill>
                <a:latin typeface="Calibri"/>
              </a:rPr>
              <a:t>grâce au CIN dans la clé exacte, sans aucun faux positif</a:t>
            </a:r>
          </a:p>
        </p:txBody>
      </p:sp>
    </p:spTree>
    <p:extLst>
      <p:ext uri="{BB962C8B-B14F-4D97-AF65-F5344CB8AC3E}">
        <p14:creationId xmlns:p14="http://schemas.microsoft.com/office/powerpoint/2010/main" val="2361799728"/>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17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DÉMONSTRATION</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Démonstration : la chaîne de bout en bout</a:t>
            </a:r>
          </a:p>
        </p:txBody>
      </p:sp>
      <p:sp>
        <p:nvSpPr>
          <p:cNvPr id="10" name="Rounded Rectangle 9"/>
          <p:cNvSpPr/>
          <p:nvPr/>
        </p:nvSpPr>
        <p:spPr>
          <a:xfrm>
            <a:off x="548640" y="1554480"/>
            <a:ext cx="6766560" cy="4480560"/>
          </a:xfrm>
          <a:prstGeom prst="roundRect">
            <a:avLst>
              <a:gd name="adj" fmla="val 8000"/>
            </a:avLst>
          </a:prstGeom>
          <a:solidFill>
            <a:srgbClr val="F1F4F9"/>
          </a:solidFill>
          <a:ln w="15875">
            <a:solidFill>
              <a:srgbClr val="8EAADB"/>
            </a:solidFill>
            <a:prstDash val="dash"/>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Oval 10"/>
          <p:cNvSpPr/>
          <p:nvPr/>
        </p:nvSpPr>
        <p:spPr>
          <a:xfrm>
            <a:off x="3429000" y="2788920"/>
            <a:ext cx="1005840" cy="10058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800" b="1" i="0">
                <a:solidFill>
                  <a:srgbClr val="FFFFFF"/>
                </a:solidFill>
                <a:latin typeface="Calibri"/>
              </a:rPr>
              <a:t>▶</a:t>
            </a:r>
          </a:p>
        </p:txBody>
      </p:sp>
      <p:sp>
        <p:nvSpPr>
          <p:cNvPr id="12" name="TextBox 11"/>
          <p:cNvSpPr txBox="1"/>
          <p:nvPr/>
        </p:nvSpPr>
        <p:spPr>
          <a:xfrm>
            <a:off x="914400" y="4023360"/>
            <a:ext cx="6035040" cy="1463040"/>
          </a:xfrm>
          <a:prstGeom prst="rect">
            <a:avLst/>
          </a:prstGeom>
          <a:noFill/>
        </p:spPr>
        <p:txBody>
          <a:bodyPr wrap="square" lIns="18288" tIns="18288" rIns="18288" bIns="18288" anchor="t">
            <a:spAutoFit/>
          </a:bodyPr>
          <a:lstStyle/>
          <a:p>
            <a:pPr algn="ctr">
              <a:spcAft>
                <a:spcPts val="400"/>
              </a:spcAft>
            </a:pPr>
            <a:r>
              <a:rPr sz="1500" b="1" i="0">
                <a:solidFill>
                  <a:srgbClr val="5B6475"/>
                </a:solidFill>
                <a:latin typeface="Calibri"/>
              </a:rPr>
              <a:t>Vidéo de démonstration — 3 min 30</a:t>
            </a:r>
          </a:p>
          <a:p>
            <a:pPr algn="ctr">
              <a:spcAft>
                <a:spcPts val="400"/>
              </a:spcAft>
            </a:pPr>
            <a:r>
              <a:rPr sz="1500" b="0" i="0">
                <a:solidFill>
                  <a:srgbClr val="5B6475"/>
                </a:solidFill>
                <a:latin typeface="Calibri"/>
              </a:rPr>
              <a:t>Emplacement réservé : insérer la vidéo ici,</a:t>
            </a:r>
          </a:p>
          <a:p>
            <a:pPr algn="ctr">
              <a:spcAft>
                <a:spcPts val="400"/>
              </a:spcAft>
            </a:pPr>
            <a:r>
              <a:rPr sz="1500" b="0" i="0">
                <a:solidFill>
                  <a:srgbClr val="5B6475"/>
                </a:solidFill>
                <a:latin typeface="Calibri"/>
              </a:rPr>
              <a:t>ou déposer documents/captures/C07_pipeline.png</a:t>
            </a:r>
          </a:p>
        </p:txBody>
      </p:sp>
      <p:sp>
        <p:nvSpPr>
          <p:cNvPr id="13" name="Rounded Rectangle 12"/>
          <p:cNvSpPr/>
          <p:nvPr/>
        </p:nvSpPr>
        <p:spPr>
          <a:xfrm>
            <a:off x="7680960" y="1554480"/>
            <a:ext cx="914400" cy="7315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500" b="1" i="0">
                <a:solidFill>
                  <a:srgbClr val="FFFFFF"/>
                </a:solidFill>
                <a:latin typeface="Calibri"/>
              </a:rPr>
              <a:t>0:45</a:t>
            </a:r>
          </a:p>
        </p:txBody>
      </p:sp>
      <p:sp>
        <p:nvSpPr>
          <p:cNvPr id="14" name="TextBox 13"/>
          <p:cNvSpPr txBox="1"/>
          <p:nvPr/>
        </p:nvSpPr>
        <p:spPr>
          <a:xfrm>
            <a:off x="8732520" y="1554480"/>
            <a:ext cx="2910535" cy="731520"/>
          </a:xfrm>
          <a:prstGeom prst="rect">
            <a:avLst/>
          </a:prstGeom>
          <a:noFill/>
        </p:spPr>
        <p:txBody>
          <a:bodyPr wrap="square" lIns="18288" tIns="18288" rIns="18288" bIns="18288" anchor="ctr">
            <a:spAutoFit/>
          </a:bodyPr>
          <a:lstStyle/>
          <a:p>
            <a:pPr algn="l"/>
            <a:r>
              <a:rPr sz="1500" b="0" i="0">
                <a:solidFill>
                  <a:srgbClr val="1D2433"/>
                </a:solidFill>
                <a:latin typeface="Calibri"/>
              </a:rPr>
              <a:t>Tests automatisés : 123 / 123</a:t>
            </a:r>
          </a:p>
        </p:txBody>
      </p:sp>
      <p:sp>
        <p:nvSpPr>
          <p:cNvPr id="15" name="Rounded Rectangle 14"/>
          <p:cNvSpPr/>
          <p:nvPr/>
        </p:nvSpPr>
        <p:spPr>
          <a:xfrm>
            <a:off x="7680960" y="2459736"/>
            <a:ext cx="914400" cy="7315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500" b="1" i="0">
                <a:solidFill>
                  <a:srgbClr val="FFFFFF"/>
                </a:solidFill>
                <a:latin typeface="Calibri"/>
              </a:rPr>
              <a:t>0:45</a:t>
            </a:r>
          </a:p>
        </p:txBody>
      </p:sp>
      <p:sp>
        <p:nvSpPr>
          <p:cNvPr id="16" name="TextBox 15"/>
          <p:cNvSpPr txBox="1"/>
          <p:nvPr/>
        </p:nvSpPr>
        <p:spPr>
          <a:xfrm>
            <a:off x="8732520" y="2459736"/>
            <a:ext cx="2910535" cy="731520"/>
          </a:xfrm>
          <a:prstGeom prst="rect">
            <a:avLst/>
          </a:prstGeom>
          <a:noFill/>
        </p:spPr>
        <p:txBody>
          <a:bodyPr wrap="square" lIns="18288" tIns="18288" rIns="18288" bIns="18288" anchor="ctr">
            <a:spAutoFit/>
          </a:bodyPr>
          <a:lstStyle/>
          <a:p>
            <a:pPr algn="l"/>
            <a:r>
              <a:rPr sz="1500" b="0" i="0">
                <a:solidFill>
                  <a:srgbClr val="1D2433"/>
                </a:solidFill>
                <a:latin typeface="Calibri"/>
              </a:rPr>
              <a:t>Évaluation, jeu difficile : précision 1,000</a:t>
            </a:r>
          </a:p>
        </p:txBody>
      </p:sp>
      <p:sp>
        <p:nvSpPr>
          <p:cNvPr id="17" name="Rounded Rectangle 16"/>
          <p:cNvSpPr/>
          <p:nvPr/>
        </p:nvSpPr>
        <p:spPr>
          <a:xfrm>
            <a:off x="7680960" y="3364991"/>
            <a:ext cx="914400" cy="7315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500" b="1" i="0">
                <a:solidFill>
                  <a:srgbClr val="FFFFFF"/>
                </a:solidFill>
                <a:latin typeface="Calibri"/>
              </a:rPr>
              <a:t>1:00</a:t>
            </a:r>
          </a:p>
        </p:txBody>
      </p:sp>
      <p:sp>
        <p:nvSpPr>
          <p:cNvPr id="18" name="TextBox 17"/>
          <p:cNvSpPr txBox="1"/>
          <p:nvPr/>
        </p:nvSpPr>
        <p:spPr>
          <a:xfrm>
            <a:off x="8732520" y="3364991"/>
            <a:ext cx="2910535" cy="731520"/>
          </a:xfrm>
          <a:prstGeom prst="rect">
            <a:avLst/>
          </a:prstGeom>
          <a:noFill/>
        </p:spPr>
        <p:txBody>
          <a:bodyPr wrap="square" lIns="18288" tIns="18288" rIns="18288" bIns="18288" anchor="ctr">
            <a:spAutoFit/>
          </a:bodyPr>
          <a:lstStyle/>
          <a:p>
            <a:pPr algn="l"/>
            <a:r>
              <a:rPr sz="1500" b="0" i="0">
                <a:solidFill>
                  <a:srgbClr val="1D2433"/>
                </a:solidFill>
                <a:latin typeface="Calibri"/>
              </a:rPr>
              <a:t>Pipeline RAW → SILVER → GOLD</a:t>
            </a:r>
          </a:p>
        </p:txBody>
      </p:sp>
      <p:sp>
        <p:nvSpPr>
          <p:cNvPr id="19" name="Rounded Rectangle 18"/>
          <p:cNvSpPr/>
          <p:nvPr/>
        </p:nvSpPr>
        <p:spPr>
          <a:xfrm>
            <a:off x="7680960" y="4270248"/>
            <a:ext cx="914400" cy="73152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500" b="1" i="0">
                <a:solidFill>
                  <a:srgbClr val="FFFFFF"/>
                </a:solidFill>
                <a:latin typeface="Calibri"/>
              </a:rPr>
              <a:t>0:30</a:t>
            </a:r>
          </a:p>
        </p:txBody>
      </p:sp>
      <p:sp>
        <p:nvSpPr>
          <p:cNvPr id="20" name="TextBox 19"/>
          <p:cNvSpPr txBox="1"/>
          <p:nvPr/>
        </p:nvSpPr>
        <p:spPr>
          <a:xfrm>
            <a:off x="8732520" y="4270248"/>
            <a:ext cx="2910535" cy="731520"/>
          </a:xfrm>
          <a:prstGeom prst="rect">
            <a:avLst/>
          </a:prstGeom>
          <a:noFill/>
        </p:spPr>
        <p:txBody>
          <a:bodyPr wrap="square" lIns="18288" tIns="18288" rIns="18288" bIns="18288" anchor="ctr">
            <a:spAutoFit/>
          </a:bodyPr>
          <a:lstStyle/>
          <a:p>
            <a:pPr algn="l"/>
            <a:r>
              <a:rPr sz="1500" b="0" i="0">
                <a:solidFill>
                  <a:srgbClr val="1D2433"/>
                </a:solidFill>
                <a:latin typeface="Calibri"/>
              </a:rPr>
              <a:t>Tableau de bord : zones, dernier run, planification</a:t>
            </a:r>
          </a:p>
        </p:txBody>
      </p:sp>
      <p:sp>
        <p:nvSpPr>
          <p:cNvPr id="21" name="Rounded Rectangle 20"/>
          <p:cNvSpPr/>
          <p:nvPr/>
        </p:nvSpPr>
        <p:spPr>
          <a:xfrm>
            <a:off x="7680960" y="5175504"/>
            <a:ext cx="914400" cy="731520"/>
          </a:xfrm>
          <a:prstGeom prst="roundRect">
            <a:avLst>
              <a:gd name="adj" fmla="val 8000"/>
            </a:avLst>
          </a:prstGeom>
          <a:solidFill>
            <a:srgbClr val="E2E9F3"/>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500" b="1" i="0">
                <a:solidFill>
                  <a:srgbClr val="1D2433"/>
                </a:solidFill>
                <a:latin typeface="Calibri"/>
              </a:rPr>
              <a:t>0:30</a:t>
            </a:r>
          </a:p>
        </p:txBody>
      </p:sp>
      <p:sp>
        <p:nvSpPr>
          <p:cNvPr id="22" name="TextBox 21"/>
          <p:cNvSpPr txBox="1"/>
          <p:nvPr/>
        </p:nvSpPr>
        <p:spPr>
          <a:xfrm>
            <a:off x="8732520" y="5175504"/>
            <a:ext cx="2910535" cy="731520"/>
          </a:xfrm>
          <a:prstGeom prst="rect">
            <a:avLst/>
          </a:prstGeom>
          <a:noFill/>
        </p:spPr>
        <p:txBody>
          <a:bodyPr wrap="square" lIns="18288" tIns="18288" rIns="18288" bIns="18288" anchor="ctr">
            <a:spAutoFit/>
          </a:bodyPr>
          <a:lstStyle/>
          <a:p>
            <a:pPr algn="l"/>
            <a:r>
              <a:rPr sz="1500" b="0" i="0">
                <a:solidFill>
                  <a:srgbClr val="5B6475"/>
                </a:solidFill>
                <a:latin typeface="Calibri"/>
              </a:rPr>
              <a:t>Repli : compteurs figés 1 057 · 803 · 254</a:t>
            </a:r>
          </a:p>
        </p:txBody>
      </p:sp>
    </p:spTree>
    <p:extLst>
      <p:ext uri="{BB962C8B-B14F-4D97-AF65-F5344CB8AC3E}">
        <p14:creationId xmlns:p14="http://schemas.microsoft.com/office/powerpoint/2010/main" val="3895944973"/>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18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PERSPECTIVES</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Limites assumées et suite du projet</a:t>
            </a:r>
          </a:p>
        </p:txBody>
      </p:sp>
      <p:sp>
        <p:nvSpPr>
          <p:cNvPr id="10" name="Rounded Rectangle 9"/>
          <p:cNvSpPr/>
          <p:nvPr/>
        </p:nvSpPr>
        <p:spPr>
          <a:xfrm>
            <a:off x="548640" y="1554480"/>
            <a:ext cx="5364327" cy="3977639"/>
          </a:xfrm>
          <a:prstGeom prst="roundRect">
            <a:avLst>
              <a:gd name="adj" fmla="val 8000"/>
            </a:avLst>
          </a:prstGeom>
          <a:solidFill>
            <a:srgbClr val="FBE7E5"/>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TextBox 10"/>
          <p:cNvSpPr txBox="1"/>
          <p:nvPr/>
        </p:nvSpPr>
        <p:spPr>
          <a:xfrm>
            <a:off x="868680" y="1691640"/>
            <a:ext cx="4724247" cy="411480"/>
          </a:xfrm>
          <a:prstGeom prst="rect">
            <a:avLst/>
          </a:prstGeom>
          <a:noFill/>
        </p:spPr>
        <p:txBody>
          <a:bodyPr wrap="square" lIns="18288" tIns="18288" rIns="18288" bIns="18288" anchor="t">
            <a:spAutoFit/>
          </a:bodyPr>
          <a:lstStyle/>
          <a:p>
            <a:pPr algn="l"/>
            <a:r>
              <a:rPr sz="2100" b="1" i="0">
                <a:solidFill>
                  <a:srgbClr val="B3261E"/>
                </a:solidFill>
                <a:latin typeface="Calibri"/>
              </a:rPr>
              <a:t>Limites assumées</a:t>
            </a:r>
          </a:p>
        </p:txBody>
      </p:sp>
      <p:sp>
        <p:nvSpPr>
          <p:cNvPr id="12" name="TextBox 11"/>
          <p:cNvSpPr txBox="1"/>
          <p:nvPr/>
        </p:nvSpPr>
        <p:spPr>
          <a:xfrm>
            <a:off x="868680" y="2240280"/>
            <a:ext cx="4724247" cy="3200400"/>
          </a:xfrm>
          <a:prstGeom prst="rect">
            <a:avLst/>
          </a:prstGeom>
          <a:noFill/>
        </p:spPr>
        <p:txBody>
          <a:bodyPr wrap="square" lIns="18288" tIns="18288" rIns="18288" bIns="18288" anchor="t">
            <a:spAutoFit/>
          </a:bodyPr>
          <a:lstStyle/>
          <a:p>
            <a:pPr marL="228600" indent="-201168" algn="l">
              <a:spcAft>
                <a:spcPts val="1000"/>
              </a:spcAft>
              <a:buClr>
                <a:srgbClr val="2E5597"/>
              </a:buClr>
              <a:buChar char="•"/>
            </a:pPr>
            <a:r>
              <a:rPr sz="1600" b="0" i="0">
                <a:solidFill>
                  <a:srgbClr val="1D2433"/>
                </a:solidFill>
                <a:latin typeface="Calibri"/>
              </a:rPr>
              <a:t>Rappel de </a:t>
            </a:r>
            <a:r>
              <a:rPr sz="1600" b="1" i="0">
                <a:solidFill>
                  <a:srgbClr val="1D2433"/>
                </a:solidFill>
                <a:latin typeface="Calibri"/>
              </a:rPr>
              <a:t>0,422</a:t>
            </a:r>
            <a:r>
              <a:rPr sz="1600" b="0" i="0">
                <a:solidFill>
                  <a:srgbClr val="1D2433"/>
                </a:solidFill>
                <a:latin typeface="Calibri"/>
              </a:rPr>
              <a:t> sur le jeu difficile (seuil prudent)</a:t>
            </a:r>
          </a:p>
          <a:p>
            <a:pPr marL="228600" indent="-201168" algn="l">
              <a:spcAft>
                <a:spcPts val="1000"/>
              </a:spcAft>
              <a:buClr>
                <a:srgbClr val="2E5597"/>
              </a:buClr>
              <a:buChar char="•"/>
            </a:pPr>
            <a:r>
              <a:rPr sz="1600" b="0" i="0">
                <a:solidFill>
                  <a:srgbClr val="1D2433"/>
                </a:solidFill>
                <a:latin typeface="Calibri"/>
              </a:rPr>
              <a:t>Planification </a:t>
            </a:r>
            <a:r>
              <a:rPr sz="1600" b="1" i="0">
                <a:solidFill>
                  <a:srgbClr val="1D2433"/>
                </a:solidFill>
                <a:latin typeface="Calibri"/>
              </a:rPr>
              <a:t>cron non activée</a:t>
            </a:r>
            <a:r>
              <a:rPr sz="1600" b="0" i="0">
                <a:solidFill>
                  <a:srgbClr val="1D2433"/>
                </a:solidFill>
                <a:latin typeface="Calibri"/>
              </a:rPr>
              <a:t> : logique testée, pas encore observée</a:t>
            </a:r>
          </a:p>
          <a:p>
            <a:pPr marL="228600" indent="-201168" algn="l">
              <a:spcAft>
                <a:spcPts val="1000"/>
              </a:spcAft>
              <a:buClr>
                <a:srgbClr val="2E5597"/>
              </a:buClr>
              <a:buChar char="•"/>
            </a:pPr>
            <a:r>
              <a:rPr sz="1600" b="0" i="0">
                <a:solidFill>
                  <a:srgbClr val="1D2433"/>
                </a:solidFill>
                <a:latin typeface="Calibri"/>
              </a:rPr>
              <a:t>Base centrale </a:t>
            </a:r>
            <a:r>
              <a:rPr sz="1600" b="1" i="0">
                <a:solidFill>
                  <a:srgbClr val="1D2433"/>
                </a:solidFill>
                <a:latin typeface="Calibri"/>
              </a:rPr>
              <a:t>de test</a:t>
            </a:r>
            <a:r>
              <a:rPr sz="1600" b="0" i="0">
                <a:solidFill>
                  <a:srgbClr val="1D2433"/>
                </a:solidFill>
                <a:latin typeface="Calibri"/>
              </a:rPr>
              <a:t> : consentements de démonstration</a:t>
            </a:r>
          </a:p>
          <a:p>
            <a:pPr marL="228600" indent="-201168" algn="l">
              <a:spcAft>
                <a:spcPts val="1000"/>
              </a:spcAft>
              <a:buClr>
                <a:srgbClr val="2E5597"/>
              </a:buClr>
              <a:buChar char="•"/>
            </a:pPr>
            <a:r>
              <a:rPr sz="1600" b="0" i="0">
                <a:solidFill>
                  <a:srgbClr val="1D2433"/>
                </a:solidFill>
                <a:latin typeface="Calibri"/>
              </a:rPr>
              <a:t>Plateforme </a:t>
            </a:r>
            <a:r>
              <a:rPr sz="1600" b="1" i="0">
                <a:solidFill>
                  <a:srgbClr val="1D2433"/>
                </a:solidFill>
                <a:latin typeface="Calibri"/>
              </a:rPr>
              <a:t>non déployée</a:t>
            </a:r>
            <a:r>
              <a:rPr sz="1600" b="0" i="0">
                <a:solidFill>
                  <a:srgbClr val="1D2433"/>
                </a:solidFill>
                <a:latin typeface="Calibri"/>
              </a:rPr>
              <a:t> : prototype reproductible sur VM</a:t>
            </a:r>
          </a:p>
        </p:txBody>
      </p:sp>
      <p:sp>
        <p:nvSpPr>
          <p:cNvPr id="13" name="Rounded Rectangle 12"/>
          <p:cNvSpPr/>
          <p:nvPr/>
        </p:nvSpPr>
        <p:spPr>
          <a:xfrm>
            <a:off x="6278727" y="1554480"/>
            <a:ext cx="5364327" cy="3977639"/>
          </a:xfrm>
          <a:prstGeom prst="roundRect">
            <a:avLst>
              <a:gd name="adj" fmla="val 8000"/>
            </a:avLst>
          </a:prstGeom>
          <a:solidFill>
            <a:srgbClr val="E5F3EA"/>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4" name="TextBox 13"/>
          <p:cNvSpPr txBox="1"/>
          <p:nvPr/>
        </p:nvSpPr>
        <p:spPr>
          <a:xfrm>
            <a:off x="6598767" y="1691640"/>
            <a:ext cx="4724247" cy="411480"/>
          </a:xfrm>
          <a:prstGeom prst="rect">
            <a:avLst/>
          </a:prstGeom>
          <a:noFill/>
        </p:spPr>
        <p:txBody>
          <a:bodyPr wrap="square" lIns="18288" tIns="18288" rIns="18288" bIns="18288" anchor="t">
            <a:spAutoFit/>
          </a:bodyPr>
          <a:lstStyle/>
          <a:p>
            <a:pPr algn="l"/>
            <a:r>
              <a:rPr sz="2100" b="1" i="0">
                <a:solidFill>
                  <a:srgbClr val="2E7D4F"/>
                </a:solidFill>
                <a:latin typeface="Calibri"/>
              </a:rPr>
              <a:t>Perspectives</a:t>
            </a:r>
          </a:p>
        </p:txBody>
      </p:sp>
      <p:sp>
        <p:nvSpPr>
          <p:cNvPr id="15" name="TextBox 14"/>
          <p:cNvSpPr txBox="1"/>
          <p:nvPr/>
        </p:nvSpPr>
        <p:spPr>
          <a:xfrm>
            <a:off x="6598767" y="2240280"/>
            <a:ext cx="4724247" cy="3200400"/>
          </a:xfrm>
          <a:prstGeom prst="rect">
            <a:avLst/>
          </a:prstGeom>
          <a:noFill/>
        </p:spPr>
        <p:txBody>
          <a:bodyPr wrap="square" lIns="18288" tIns="18288" rIns="18288" bIns="18288" anchor="t">
            <a:spAutoFit/>
          </a:bodyPr>
          <a:lstStyle/>
          <a:p>
            <a:pPr marL="228600" indent="-201168" algn="l">
              <a:spcAft>
                <a:spcPts val="1000"/>
              </a:spcAft>
              <a:buClr>
                <a:srgbClr val="2E5597"/>
              </a:buClr>
              <a:buChar char="•"/>
            </a:pPr>
            <a:r>
              <a:rPr sz="1600" b="1" i="0">
                <a:solidFill>
                  <a:srgbClr val="1D2433"/>
                </a:solidFill>
                <a:latin typeface="Calibri"/>
              </a:rPr>
              <a:t>Court terme</a:t>
            </a:r>
            <a:r>
              <a:rPr sz="1600" b="0" i="0">
                <a:solidFill>
                  <a:srgbClr val="1D2433"/>
                </a:solidFill>
                <a:latin typeface="Calibri"/>
              </a:rPr>
              <a:t> : consentement par type de dossier, calibrage du seuil, activation du cron</a:t>
            </a:r>
          </a:p>
          <a:p>
            <a:pPr marL="228600" indent="-201168" algn="l">
              <a:spcAft>
                <a:spcPts val="1000"/>
              </a:spcAft>
              <a:buClr>
                <a:srgbClr val="2E5597"/>
              </a:buClr>
              <a:buChar char="•"/>
            </a:pPr>
            <a:r>
              <a:rPr sz="1600" b="1" i="0">
                <a:solidFill>
                  <a:srgbClr val="1D2433"/>
                </a:solidFill>
                <a:latin typeface="Calibri"/>
              </a:rPr>
              <a:t>Moyen terme</a:t>
            </a:r>
            <a:r>
              <a:rPr sz="1600" b="0" i="0">
                <a:solidFill>
                  <a:srgbClr val="1D2433"/>
                </a:solidFill>
                <a:latin typeface="Calibri"/>
              </a:rPr>
              <a:t> : intégration continue, blocking partitionné, volumes réels</a:t>
            </a:r>
          </a:p>
          <a:p>
            <a:pPr marL="228600" indent="-201168" algn="l">
              <a:spcAft>
                <a:spcPts val="1000"/>
              </a:spcAft>
              <a:buClr>
                <a:srgbClr val="2E5597"/>
              </a:buClr>
              <a:buChar char="•"/>
            </a:pPr>
            <a:r>
              <a:rPr sz="1600" b="1" i="0">
                <a:solidFill>
                  <a:srgbClr val="1D2433"/>
                </a:solidFill>
                <a:latin typeface="Calibri"/>
              </a:rPr>
              <a:t>Long terme</a:t>
            </a:r>
            <a:r>
              <a:rPr sz="1600" b="0" i="0">
                <a:solidFill>
                  <a:srgbClr val="1D2433"/>
                </a:solidFill>
                <a:latin typeface="Calibri"/>
              </a:rPr>
              <a:t> : catalogue de métadonnées, autres entités (médecins, médicaments)</a:t>
            </a:r>
          </a:p>
        </p:txBody>
      </p:sp>
      <p:sp>
        <p:nvSpPr>
          <p:cNvPr id="16" name="Rounded Rectangle 15"/>
          <p:cNvSpPr/>
          <p:nvPr/>
        </p:nvSpPr>
        <p:spPr>
          <a:xfrm>
            <a:off x="548640" y="5760720"/>
            <a:ext cx="11094415" cy="54864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0" i="0">
                <a:solidFill>
                  <a:srgbClr val="1D2433"/>
                </a:solidFill>
                <a:latin typeface="Calibri"/>
              </a:rPr>
              <a:t>Avant toute mise en production : vérifier le </a:t>
            </a:r>
            <a:r>
              <a:rPr sz="1600" b="1" i="0">
                <a:solidFill>
                  <a:srgbClr val="1D2433"/>
                </a:solidFill>
                <a:latin typeface="Calibri"/>
              </a:rPr>
              <a:t>droit malgache</a:t>
            </a:r>
            <a:r>
              <a:rPr sz="1600" b="0" i="0">
                <a:solidFill>
                  <a:srgbClr val="1D2433"/>
                </a:solidFill>
                <a:latin typeface="Calibri"/>
              </a:rPr>
              <a:t> des données de santé</a:t>
            </a:r>
          </a:p>
        </p:txBody>
      </p:sp>
    </p:spTree>
    <p:extLst>
      <p:ext uri="{BB962C8B-B14F-4D97-AF65-F5344CB8AC3E}">
        <p14:creationId xmlns:p14="http://schemas.microsoft.com/office/powerpoint/2010/main" val="2036742685"/>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ituniversity.png"/>
          <p:cNvPicPr>
            <a:picLocks noChangeAspect="1"/>
          </p:cNvPicPr>
          <p:nvPr/>
        </p:nvPicPr>
        <p:blipFill>
          <a:blip r:embed="rId3"/>
          <a:stretch>
            <a:fillRect/>
          </a:stretch>
        </p:blipFill>
        <p:spPr>
          <a:xfrm>
            <a:off x="548640" y="256032"/>
            <a:ext cx="1570080" cy="384048"/>
          </a:xfrm>
          <a:prstGeom prst="rect">
            <a:avLst/>
          </a:prstGeom>
        </p:spPr>
      </p:pic>
      <p:pic>
        <p:nvPicPr>
          <p:cNvPr id="3" name="Picture 2" descr="logo-mbds.jpg"/>
          <p:cNvPicPr>
            <a:picLocks noChangeAspect="1"/>
          </p:cNvPicPr>
          <p:nvPr/>
        </p:nvPicPr>
        <p:blipFill>
          <a:blip r:embed="rId4"/>
          <a:stretch>
            <a:fillRect/>
          </a:stretch>
        </p:blipFill>
        <p:spPr>
          <a:xfrm>
            <a:off x="2438760" y="256032"/>
            <a:ext cx="1004777" cy="384048"/>
          </a:xfrm>
          <a:prstGeom prst="rect">
            <a:avLst/>
          </a:prstGeom>
        </p:spPr>
      </p:pic>
      <p:pic>
        <p:nvPicPr>
          <p:cNvPr id="4" name="Picture 3" descr="logo-uca.png"/>
          <p:cNvPicPr>
            <a:picLocks noChangeAspect="1"/>
          </p:cNvPicPr>
          <p:nvPr/>
        </p:nvPicPr>
        <p:blipFill>
          <a:blip r:embed="rId5"/>
          <a:stretch>
            <a:fillRect/>
          </a:stretch>
        </p:blipFill>
        <p:spPr>
          <a:xfrm>
            <a:off x="3763577" y="256032"/>
            <a:ext cx="2451370" cy="384048"/>
          </a:xfrm>
          <a:prstGeom prst="rect">
            <a:avLst/>
          </a:prstGeom>
        </p:spPr>
      </p:pic>
      <p:pic>
        <p:nvPicPr>
          <p:cNvPr id="5" name="Picture 4" descr="mmt-logo.png"/>
          <p:cNvPicPr>
            <a:picLocks noChangeAspect="1"/>
          </p:cNvPicPr>
          <p:nvPr/>
        </p:nvPicPr>
        <p:blipFill>
          <a:blip r:embed="rId6"/>
          <a:stretch>
            <a:fillRect/>
          </a:stretch>
        </p:blipFill>
        <p:spPr>
          <a:xfrm>
            <a:off x="11140135" y="182880"/>
            <a:ext cx="548640" cy="548640"/>
          </a:xfrm>
          <a:prstGeom prst="rect">
            <a:avLst/>
          </a:prstGeom>
        </p:spPr>
      </p:pic>
      <p:sp>
        <p:nvSpPr>
          <p:cNvPr id="6" name="TextBox 5"/>
          <p:cNvSpPr txBox="1"/>
          <p:nvPr/>
        </p:nvSpPr>
        <p:spPr>
          <a:xfrm>
            <a:off x="548640" y="6446520"/>
            <a:ext cx="8686800" cy="274320"/>
          </a:xfrm>
          <a:prstGeom prst="rect">
            <a:avLst/>
          </a:prstGeom>
          <a:noFill/>
        </p:spPr>
        <p:txBody>
          <a:bodyPr wrap="square" lIns="18288" tIns="18288" rIns="18288" bIns="18288" anchor="t">
            <a:spAutoFit/>
          </a:bodyPr>
          <a:lstStyle/>
          <a:p>
            <a:pPr algn="l"/>
            <a:r>
              <a:rPr sz="900" b="0" i="0">
                <a:solidFill>
                  <a:srgbClr val="5B6475"/>
                </a:solidFill>
                <a:latin typeface="Calibri"/>
              </a:rPr>
              <a:t>« Plateforme Big Data de gouvernance des données patients » présenté par RANOMENJANAHARY Manjaka Alpha</a:t>
            </a:r>
          </a:p>
        </p:txBody>
      </p:sp>
      <p:sp>
        <p:nvSpPr>
          <p:cNvPr id="7" name="TextBox 6"/>
          <p:cNvSpPr txBox="1"/>
          <p:nvPr/>
        </p:nvSpPr>
        <p:spPr>
          <a:xfrm>
            <a:off x="8899855" y="6446520"/>
            <a:ext cx="2743200" cy="274320"/>
          </a:xfrm>
          <a:prstGeom prst="rect">
            <a:avLst/>
          </a:prstGeom>
          <a:noFill/>
        </p:spPr>
        <p:txBody>
          <a:bodyPr wrap="square" lIns="18288" tIns="18288" rIns="18288" bIns="18288" anchor="t">
            <a:spAutoFit/>
          </a:bodyPr>
          <a:lstStyle/>
          <a:p>
            <a:pPr algn="r"/>
            <a:r>
              <a:rPr sz="900" b="0" i="0">
                <a:solidFill>
                  <a:srgbClr val="5B6475"/>
                </a:solidFill>
                <a:latin typeface="Calibri"/>
              </a:rPr>
              <a:t>Octobre 2026   ·   19 / 20</a:t>
            </a:r>
          </a:p>
        </p:txBody>
      </p:sp>
      <p:sp>
        <p:nvSpPr>
          <p:cNvPr id="8" name="TextBox 7"/>
          <p:cNvSpPr txBox="1"/>
          <p:nvPr/>
        </p:nvSpPr>
        <p:spPr>
          <a:xfrm>
            <a:off x="548640" y="786384"/>
            <a:ext cx="7315200" cy="274320"/>
          </a:xfrm>
          <a:prstGeom prst="rect">
            <a:avLst/>
          </a:prstGeom>
          <a:noFill/>
        </p:spPr>
        <p:txBody>
          <a:bodyPr wrap="square" lIns="18288" tIns="18288" rIns="18288" bIns="18288" anchor="t">
            <a:spAutoFit/>
          </a:bodyPr>
          <a:lstStyle/>
          <a:p>
            <a:pPr algn="l"/>
            <a:r>
              <a:rPr sz="1200" b="1" i="0">
                <a:solidFill>
                  <a:srgbClr val="C78400"/>
                </a:solidFill>
                <a:latin typeface="Calibri"/>
              </a:rPr>
              <a:t>CONCLUSION</a:t>
            </a:r>
          </a:p>
        </p:txBody>
      </p:sp>
      <p:sp>
        <p:nvSpPr>
          <p:cNvPr id="9" name="TextBox 8"/>
          <p:cNvSpPr txBox="1"/>
          <p:nvPr/>
        </p:nvSpPr>
        <p:spPr>
          <a:xfrm>
            <a:off x="548640" y="987552"/>
            <a:ext cx="11094415" cy="548640"/>
          </a:xfrm>
          <a:prstGeom prst="rect">
            <a:avLst/>
          </a:prstGeom>
          <a:noFill/>
        </p:spPr>
        <p:txBody>
          <a:bodyPr wrap="square" lIns="18288" tIns="18288" rIns="18288" bIns="18288" anchor="t">
            <a:spAutoFit/>
          </a:bodyPr>
          <a:lstStyle/>
          <a:p>
            <a:pPr algn="l"/>
            <a:r>
              <a:rPr sz="2800" b="1" i="0">
                <a:solidFill>
                  <a:srgbClr val="1F3864"/>
                </a:solidFill>
                <a:latin typeface="Calibri"/>
              </a:rPr>
              <a:t>La plateforme répond à la problématique, preuves à l'appui</a:t>
            </a:r>
          </a:p>
        </p:txBody>
      </p:sp>
      <p:sp>
        <p:nvSpPr>
          <p:cNvPr id="10" name="Rounded Rectangle 9"/>
          <p:cNvSpPr/>
          <p:nvPr/>
        </p:nvSpPr>
        <p:spPr>
          <a:xfrm>
            <a:off x="548640" y="1554480"/>
            <a:ext cx="2567863" cy="29718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1" name="Oval 10"/>
          <p:cNvSpPr/>
          <p:nvPr/>
        </p:nvSpPr>
        <p:spPr>
          <a:xfrm>
            <a:off x="1466811" y="1737360"/>
            <a:ext cx="731520" cy="73152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i="0">
                <a:solidFill>
                  <a:srgbClr val="FFFFFF"/>
                </a:solidFill>
                <a:latin typeface="Calibri"/>
              </a:rPr>
              <a:t>✓</a:t>
            </a:r>
          </a:p>
        </p:txBody>
      </p:sp>
      <p:sp>
        <p:nvSpPr>
          <p:cNvPr id="12" name="TextBox 11"/>
          <p:cNvSpPr txBox="1"/>
          <p:nvPr/>
        </p:nvSpPr>
        <p:spPr>
          <a:xfrm>
            <a:off x="731520" y="2606040"/>
            <a:ext cx="2202103" cy="457200"/>
          </a:xfrm>
          <a:prstGeom prst="rect">
            <a:avLst/>
          </a:prstGeom>
          <a:noFill/>
        </p:spPr>
        <p:txBody>
          <a:bodyPr wrap="square" lIns="18288" tIns="18288" rIns="18288" bIns="18288" anchor="t">
            <a:spAutoFit/>
          </a:bodyPr>
          <a:lstStyle/>
          <a:p>
            <a:pPr algn="ctr"/>
            <a:r>
              <a:rPr sz="2100" b="1" i="0">
                <a:solidFill>
                  <a:srgbClr val="1F3864"/>
                </a:solidFill>
                <a:latin typeface="Calibri"/>
              </a:rPr>
              <a:t>Centraliser</a:t>
            </a:r>
          </a:p>
        </p:txBody>
      </p:sp>
      <p:sp>
        <p:nvSpPr>
          <p:cNvPr id="13" name="TextBox 12"/>
          <p:cNvSpPr txBox="1"/>
          <p:nvPr/>
        </p:nvSpPr>
        <p:spPr>
          <a:xfrm>
            <a:off x="731520" y="3108960"/>
            <a:ext cx="2202103" cy="731520"/>
          </a:xfrm>
          <a:prstGeom prst="rect">
            <a:avLst/>
          </a:prstGeom>
          <a:noFill/>
        </p:spPr>
        <p:txBody>
          <a:bodyPr wrap="square" lIns="18288" tIns="18288" rIns="18288" bIns="18288" anchor="t">
            <a:spAutoFit/>
          </a:bodyPr>
          <a:lstStyle/>
          <a:p>
            <a:pPr algn="ctr"/>
            <a:r>
              <a:rPr sz="1400" b="0" i="0">
                <a:solidFill>
                  <a:srgbClr val="1D2433"/>
                </a:solidFill>
                <a:latin typeface="Calibri"/>
              </a:rPr>
              <a:t>lac Medallion RAW → SILVER → GOLD</a:t>
            </a:r>
          </a:p>
        </p:txBody>
      </p:sp>
      <p:sp>
        <p:nvSpPr>
          <p:cNvPr id="14" name="TextBox 13"/>
          <p:cNvSpPr txBox="1"/>
          <p:nvPr/>
        </p:nvSpPr>
        <p:spPr>
          <a:xfrm>
            <a:off x="731520" y="3886200"/>
            <a:ext cx="2202103" cy="457200"/>
          </a:xfrm>
          <a:prstGeom prst="rect">
            <a:avLst/>
          </a:prstGeom>
          <a:noFill/>
        </p:spPr>
        <p:txBody>
          <a:bodyPr wrap="square" lIns="18288" tIns="18288" rIns="18288" bIns="18288" anchor="t">
            <a:spAutoFit/>
          </a:bodyPr>
          <a:lstStyle/>
          <a:p>
            <a:pPr algn="ctr"/>
            <a:r>
              <a:rPr sz="1600" b="1" i="0">
                <a:solidFill>
                  <a:srgbClr val="2E5597"/>
                </a:solidFill>
                <a:latin typeface="Calibri"/>
              </a:rPr>
              <a:t>1 057 fiches intégrées</a:t>
            </a:r>
          </a:p>
        </p:txBody>
      </p:sp>
      <p:sp>
        <p:nvSpPr>
          <p:cNvPr id="15" name="Rounded Rectangle 14"/>
          <p:cNvSpPr/>
          <p:nvPr/>
        </p:nvSpPr>
        <p:spPr>
          <a:xfrm>
            <a:off x="3390823" y="1554480"/>
            <a:ext cx="2567863" cy="29718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16" name="Oval 15"/>
          <p:cNvSpPr/>
          <p:nvPr/>
        </p:nvSpPr>
        <p:spPr>
          <a:xfrm>
            <a:off x="4308995" y="1737360"/>
            <a:ext cx="731520" cy="73152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i="0">
                <a:solidFill>
                  <a:srgbClr val="FFFFFF"/>
                </a:solidFill>
                <a:latin typeface="Calibri"/>
              </a:rPr>
              <a:t>✓</a:t>
            </a:r>
          </a:p>
        </p:txBody>
      </p:sp>
      <p:sp>
        <p:nvSpPr>
          <p:cNvPr id="17" name="TextBox 16"/>
          <p:cNvSpPr txBox="1"/>
          <p:nvPr/>
        </p:nvSpPr>
        <p:spPr>
          <a:xfrm>
            <a:off x="3573703" y="2606040"/>
            <a:ext cx="2202103" cy="457200"/>
          </a:xfrm>
          <a:prstGeom prst="rect">
            <a:avLst/>
          </a:prstGeom>
          <a:noFill/>
        </p:spPr>
        <p:txBody>
          <a:bodyPr wrap="square" lIns="18288" tIns="18288" rIns="18288" bIns="18288" anchor="t">
            <a:spAutoFit/>
          </a:bodyPr>
          <a:lstStyle/>
          <a:p>
            <a:pPr algn="ctr"/>
            <a:r>
              <a:rPr sz="2100" b="1" i="0">
                <a:solidFill>
                  <a:srgbClr val="1F3864"/>
                </a:solidFill>
                <a:latin typeface="Calibri"/>
              </a:rPr>
              <a:t>Normaliser</a:t>
            </a:r>
          </a:p>
        </p:txBody>
      </p:sp>
      <p:sp>
        <p:nvSpPr>
          <p:cNvPr id="18" name="TextBox 17"/>
          <p:cNvSpPr txBox="1"/>
          <p:nvPr/>
        </p:nvSpPr>
        <p:spPr>
          <a:xfrm>
            <a:off x="3573703" y="3108960"/>
            <a:ext cx="2202103" cy="731520"/>
          </a:xfrm>
          <a:prstGeom prst="rect">
            <a:avLst/>
          </a:prstGeom>
          <a:noFill/>
        </p:spPr>
        <p:txBody>
          <a:bodyPr wrap="square" lIns="18288" tIns="18288" rIns="18288" bIns="18288" anchor="t">
            <a:spAutoFit/>
          </a:bodyPr>
          <a:lstStyle/>
          <a:p>
            <a:pPr algn="ctr"/>
            <a:r>
              <a:rPr sz="1400" b="0" i="0">
                <a:solidFill>
                  <a:srgbClr val="1D2433"/>
                </a:solidFill>
                <a:latin typeface="Calibri"/>
              </a:rPr>
              <a:t>modèle canonique + pivot FHIR</a:t>
            </a:r>
          </a:p>
        </p:txBody>
      </p:sp>
      <p:sp>
        <p:nvSpPr>
          <p:cNvPr id="19" name="TextBox 18"/>
          <p:cNvSpPr txBox="1"/>
          <p:nvPr/>
        </p:nvSpPr>
        <p:spPr>
          <a:xfrm>
            <a:off x="3573703" y="3886200"/>
            <a:ext cx="2202103" cy="457200"/>
          </a:xfrm>
          <a:prstGeom prst="rect">
            <a:avLst/>
          </a:prstGeom>
          <a:noFill/>
        </p:spPr>
        <p:txBody>
          <a:bodyPr wrap="square" lIns="18288" tIns="18288" rIns="18288" bIns="18288" anchor="t">
            <a:spAutoFit/>
          </a:bodyPr>
          <a:lstStyle/>
          <a:p>
            <a:pPr algn="ctr"/>
            <a:r>
              <a:rPr sz="1600" b="1" i="0">
                <a:solidFill>
                  <a:srgbClr val="2E5597"/>
                </a:solidFill>
                <a:latin typeface="Calibri"/>
              </a:rPr>
              <a:t>4 entités FHIR</a:t>
            </a:r>
          </a:p>
        </p:txBody>
      </p:sp>
      <p:sp>
        <p:nvSpPr>
          <p:cNvPr id="20" name="Rounded Rectangle 19"/>
          <p:cNvSpPr/>
          <p:nvPr/>
        </p:nvSpPr>
        <p:spPr>
          <a:xfrm>
            <a:off x="6233007" y="1554480"/>
            <a:ext cx="2567863" cy="29718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1" name="Oval 20"/>
          <p:cNvSpPr/>
          <p:nvPr/>
        </p:nvSpPr>
        <p:spPr>
          <a:xfrm>
            <a:off x="7151179" y="1737360"/>
            <a:ext cx="731520" cy="73152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i="0">
                <a:solidFill>
                  <a:srgbClr val="FFFFFF"/>
                </a:solidFill>
                <a:latin typeface="Calibri"/>
              </a:rPr>
              <a:t>✓</a:t>
            </a:r>
          </a:p>
        </p:txBody>
      </p:sp>
      <p:sp>
        <p:nvSpPr>
          <p:cNvPr id="22" name="TextBox 21"/>
          <p:cNvSpPr txBox="1"/>
          <p:nvPr/>
        </p:nvSpPr>
        <p:spPr>
          <a:xfrm>
            <a:off x="6415887" y="2606040"/>
            <a:ext cx="2202103" cy="457200"/>
          </a:xfrm>
          <a:prstGeom prst="rect">
            <a:avLst/>
          </a:prstGeom>
          <a:noFill/>
        </p:spPr>
        <p:txBody>
          <a:bodyPr wrap="square" lIns="18288" tIns="18288" rIns="18288" bIns="18288" anchor="t">
            <a:spAutoFit/>
          </a:bodyPr>
          <a:lstStyle/>
          <a:p>
            <a:pPr algn="ctr"/>
            <a:r>
              <a:rPr sz="2100" b="1" i="0">
                <a:solidFill>
                  <a:srgbClr val="1F3864"/>
                </a:solidFill>
                <a:latin typeface="Calibri"/>
              </a:rPr>
              <a:t>Dédupliquer</a:t>
            </a:r>
          </a:p>
        </p:txBody>
      </p:sp>
      <p:sp>
        <p:nvSpPr>
          <p:cNvPr id="23" name="TextBox 22"/>
          <p:cNvSpPr txBox="1"/>
          <p:nvPr/>
        </p:nvSpPr>
        <p:spPr>
          <a:xfrm>
            <a:off x="6415887" y="3108960"/>
            <a:ext cx="2202103" cy="731520"/>
          </a:xfrm>
          <a:prstGeom prst="rect">
            <a:avLst/>
          </a:prstGeom>
          <a:noFill/>
        </p:spPr>
        <p:txBody>
          <a:bodyPr wrap="square" lIns="18288" tIns="18288" rIns="18288" bIns="18288" anchor="t">
            <a:spAutoFit/>
          </a:bodyPr>
          <a:lstStyle/>
          <a:p>
            <a:pPr algn="ctr"/>
            <a:r>
              <a:rPr sz="1400" b="0" i="0">
                <a:solidFill>
                  <a:srgbClr val="1D2433"/>
                </a:solidFill>
                <a:latin typeface="Calibri"/>
              </a:rPr>
              <a:t>exact + probabiliste, explicable</a:t>
            </a:r>
          </a:p>
        </p:txBody>
      </p:sp>
      <p:sp>
        <p:nvSpPr>
          <p:cNvPr id="24" name="TextBox 23"/>
          <p:cNvSpPr txBox="1"/>
          <p:nvPr/>
        </p:nvSpPr>
        <p:spPr>
          <a:xfrm>
            <a:off x="6415887" y="3886200"/>
            <a:ext cx="2202103" cy="457200"/>
          </a:xfrm>
          <a:prstGeom prst="rect">
            <a:avLst/>
          </a:prstGeom>
          <a:noFill/>
        </p:spPr>
        <p:txBody>
          <a:bodyPr wrap="square" lIns="18288" tIns="18288" rIns="18288" bIns="18288" anchor="t">
            <a:spAutoFit/>
          </a:bodyPr>
          <a:lstStyle/>
          <a:p>
            <a:pPr algn="ctr"/>
            <a:r>
              <a:rPr sz="1600" b="1" i="0">
                <a:solidFill>
                  <a:srgbClr val="2E5597"/>
                </a:solidFill>
                <a:latin typeface="Calibri"/>
              </a:rPr>
              <a:t>précision 1,000</a:t>
            </a:r>
          </a:p>
        </p:txBody>
      </p:sp>
      <p:sp>
        <p:nvSpPr>
          <p:cNvPr id="25" name="Rounded Rectangle 24"/>
          <p:cNvSpPr/>
          <p:nvPr/>
        </p:nvSpPr>
        <p:spPr>
          <a:xfrm>
            <a:off x="9075191" y="1554480"/>
            <a:ext cx="2567863" cy="2971800"/>
          </a:xfrm>
          <a:prstGeom prst="roundRect">
            <a:avLst>
              <a:gd name="adj" fmla="val 8000"/>
            </a:avLst>
          </a:prstGeom>
          <a:solidFill>
            <a:srgbClr val="F1F4F9"/>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26" name="Oval 25"/>
          <p:cNvSpPr/>
          <p:nvPr/>
        </p:nvSpPr>
        <p:spPr>
          <a:xfrm>
            <a:off x="9993363" y="1737360"/>
            <a:ext cx="731520" cy="731520"/>
          </a:xfrm>
          <a:prstGeom prst="ellipse">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400" b="1" i="0">
                <a:solidFill>
                  <a:srgbClr val="FFFFFF"/>
                </a:solidFill>
                <a:latin typeface="Calibri"/>
              </a:rPr>
              <a:t>✓</a:t>
            </a:r>
          </a:p>
        </p:txBody>
      </p:sp>
      <p:sp>
        <p:nvSpPr>
          <p:cNvPr id="27" name="TextBox 26"/>
          <p:cNvSpPr txBox="1"/>
          <p:nvPr/>
        </p:nvSpPr>
        <p:spPr>
          <a:xfrm>
            <a:off x="9258071" y="2606040"/>
            <a:ext cx="2202103" cy="457200"/>
          </a:xfrm>
          <a:prstGeom prst="rect">
            <a:avLst/>
          </a:prstGeom>
          <a:noFill/>
        </p:spPr>
        <p:txBody>
          <a:bodyPr wrap="square" lIns="18288" tIns="18288" rIns="18288" bIns="18288" anchor="t">
            <a:spAutoFit/>
          </a:bodyPr>
          <a:lstStyle/>
          <a:p>
            <a:pPr algn="ctr"/>
            <a:r>
              <a:rPr sz="2100" b="1" i="0">
                <a:solidFill>
                  <a:srgbClr val="1F3864"/>
                </a:solidFill>
                <a:latin typeface="Calibri"/>
              </a:rPr>
              <a:t>Gouverner</a:t>
            </a:r>
          </a:p>
        </p:txBody>
      </p:sp>
      <p:sp>
        <p:nvSpPr>
          <p:cNvPr id="28" name="TextBox 27"/>
          <p:cNvSpPr txBox="1"/>
          <p:nvPr/>
        </p:nvSpPr>
        <p:spPr>
          <a:xfrm>
            <a:off x="9258071" y="3108960"/>
            <a:ext cx="2202103" cy="731520"/>
          </a:xfrm>
          <a:prstGeom prst="rect">
            <a:avLst/>
          </a:prstGeom>
          <a:noFill/>
        </p:spPr>
        <p:txBody>
          <a:bodyPr wrap="square" lIns="18288" tIns="18288" rIns="18288" bIns="18288" anchor="t">
            <a:spAutoFit/>
          </a:bodyPr>
          <a:lstStyle/>
          <a:p>
            <a:pPr algn="ctr"/>
            <a:r>
              <a:rPr sz="1400" b="0" i="0">
                <a:solidFill>
                  <a:srgbClr val="1D2433"/>
                </a:solidFill>
                <a:latin typeface="Calibri"/>
              </a:rPr>
              <a:t>rôle · finalité · consentement · audit</a:t>
            </a:r>
          </a:p>
        </p:txBody>
      </p:sp>
      <p:sp>
        <p:nvSpPr>
          <p:cNvPr id="29" name="TextBox 28"/>
          <p:cNvSpPr txBox="1"/>
          <p:nvPr/>
        </p:nvSpPr>
        <p:spPr>
          <a:xfrm>
            <a:off x="9258071" y="3886200"/>
            <a:ext cx="2202103" cy="457200"/>
          </a:xfrm>
          <a:prstGeom prst="rect">
            <a:avLst/>
          </a:prstGeom>
          <a:noFill/>
        </p:spPr>
        <p:txBody>
          <a:bodyPr wrap="square" lIns="18288" tIns="18288" rIns="18288" bIns="18288" anchor="t">
            <a:spAutoFit/>
          </a:bodyPr>
          <a:lstStyle/>
          <a:p>
            <a:pPr algn="ctr"/>
            <a:r>
              <a:rPr sz="1600" b="1" i="0">
                <a:solidFill>
                  <a:srgbClr val="2E5597"/>
                </a:solidFill>
                <a:latin typeface="Calibri"/>
              </a:rPr>
              <a:t>401 · 403 · 422 testés</a:t>
            </a:r>
          </a:p>
        </p:txBody>
      </p:sp>
      <p:sp>
        <p:nvSpPr>
          <p:cNvPr id="30" name="Rounded Rectangle 29"/>
          <p:cNvSpPr/>
          <p:nvPr/>
        </p:nvSpPr>
        <p:spPr>
          <a:xfrm>
            <a:off x="548640" y="4846320"/>
            <a:ext cx="11094415" cy="12344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800" b="0" i="0">
                <a:solidFill>
                  <a:srgbClr val="FFFFFF"/>
                </a:solidFill>
                <a:latin typeface="Calibri"/>
              </a:rPr>
              <a:t>Une démarche progressive — </a:t>
            </a:r>
            <a:r>
              <a:rPr sz="1800" b="1" i="0">
                <a:solidFill>
                  <a:srgbClr val="FFFFFF"/>
                </a:solidFill>
                <a:latin typeface="Calibri"/>
              </a:rPr>
              <a:t>MVP → Spark → Big Data</a:t>
            </a:r>
            <a:r>
              <a:rPr sz="1800" b="0" i="0">
                <a:solidFill>
                  <a:srgbClr val="FFFFFF"/>
                </a:solidFill>
                <a:latin typeface="Calibri"/>
              </a:rPr>
              <a:t> — où chaque technologie répond à un besoin,</a:t>
            </a:r>
          </a:p>
          <a:p>
            <a:pPr algn="ctr"/>
            <a:r>
              <a:rPr sz="1800" b="0" i="0">
                <a:solidFill>
                  <a:srgbClr val="FFFFFF"/>
                </a:solidFill>
                <a:latin typeface="Calibri"/>
              </a:rPr>
              <a:t>et où </a:t>
            </a:r>
            <a:r>
              <a:rPr sz="1800" b="1" i="0">
                <a:solidFill>
                  <a:srgbClr val="FFFFFF"/>
                </a:solidFill>
                <a:latin typeface="Calibri"/>
              </a:rPr>
              <a:t>chaque résultat se vérifie</a:t>
            </a:r>
            <a:r>
              <a:rPr sz="1800" b="0" i="0">
                <a:solidFill>
                  <a:srgbClr val="FFFFFF"/>
                </a:solidFill>
                <a:latin typeface="Calibri"/>
              </a:rPr>
              <a:t> dans le dépôt.</a:t>
            </a:r>
          </a:p>
        </p:txBody>
      </p:sp>
    </p:spTree>
    <p:extLst>
      <p:ext uri="{BB962C8B-B14F-4D97-AF65-F5344CB8AC3E}">
        <p14:creationId xmlns:p14="http://schemas.microsoft.com/office/powerpoint/2010/main" val="3622660527"/>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lIns="109728" rIns="109728" rtlCol="0" anchor="ctr"/>
          <a:lstStyle/>
          <a:p>
            <a:pPr algn="ctr"/>
            <a:endParaRPr/>
          </a:p>
        </p:txBody>
      </p:sp>
      <p:sp>
        <p:nvSpPr>
          <p:cNvPr id="3" name="TextBox 2"/>
          <p:cNvSpPr txBox="1"/>
          <p:nvPr/>
        </p:nvSpPr>
        <p:spPr>
          <a:xfrm>
            <a:off x="548640" y="2103120"/>
            <a:ext cx="11094415" cy="1097280"/>
          </a:xfrm>
          <a:prstGeom prst="rect">
            <a:avLst/>
          </a:prstGeom>
          <a:noFill/>
        </p:spPr>
        <p:txBody>
          <a:bodyPr wrap="square" lIns="18288" tIns="18288" rIns="18288" bIns="18288" anchor="t">
            <a:spAutoFit/>
          </a:bodyPr>
          <a:lstStyle/>
          <a:p>
            <a:pPr algn="ctr"/>
            <a:r>
              <a:rPr sz="4800" b="1" i="0">
                <a:solidFill>
                  <a:srgbClr val="FFFFFF"/>
                </a:solidFill>
                <a:latin typeface="Calibri"/>
              </a:rPr>
              <a:t>Merci pour votre attention</a:t>
            </a:r>
          </a:p>
        </p:txBody>
      </p:sp>
      <p:sp>
        <p:nvSpPr>
          <p:cNvPr id="4" name="TextBox 3"/>
          <p:cNvSpPr txBox="1"/>
          <p:nvPr/>
        </p:nvSpPr>
        <p:spPr>
          <a:xfrm>
            <a:off x="548640" y="3246120"/>
            <a:ext cx="11094415" cy="548640"/>
          </a:xfrm>
          <a:prstGeom prst="rect">
            <a:avLst/>
          </a:prstGeom>
          <a:noFill/>
        </p:spPr>
        <p:txBody>
          <a:bodyPr wrap="square" lIns="18288" tIns="18288" rIns="18288" bIns="18288" anchor="t">
            <a:spAutoFit/>
          </a:bodyPr>
          <a:lstStyle/>
          <a:p>
            <a:pPr algn="ctr"/>
            <a:r>
              <a:rPr sz="2400" b="0" i="0">
                <a:solidFill>
                  <a:srgbClr val="8EAADB"/>
                </a:solidFill>
                <a:latin typeface="Calibri"/>
              </a:rPr>
              <a:t>Questions et échanges</a:t>
            </a:r>
          </a:p>
        </p:txBody>
      </p:sp>
      <p:sp>
        <p:nvSpPr>
          <p:cNvPr id="5" name="TextBox 4"/>
          <p:cNvSpPr txBox="1"/>
          <p:nvPr/>
        </p:nvSpPr>
        <p:spPr>
          <a:xfrm>
            <a:off x="548640" y="4754880"/>
            <a:ext cx="11094415" cy="822960"/>
          </a:xfrm>
          <a:prstGeom prst="rect">
            <a:avLst/>
          </a:prstGeom>
          <a:noFill/>
        </p:spPr>
        <p:txBody>
          <a:bodyPr wrap="square" lIns="18288" tIns="18288" rIns="18288" bIns="18288" anchor="t">
            <a:spAutoFit/>
          </a:bodyPr>
          <a:lstStyle/>
          <a:p>
            <a:pPr algn="ctr">
              <a:spcAft>
                <a:spcPts val="300"/>
              </a:spcAft>
            </a:pPr>
            <a:r>
              <a:rPr sz="1600" b="0" i="0">
                <a:solidFill>
                  <a:srgbClr val="E2E9F3"/>
                </a:solidFill>
                <a:latin typeface="Calibri"/>
              </a:rPr>
              <a:t>RANOMENJANAHARY Manjaka Alpha</a:t>
            </a:r>
          </a:p>
          <a:p>
            <a:pPr algn="ctr">
              <a:spcAft>
                <a:spcPts val="300"/>
              </a:spcAft>
            </a:pPr>
            <a:r>
              <a:rPr sz="1600" b="0" i="0">
                <a:solidFill>
                  <a:srgbClr val="E2E9F3"/>
                </a:solidFill>
                <a:latin typeface="Calibri"/>
              </a:rPr>
              <a:t>Master MBDS · Madagascar Medical Technology · Octobre 2026</a:t>
            </a:r>
          </a:p>
        </p:txBody>
      </p:sp>
    </p:spTree>
    <p:extLst>
      <p:ext uri="{BB962C8B-B14F-4D97-AF65-F5344CB8AC3E}">
        <p14:creationId xmlns:p14="http://schemas.microsoft.com/office/powerpoint/2010/main" val="3337475729"/>
      </p:ext>
    </p:extLst>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9FD9D61-1221-462B-A022-F9295897E668}">
  <we:reference id="wa200010001" version="1.0.0.1" store="en-US" storeType="OMEX"/>
  <we:alternateReferences>
    <we:reference id="wa200010001" version="1.0.0.1" store="en-US" storeType="OMEX"/>
  </we:alternateReferences>
  <we:properties>
    <we:property name="claude.fileId" value="&quot;2bab8684-40ef-4371-8447-708a5067cc1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TotalTime>
  <Words>3243</Words>
  <Application>Microsoft Office PowerPoint</Application>
  <PresentationFormat>Widescreen</PresentationFormat>
  <Paragraphs>423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ranomenjanahary alpha</cp:lastModifiedBy>
  <cp:revision>3</cp:revision>
  <dcterms:created xsi:type="dcterms:W3CDTF">2013-01-27T09:14:16Z</dcterms:created>
  <dcterms:modified xsi:type="dcterms:W3CDTF">2026-09-28T19:53:43Z</dcterms:modified>
  <cp:category/>
</cp:coreProperties>
</file>