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77" r:id="rId2"/>
    <p:sldId id="257" r:id="rId3"/>
    <p:sldId id="278" r:id="rId4"/>
    <p:sldId id="279" r:id="rId5"/>
    <p:sldId id="280" r:id="rId6"/>
    <p:sldId id="281" r:id="rId7"/>
    <p:sldId id="282" r:id="rId8"/>
    <p:sldId id="283" r:id="rId9"/>
    <p:sldId id="284" r:id="rId10"/>
    <p:sldId id="285" r:id="rId11"/>
    <p:sldId id="286" r:id="rId12"/>
    <p:sldId id="287" r:id="rId13"/>
    <p:sldId id="288" r:id="rId14"/>
    <p:sldId id="289" r:id="rId15"/>
    <p:sldId id="290" r:id="rId16"/>
    <p:sldId id="291" r:id="rId17"/>
    <p:sldId id="292" r:id="rId18"/>
    <p:sldId id="293" r:id="rId19"/>
    <p:sldId id="294" r:id="rId20"/>
    <p:sldId id="29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5121" autoAdjust="0"/>
  </p:normalViewPr>
  <p:slideViewPr>
    <p:cSldViewPr snapToGrid="0" snapToObjects="1">
      <p:cViewPr varScale="1">
        <p:scale>
          <a:sx n="66" d="100"/>
          <a:sy n="66" d="100"/>
        </p:scale>
        <p:origin x="413"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Précision</c:v>
                </c:pt>
              </c:strCache>
            </c:strRef>
          </c:tx>
          <c:spPr>
            <a:solidFill>
              <a:srgbClr val="1F3864"/>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1ED-4A00-8FBC-77361ABC3DB1}"/>
                </c:ext>
              </c:extLst>
            </c:dLbl>
            <c:dLbl>
              <c:idx val="1"/>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1ED-4A00-8FBC-77361ABC3DB1}"/>
                </c:ext>
              </c:extLst>
            </c:dLbl>
            <c:dLbl>
              <c:idx val="2"/>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Sheet1!$B$2:$B$4</c:f>
              <c:numCache>
                <c:formatCode>General</c:formatCode>
                <c:ptCount val="3"/>
                <c:pt idx="0">
                  <c:v>1</c:v>
                </c:pt>
                <c:pt idx="1">
                  <c:v>1</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D1ED-4A00-8FBC-77361ABC3DB1}"/>
            </c:ext>
          </c:extLst>
        </c:ser>
        <c:ser>
          <c:idx val="1"/>
          <c:order val="1"/>
          <c:tx>
            <c:strRef>
              <c:f>Sheet1!$C$1</c:f>
              <c:strCache>
                <c:ptCount val="1"/>
                <c:pt idx="0">
                  <c:v>Rappel</c:v>
                </c:pt>
              </c:strCache>
            </c:strRef>
          </c:tx>
          <c:spPr>
            <a:solidFill>
              <a:srgbClr val="C78400"/>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1ED-4A00-8FBC-77361ABC3DB1}"/>
                </c:ext>
              </c:extLst>
            </c:dLbl>
            <c:dLbl>
              <c:idx val="1"/>
              <c:tx>
                <c:rich>
                  <a:bodyPr/>
                  <a:lstStyle/>
                  <a:p>
                    <a:r>
                      <a:rPr lang="fr-FR" sz="1200" b="1">
                        <a:solidFill>
                          <a:srgbClr val="1D2433"/>
                        </a:solidFill>
                      </a:rPr>
                      <a:t>0,884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1ED-4A00-8FBC-77361ABC3DB1}"/>
                </c:ext>
              </c:extLst>
            </c:dLbl>
            <c:dLbl>
              <c:idx val="2"/>
              <c:tx>
                <c:rich>
                  <a:bodyPr/>
                  <a:lstStyle/>
                  <a:p>
                    <a:r>
                      <a:rPr lang="fr-FR" sz="1200" b="1">
                        <a:solidFill>
                          <a:srgbClr val="1D2433"/>
                        </a:solidFill>
                      </a:rPr>
                      <a:t>0,422</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Sheet1!$C$2:$C$4</c:f>
              <c:numCache>
                <c:formatCode>General</c:formatCode>
                <c:ptCount val="3"/>
                <c:pt idx="0">
                  <c:v>1</c:v>
                </c:pt>
                <c:pt idx="1">
                  <c:v>0.88400000000000001</c:v>
                </c:pt>
                <c:pt idx="2">
                  <c:v>0.42199999999999999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7-D1ED-4A00-8FBC-77361ABC3DB1}"/>
            </c:ext>
          </c:extLst>
        </c:ser>
        <c:ser>
          <c:idx val="2"/>
          <c:order val="2"/>
          <c:tx>
            <c:strRef>
              <c:f>Sheet1!$D$1</c:f>
              <c:strCache>
                <c:ptCount val="1"/>
                <c:pt idx="0">
                  <c:v>F1</c:v>
                </c:pt>
              </c:strCache>
            </c:strRef>
          </c:tx>
          <c:spPr>
            <a:solidFill>
              <a:srgbClr val="8EAADB"/>
            </a:solidFill>
          </c:spPr>
          <c:invertIfNegative val="1"/>
          <c:dLbls>
            <c:dLbl>
              <c:idx val="0"/>
              <c:tx>
                <c:rich>
                  <a:bodyPr/>
                  <a:lstStyle/>
                  <a:p>
                    <a:r>
                      <a:rPr lang="fr-FR" sz="1200" b="1">
                        <a:solidFill>
                          <a:srgbClr val="1D2433"/>
                        </a:solidFill>
                      </a:rPr>
                      <a:t>1,000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1ED-4A00-8FBC-77361ABC3DB1}"/>
                </c:ext>
              </c:extLst>
            </c:dLbl>
            <c:dLbl>
              <c:idx val="1"/>
              <c:tx>
                <c:rich>
                  <a:bodyPr/>
                  <a:lstStyle/>
                  <a:p>
                    <a:r>
                      <a:rPr lang="fr-FR" sz="1200" b="1">
                        <a:solidFill>
                          <a:srgbClr val="1D2433"/>
                        </a:solidFill>
                      </a:rPr>
                      <a:t>0,939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1ED-4A00-8FBC-77361ABC3DB1}"/>
                </c:ext>
              </c:extLst>
            </c:dLbl>
            <c:dLbl>
              <c:idx val="2"/>
              <c:tx>
                <c:rich>
                  <a:bodyPr/>
                  <a:lstStyle/>
                  <a:p>
                    <a:r>
                      <a:rPr lang="fr-FR" sz="1200" b="1">
                        <a:solidFill>
                          <a:srgbClr val="1D2433"/>
                        </a:solidFill>
                      </a:rPr>
                      <a:t>0,594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1ED-4A00-8FBC-77361ABC3DB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Facile (10 %)</c:v>
                </c:pt>
                <c:pt idx="1">
                  <c:v>Moyen (30 %)</c:v>
                </c:pt>
                <c:pt idx="2">
                  <c:v>Difficile (50 %)</c:v>
                </c:pt>
              </c:strCache>
            </c:strRef>
          </c:cat>
          <c:val>
            <c:numRef>
              <c:f>Sheet1!$D$2:$D$4</c:f>
              <c:numCache>
                <c:formatCode>General</c:formatCode>
                <c:ptCount val="3"/>
                <c:pt idx="0">
                  <c:v>1</c:v>
                </c:pt>
                <c:pt idx="1">
                  <c:v>0.93899999999999995</c:v>
                </c:pt>
                <c:pt idx="2">
                  <c:v>0.59399999999999997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B-D1ED-4A00-8FBC-77361ABC3DB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400">
                <a:solidFill>
                  <a:srgbClr val="1D2433"/>
                </a:solidFill>
              </a:defRPr>
            </a:pPr>
            <a:endParaRPr lang="fr-FR"/>
          </a:p>
        </c:txPr>
        <c:crossAx val="-2113994440"/>
        <c:crosses val="autoZero"/>
        <c:auto val="1"/>
        <c:lblAlgn val="ctr"/>
        <c:lblOffset val="100"/>
        <c:noMultiLvlLbl val="0"/>
      </c:catAx>
      <c:valAx>
        <c:axId val="-2113994440"/>
        <c:scaling>
          <c:orientation val="minMax"/>
          <c:max val="1.1000000000000001"/>
          <c:min val="0"/>
        </c:scaling>
        <c:delete val="1"/>
        <c:axPos val="l"/>
        <c:majorGridlines>
          <c:spPr>
            <a:ln>
              <a:solidFill>
                <a:srgbClr val="E2E9F3"/>
              </a:solidFill>
            </a:ln>
          </c:spPr>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400">
              <a:solidFill>
                <a:srgbClr val="1D2433"/>
              </a:solidFill>
            </a:defRPr>
          </a:pPr>
          <a:endParaRPr lang="fr-FR"/>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2169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Bonjour. Je présente mon stage de Master MBDS réalisé chez Madagascar Medical Technology : la conception d'une plateforme Big Data qui centralise des données patients, reconnaît les doublons de façon explicable et contrôle chaque accès selon le consentement du patient. Toutes les données manipulées sont synthétiques.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MMT a été créée en 2009. Elle distribue et maintient du matériel biomédical, fournit des consommables et gère des stocks. Elle est Business Partner de Siemens Healthineers. Depuis 2024, son département R&amp;D gère les systèmes d'information médicale : c'est là que j'ai fait mon stage, du 6 juillet à fin octobre 2026.</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Voici le point de départ. Le même patient apparaît dans trois systèmes : Jean Rakoto en pharmacie, Rakoto Jean en consultation, J. RAKOTO en imagerie, avec des dates et des CIN écrits différemment. Aucun système ne sait qu'il s'agit de la même personne. Et une seconde question suit immédiatement : qui a le droit de lire son dossier, et pour quoi faire ?</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problèmes concrets : la dispersion, puisque les données d'un patient sont réparties entre plusieurs bases ; l'hétérogénéité, puisque identifiants, libellés et formats diffèrent ; et l'absence de gouvernance : rien ne dit qui accède à quoi, ni pourquoi. D'où la problématique.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cahier des charges fixe six objectifs : centraliser, nettoyer, dédupliquer de façon explicable, gouverner les accès, visualiser et évaluer. Deux contraintes encadrent tout le travail : les données restent sur les machines de l'établissement, et seules des données synthétiques sont utilisées.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présente d'abord l'état de l'art et l'existant, puis la solution et ses fonctionnalités, les résultats mesurés, une démonstration, et enfin les limites et perspectives.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Quatre notions reviennent partout. L'ELT : on charge le brut d'abord, on transforme ensuite. Le modèle Medallion : trois zones de qualité croissante, rejouables. Le Master Patient Index : l'annuaire qui reconnaît le même patient et lui donne un identifiant unique. Et le consentement par finalité : le patient autorise un usage précis, jamais un accès global ; sans avis, c'est un refus.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J'ai comparé six solutions sur six critères, sur la base de leur documentation — aucune n'a été installée. Les plus complètes sur l'identité, EMPI et Talend, sont lourdes, sous licence, et Azure est un service cloud, incompatible avec l'hébergement interne. D'où le choix d'une chaîne sur mesure, adossée aux standards : Fellegi-Sunter, FHIR, Medallion.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systèmes ont été capturés. MAVIS, un ERP Odoo avec module hospitalier : 1 260 tables sur le nœud distant, 11 retenues. MMT_DB, sous GNU Health : 60 271 lignes. CLINIQUE, en SQLite : 54 582 lignes et aucune violation de clé. Chaque base est cohérente avec elle-même ; ce qui manque, c'est le pont entre elles.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L'analyse fait ressortir cinq manques : pas d'identifiant transversal, le CIN manque pour un quart des patients ; pas de normalisation commune ; pas de rapprochement d'identités ; pas de gouvernance ; pas d'espace de rejeu. Le premier prototype comptait 24 872 marqueurs de doublon sans référentiel ni justification : on détectait, on n'expliquait pas.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n'ai pas commencé par le Big Data. Niveau 1 : un MVP Pandas et PostgreSQL pour résoudre le problème métier. Niveau 2 : le même moteur porté en Spark, avec des résultats strictement identiques. Niveau 3 : le lac de données Medallion sur HDFS, Hive et Spark. Deux garde-fous transverses : on valide sur une vérité terrain avant de passer à l'échelle, et la gouvernance s'appuie sur la zone GOLD.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chemin d'une donnée : les sources sont copiées telles quelles dans la zone RAW, sur HDFS. Le mapping FHIR produit la zone SILVER, où le moteur de déduplication rattache chaque ligne à son patient maître. La zone GOLD porte les agrégats et le consentement. PostgreSQL conserve l'état de référence : patients maîtres, consentements, audit. L'API de gouvernance est le seul point d'accès, et chaque appel est journalisé. Le tout tourne sur une VM de 8 Go, en outils libres.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moteur compare seulement des candidats plausibles grâce au blocking. Première passe : rapprochement exact sur le nom normalisé, la date de naissance et le CIN. Sinon, un score pondéré : le nom compte pour moitié, la date pour 0,3, le CIN et la ville pour 0,1 chacun. Au-dessus de 0,80, on fusionne ; en dessous, on crée un nouveau patient maître. Chaque décision porte sa méthode, son score et son explication. Les poids sont dans un fichier de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Trois contrôles, dans cet ordre. Qui : la clé d'API est résolue en utilisateur et en rôle ; clé inconnue, 401 ; rôle insuffisant, 403. Pourquoi : la finalité est obligatoire, dans une liste fermée ; finalité inconnue, 422 ; finalité non consentie, 403, même pour un utilisateur autorisé. Trace : chaque appel, accepté ou refusé, est journalisé avec la finalité et le motif du refus.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run de référence du 7 septembre 2026, sur les trois sources synthétiques : 214 lignes en zone SILVER, 145 patients maîtres, 69 doublons rattachés, soit 32,24 % de doublons. La cohérence se vérifie par un simple comptage : 214 moins 69 égale 145. Le pipeline a réussi toutes ses étapes, et la suite de tests passe à 102 sur 102.</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mesurer la qualité, il faut connaître la vérité : un générateur produit 500 patients et leurs variantes, avec 10, 30 ou 50 % de variations. La précision est de 1,000 sur les trois niveaux : aucune fusion à tort, c'est la propriété essentielle en santé. Le rappel baisse sur le jeu difficile, 0,422 : c'est le prix d'un seuil prudent, assumé. Le CIN l'a fait passer de 0,287 à 0,422. Pandas et Spark donnent exactement les mêmes résultats.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Vidéo enregistrée de 3 minutes 30, pour ne dépendre ni du réseau ni de la VM le jour J. On y voit les tests, l'évaluation sur le jeu difficile, un run du pipeline jusqu'à la zone GOLD, puis le tableau de bord. Si la vidéo ne se lance pas, je présente les compteurs figés.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Je préfère nommer les limites. Le rappel sur le jeu difficile est de 0,422. La table GOLD des événements est vide, car les consultations ne sont pas encore rattachées au patient. La base centrale de consentements n'a pas été peuplée : la mécanique est testée, la donnée manque. Et la plateforme n'est pas déployée. La suite : compléter le mapping FHIR, peupler les consentements, calibrer le seuil, puis intégration continue et passage à l'échelle. Avant toute production : vérifier le droit malgache des données de santé.</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Pour conclure : la plateforme centralise dans un lac Medallion, normalise avec un modèle canonique et FHIR, déduplique sans jamais fusionner à tort, et gouverne chaque accès par le consentement, avec un audit. La démarche progressive a tenu : changer d'échelle n'a pas changé la logique. Et chaque résultat se vérifie dans le dépôt.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Merci pour votre attention. Je suis prêt à répondre à vos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10.png"/><Relationship Id="rId5" Type="http://schemas.openxmlformats.org/officeDocument/2006/relationships/image" Target="../media/image3.pn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2.jpg"/><Relationship Id="rId9" Type="http://schemas.openxmlformats.org/officeDocument/2006/relationships/image" Target="../media/image8.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411480"/>
            <a:ext cx="2317737" cy="566928"/>
          </a:xfrm>
          <a:prstGeom prst="rect">
            <a:avLst/>
          </a:prstGeom>
        </p:spPr>
      </p:pic>
      <p:pic>
        <p:nvPicPr>
          <p:cNvPr id="3" name="Picture 2" descr="logo-mbds.jpg"/>
          <p:cNvPicPr>
            <a:picLocks noChangeAspect="1"/>
          </p:cNvPicPr>
          <p:nvPr/>
        </p:nvPicPr>
        <p:blipFill>
          <a:blip r:embed="rId4"/>
          <a:stretch>
            <a:fillRect/>
          </a:stretch>
        </p:blipFill>
        <p:spPr>
          <a:xfrm>
            <a:off x="3323577" y="411480"/>
            <a:ext cx="1483242" cy="566928"/>
          </a:xfrm>
          <a:prstGeom prst="rect">
            <a:avLst/>
          </a:prstGeom>
        </p:spPr>
      </p:pic>
      <p:pic>
        <p:nvPicPr>
          <p:cNvPr id="4" name="Picture 3" descr="logo-uca.png"/>
          <p:cNvPicPr>
            <a:picLocks noChangeAspect="1"/>
          </p:cNvPicPr>
          <p:nvPr/>
        </p:nvPicPr>
        <p:blipFill>
          <a:blip r:embed="rId5"/>
          <a:stretch>
            <a:fillRect/>
          </a:stretch>
        </p:blipFill>
        <p:spPr>
          <a:xfrm>
            <a:off x="5264019" y="411480"/>
            <a:ext cx="3618689" cy="566928"/>
          </a:xfrm>
          <a:prstGeom prst="rect">
            <a:avLst/>
          </a:prstGeom>
        </p:spPr>
      </p:pic>
      <p:pic>
        <p:nvPicPr>
          <p:cNvPr id="5" name="Picture 4" descr="mmt-logo.png"/>
          <p:cNvPicPr>
            <a:picLocks noChangeAspect="1"/>
          </p:cNvPicPr>
          <p:nvPr/>
        </p:nvPicPr>
        <p:blipFill>
          <a:blip r:embed="rId6"/>
          <a:stretch>
            <a:fillRect/>
          </a:stretch>
        </p:blipFill>
        <p:spPr>
          <a:xfrm>
            <a:off x="10865815" y="274320"/>
            <a:ext cx="868680" cy="868680"/>
          </a:xfrm>
          <a:prstGeom prst="rect">
            <a:avLst/>
          </a:prstGeom>
        </p:spPr>
      </p:pic>
      <p:sp>
        <p:nvSpPr>
          <p:cNvPr id="6" name="Rectangle 5"/>
          <p:cNvSpPr/>
          <p:nvPr/>
        </p:nvSpPr>
        <p:spPr>
          <a:xfrm>
            <a:off x="0" y="1600200"/>
            <a:ext cx="12191695" cy="27889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7" name="TextBox 6"/>
          <p:cNvSpPr txBox="1"/>
          <p:nvPr/>
        </p:nvSpPr>
        <p:spPr>
          <a:xfrm>
            <a:off x="731520" y="1874519"/>
            <a:ext cx="10728655" cy="365760"/>
          </a:xfrm>
          <a:prstGeom prst="rect">
            <a:avLst/>
          </a:prstGeom>
          <a:noFill/>
        </p:spPr>
        <p:txBody>
          <a:bodyPr wrap="square" lIns="18288" tIns="18288" rIns="18288" bIns="18288" anchor="t">
            <a:spAutoFit/>
          </a:bodyPr>
          <a:lstStyle/>
          <a:p>
            <a:pPr algn="l"/>
            <a:r>
              <a:rPr sz="1400" b="1" i="0">
                <a:solidFill>
                  <a:srgbClr val="8EAADB"/>
                </a:solidFill>
                <a:latin typeface="Calibri"/>
              </a:rPr>
              <a:t>SOUTENANCE DE STAGE — MASTER MBDS</a:t>
            </a:r>
          </a:p>
        </p:txBody>
      </p:sp>
      <p:sp>
        <p:nvSpPr>
          <p:cNvPr id="8" name="TextBox 7"/>
          <p:cNvSpPr txBox="1"/>
          <p:nvPr/>
        </p:nvSpPr>
        <p:spPr>
          <a:xfrm>
            <a:off x="731520" y="2286000"/>
            <a:ext cx="10728655" cy="1280160"/>
          </a:xfrm>
          <a:prstGeom prst="rect">
            <a:avLst/>
          </a:prstGeom>
          <a:noFill/>
        </p:spPr>
        <p:txBody>
          <a:bodyPr wrap="square" lIns="18288" tIns="18288" rIns="18288" bIns="18288" anchor="t">
            <a:spAutoFit/>
          </a:bodyPr>
          <a:lstStyle/>
          <a:p>
            <a:pPr algn="l"/>
            <a:r>
              <a:rPr sz="3800" b="1" i="0">
                <a:solidFill>
                  <a:srgbClr val="FFFFFF"/>
                </a:solidFill>
                <a:latin typeface="Calibri"/>
              </a:rPr>
              <a:t>Plateforme Big Data de gestion et de gouvernance des données patients</a:t>
            </a:r>
          </a:p>
        </p:txBody>
      </p:sp>
      <p:sp>
        <p:nvSpPr>
          <p:cNvPr id="9" name="TextBox 8"/>
          <p:cNvSpPr txBox="1"/>
          <p:nvPr/>
        </p:nvSpPr>
        <p:spPr>
          <a:xfrm>
            <a:off x="731520" y="3611880"/>
            <a:ext cx="10728655" cy="457200"/>
          </a:xfrm>
          <a:prstGeom prst="rect">
            <a:avLst/>
          </a:prstGeom>
          <a:noFill/>
        </p:spPr>
        <p:txBody>
          <a:bodyPr wrap="square" lIns="18288" tIns="18288" rIns="18288" bIns="18288" anchor="t">
            <a:spAutoFit/>
          </a:bodyPr>
          <a:lstStyle/>
          <a:p>
            <a:pPr algn="l"/>
            <a:r>
              <a:rPr sz="1900" b="0" i="1">
                <a:solidFill>
                  <a:srgbClr val="E2E9F3"/>
                </a:solidFill>
                <a:latin typeface="Calibri"/>
              </a:rPr>
              <a:t>Nettoyage, déduplication et contrôle d'accès basé sur le consentement</a:t>
            </a:r>
          </a:p>
        </p:txBody>
      </p:sp>
      <p:sp>
        <p:nvSpPr>
          <p:cNvPr id="10" name="TextBox 9"/>
          <p:cNvSpPr txBox="1"/>
          <p:nvPr/>
        </p:nvSpPr>
        <p:spPr>
          <a:xfrm>
            <a:off x="548640" y="4709160"/>
            <a:ext cx="6858000" cy="365760"/>
          </a:xfrm>
          <a:prstGeom prst="rect">
            <a:avLst/>
          </a:prstGeom>
          <a:noFill/>
        </p:spPr>
        <p:txBody>
          <a:bodyPr wrap="square" lIns="18288" tIns="18288" rIns="18288" bIns="18288" anchor="t">
            <a:spAutoFit/>
          </a:bodyPr>
          <a:lstStyle/>
          <a:p>
            <a:pPr algn="l"/>
            <a:r>
              <a:rPr sz="1800" b="0" i="0">
                <a:solidFill>
                  <a:srgbClr val="1D2433"/>
                </a:solidFill>
                <a:latin typeface="Calibri"/>
              </a:rPr>
              <a:t>Présenté par </a:t>
            </a:r>
            <a:r>
              <a:rPr sz="1800" b="1" i="0">
                <a:solidFill>
                  <a:srgbClr val="1D2433"/>
                </a:solidFill>
                <a:latin typeface="Calibri"/>
              </a:rPr>
              <a:t>RANOMENJANAHARY Manjaka Alpha</a:t>
            </a:r>
          </a:p>
        </p:txBody>
      </p:sp>
      <p:sp>
        <p:nvSpPr>
          <p:cNvPr id="11" name="TextBox 10"/>
          <p:cNvSpPr txBox="1"/>
          <p:nvPr/>
        </p:nvSpPr>
        <p:spPr>
          <a:xfrm>
            <a:off x="548640" y="5120640"/>
            <a:ext cx="6858000" cy="822960"/>
          </a:xfrm>
          <a:prstGeom prst="rect">
            <a:avLst/>
          </a:prstGeom>
          <a:noFill/>
        </p:spPr>
        <p:txBody>
          <a:bodyPr wrap="square" lIns="18288" tIns="18288" rIns="18288" bIns="18288" anchor="t">
            <a:spAutoFit/>
          </a:bodyPr>
          <a:lstStyle/>
          <a:p>
            <a:pPr algn="l">
              <a:spcAft>
                <a:spcPts val="200"/>
              </a:spcAft>
            </a:pPr>
            <a:r>
              <a:rPr sz="1400" b="0" i="0">
                <a:solidFill>
                  <a:srgbClr val="5B6475"/>
                </a:solidFill>
                <a:latin typeface="Calibri"/>
              </a:rPr>
              <a:t>Encadrant professionnel : M. Harena Ny Aina RABEMANOELA (MMT)</a:t>
            </a:r>
          </a:p>
          <a:p>
            <a:pPr algn="l">
              <a:spcAft>
                <a:spcPts val="200"/>
              </a:spcAft>
            </a:pPr>
            <a:r>
              <a:rPr sz="1400" b="0" i="0">
                <a:solidFill>
                  <a:srgbClr val="5B6475"/>
                </a:solidFill>
                <a:latin typeface="Calibri"/>
              </a:rPr>
              <a:t>Encadrant pédagogique : M. Rojo RABENANAHARY (MBDS)</a:t>
            </a:r>
          </a:p>
        </p:txBody>
      </p:sp>
      <p:sp>
        <p:nvSpPr>
          <p:cNvPr id="12" name="TextBox 11"/>
          <p:cNvSpPr txBox="1"/>
          <p:nvPr/>
        </p:nvSpPr>
        <p:spPr>
          <a:xfrm>
            <a:off x="7528255" y="4709160"/>
            <a:ext cx="4114800" cy="365760"/>
          </a:xfrm>
          <a:prstGeom prst="rect">
            <a:avLst/>
          </a:prstGeom>
          <a:noFill/>
        </p:spPr>
        <p:txBody>
          <a:bodyPr wrap="square" lIns="18288" tIns="18288" rIns="18288" bIns="18288" anchor="t">
            <a:spAutoFit/>
          </a:bodyPr>
          <a:lstStyle/>
          <a:p>
            <a:pPr algn="r"/>
            <a:r>
              <a:rPr sz="1800" b="1" i="0">
                <a:solidFill>
                  <a:srgbClr val="1F3864"/>
                </a:solidFill>
                <a:latin typeface="Calibri"/>
              </a:rPr>
              <a:t>Octobre 2026</a:t>
            </a:r>
          </a:p>
        </p:txBody>
      </p:sp>
      <p:sp>
        <p:nvSpPr>
          <p:cNvPr id="13" name="TextBox 12"/>
          <p:cNvSpPr txBox="1"/>
          <p:nvPr/>
        </p:nvSpPr>
        <p:spPr>
          <a:xfrm>
            <a:off x="7528255" y="5120640"/>
            <a:ext cx="4114800" cy="822960"/>
          </a:xfrm>
          <a:prstGeom prst="rect">
            <a:avLst/>
          </a:prstGeom>
          <a:noFill/>
        </p:spPr>
        <p:txBody>
          <a:bodyPr wrap="square" lIns="18288" tIns="18288" rIns="18288" bIns="18288" anchor="t">
            <a:spAutoFit/>
          </a:bodyPr>
          <a:lstStyle/>
          <a:p>
            <a:pPr algn="r">
              <a:spcAft>
                <a:spcPts val="200"/>
              </a:spcAft>
            </a:pPr>
            <a:r>
              <a:rPr sz="1400" b="0" i="0">
                <a:solidFill>
                  <a:srgbClr val="5B6475"/>
                </a:solidFill>
                <a:latin typeface="Calibri"/>
              </a:rPr>
              <a:t>Madagascar Medical Technology</a:t>
            </a:r>
          </a:p>
          <a:p>
            <a:pPr algn="r">
              <a:spcAft>
                <a:spcPts val="200"/>
              </a:spcAft>
            </a:pPr>
            <a:r>
              <a:rPr sz="1400" b="0" i="0">
                <a:solidFill>
                  <a:srgbClr val="5B6475"/>
                </a:solidFill>
                <a:latin typeface="Calibri"/>
              </a:rPr>
              <a:t>Département Recherche et Développement</a:t>
            </a:r>
          </a:p>
        </p:txBody>
      </p:sp>
    </p:spTree>
    <p:extLst>
      <p:ext uri="{BB962C8B-B14F-4D97-AF65-F5344CB8AC3E}">
        <p14:creationId xmlns:p14="http://schemas.microsoft.com/office/powerpoint/2010/main" val="1233460802"/>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PRÉSENTATION DE L'ENTREPRISE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MMT, partenaire technologique des établissements de santé</a:t>
            </a:r>
          </a:p>
        </p:txBody>
      </p:sp>
      <p:sp>
        <p:nvSpPr>
          <p:cNvPr id="10" name="Rounded Rectangle 9"/>
          <p:cNvSpPr/>
          <p:nvPr/>
        </p:nvSpPr>
        <p:spPr>
          <a:xfrm>
            <a:off x="548640"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103120" cy="777240"/>
          </a:xfrm>
          <a:prstGeom prst="rect">
            <a:avLst/>
          </a:prstGeom>
          <a:noFill/>
        </p:spPr>
        <p:txBody>
          <a:bodyPr wrap="square" lIns="18288" tIns="18288" rIns="18288" bIns="18288" anchor="ctr">
            <a:spAutoFit/>
          </a:bodyPr>
          <a:lstStyle/>
          <a:p>
            <a:pPr algn="ctr"/>
            <a:r>
              <a:rPr sz="4400" b="1" i="0">
                <a:solidFill>
                  <a:srgbClr val="1F3864"/>
                </a:solidFill>
                <a:latin typeface="Calibri"/>
              </a:rPr>
              <a:t>2009</a:t>
            </a:r>
          </a:p>
        </p:txBody>
      </p:sp>
      <p:sp>
        <p:nvSpPr>
          <p:cNvPr id="12" name="TextBox 11"/>
          <p:cNvSpPr txBox="1"/>
          <p:nvPr/>
        </p:nvSpPr>
        <p:spPr>
          <a:xfrm>
            <a:off x="685800"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création de l'entreprise à Madagascar</a:t>
            </a:r>
          </a:p>
        </p:txBody>
      </p:sp>
      <p:sp>
        <p:nvSpPr>
          <p:cNvPr id="13" name="Rounded Rectangle 12"/>
          <p:cNvSpPr/>
          <p:nvPr/>
        </p:nvSpPr>
        <p:spPr>
          <a:xfrm>
            <a:off x="3035808"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3127248"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Siemens</a:t>
            </a:r>
          </a:p>
        </p:txBody>
      </p:sp>
      <p:sp>
        <p:nvSpPr>
          <p:cNvPr id="15" name="TextBox 14"/>
          <p:cNvSpPr txBox="1"/>
          <p:nvPr/>
        </p:nvSpPr>
        <p:spPr>
          <a:xfrm>
            <a:off x="3172968"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Business Partner de Siemens Healthineers</a:t>
            </a:r>
          </a:p>
        </p:txBody>
      </p:sp>
      <p:sp>
        <p:nvSpPr>
          <p:cNvPr id="16" name="Rounded Rectangle 15"/>
          <p:cNvSpPr/>
          <p:nvPr/>
        </p:nvSpPr>
        <p:spPr>
          <a:xfrm>
            <a:off x="5522976" y="1600200"/>
            <a:ext cx="2286000" cy="16002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5614416" y="1709928"/>
            <a:ext cx="2103120" cy="777240"/>
          </a:xfrm>
          <a:prstGeom prst="rect">
            <a:avLst/>
          </a:prstGeom>
          <a:noFill/>
        </p:spPr>
        <p:txBody>
          <a:bodyPr wrap="square" lIns="18288" tIns="18288" rIns="18288" bIns="18288" anchor="ctr">
            <a:spAutoFit/>
          </a:bodyPr>
          <a:lstStyle/>
          <a:p>
            <a:pPr algn="ctr"/>
            <a:r>
              <a:rPr sz="3600" b="1" i="0">
                <a:solidFill>
                  <a:srgbClr val="1F3864"/>
                </a:solidFill>
                <a:latin typeface="Calibri"/>
              </a:rPr>
              <a:t>R&amp;D</a:t>
            </a:r>
          </a:p>
        </p:txBody>
      </p:sp>
      <p:sp>
        <p:nvSpPr>
          <p:cNvPr id="18" name="TextBox 17"/>
          <p:cNvSpPr txBox="1"/>
          <p:nvPr/>
        </p:nvSpPr>
        <p:spPr>
          <a:xfrm>
            <a:off x="5660136" y="2496312"/>
            <a:ext cx="2011680" cy="640080"/>
          </a:xfrm>
          <a:prstGeom prst="rect">
            <a:avLst/>
          </a:prstGeom>
          <a:noFill/>
        </p:spPr>
        <p:txBody>
          <a:bodyPr wrap="square" lIns="18288" tIns="18288" rIns="18288" bIns="18288" anchor="t">
            <a:spAutoFit/>
          </a:bodyPr>
          <a:lstStyle/>
          <a:p>
            <a:pPr algn="ctr"/>
            <a:r>
              <a:rPr sz="1300" b="0" i="0">
                <a:solidFill>
                  <a:srgbClr val="5B6475"/>
                </a:solidFill>
                <a:latin typeface="Calibri"/>
              </a:rPr>
              <a:t>département créé en 2024 : systèmes d'information médicale</a:t>
            </a:r>
          </a:p>
        </p:txBody>
      </p:sp>
      <p:sp>
        <p:nvSpPr>
          <p:cNvPr id="19" name="TextBox 18"/>
          <p:cNvSpPr txBox="1"/>
          <p:nvPr/>
        </p:nvSpPr>
        <p:spPr>
          <a:xfrm>
            <a:off x="548640" y="3520439"/>
            <a:ext cx="7315200" cy="365760"/>
          </a:xfrm>
          <a:prstGeom prst="rect">
            <a:avLst/>
          </a:prstGeom>
          <a:noFill/>
        </p:spPr>
        <p:txBody>
          <a:bodyPr wrap="square" lIns="18288" tIns="18288" rIns="18288" bIns="18288" anchor="t">
            <a:spAutoFit/>
          </a:bodyPr>
          <a:lstStyle/>
          <a:p>
            <a:pPr algn="l"/>
            <a:r>
              <a:rPr sz="1700" b="1" i="0">
                <a:solidFill>
                  <a:srgbClr val="1F3864"/>
                </a:solidFill>
                <a:latin typeface="Calibri"/>
              </a:rPr>
              <a:t>Domaines d'activité</a:t>
            </a:r>
          </a:p>
        </p:txBody>
      </p:sp>
      <p:sp>
        <p:nvSpPr>
          <p:cNvPr id="20" name="TextBox 19"/>
          <p:cNvSpPr txBox="1"/>
          <p:nvPr/>
        </p:nvSpPr>
        <p:spPr>
          <a:xfrm>
            <a:off x="548640" y="3931920"/>
            <a:ext cx="7315200" cy="2011680"/>
          </a:xfrm>
          <a:prstGeom prst="rect">
            <a:avLst/>
          </a:prstGeom>
          <a:noFill/>
        </p:spPr>
        <p:txBody>
          <a:bodyPr wrap="square" lIns="18288" tIns="18288" rIns="18288" bIns="18288" anchor="t">
            <a:spAutoFit/>
          </a:bodyPr>
          <a:lstStyle/>
          <a:p>
            <a:pPr marL="228600" indent="-201168" algn="l">
              <a:spcAft>
                <a:spcPts val="600"/>
              </a:spcAft>
              <a:buClr>
                <a:srgbClr val="2E5597"/>
              </a:buClr>
              <a:buChar char="•"/>
            </a:pPr>
            <a:r>
              <a:rPr sz="1600" b="0" i="0">
                <a:solidFill>
                  <a:srgbClr val="1D2433"/>
                </a:solidFill>
                <a:latin typeface="Calibri"/>
              </a:rPr>
              <a:t>Distribution et maintenance de matériels biomédicaux</a:t>
            </a:r>
          </a:p>
          <a:p>
            <a:pPr marL="228600" indent="-201168" algn="l">
              <a:spcAft>
                <a:spcPts val="600"/>
              </a:spcAft>
              <a:buClr>
                <a:srgbClr val="2E5597"/>
              </a:buClr>
              <a:buChar char="•"/>
            </a:pPr>
            <a:r>
              <a:rPr sz="1600" b="0" i="0">
                <a:solidFill>
                  <a:srgbClr val="1D2433"/>
                </a:solidFill>
                <a:latin typeface="Calibri"/>
              </a:rPr>
              <a:t>Fourniture de consommables médicaux</a:t>
            </a:r>
          </a:p>
          <a:p>
            <a:pPr marL="228600" indent="-201168" algn="l">
              <a:spcAft>
                <a:spcPts val="600"/>
              </a:spcAft>
              <a:buClr>
                <a:srgbClr val="2E5597"/>
              </a:buClr>
              <a:buChar char="•"/>
            </a:pPr>
            <a:r>
              <a:rPr sz="1600" b="0" i="0">
                <a:solidFill>
                  <a:srgbClr val="1D2433"/>
                </a:solidFill>
                <a:latin typeface="Calibri"/>
              </a:rPr>
              <a:t>Gestion de stock des établissements partenaires</a:t>
            </a:r>
          </a:p>
          <a:p>
            <a:pPr marL="228600" indent="-201168" algn="l">
              <a:spcAft>
                <a:spcPts val="600"/>
              </a:spcAft>
              <a:buClr>
                <a:srgbClr val="2E5597"/>
              </a:buClr>
              <a:buChar char="•"/>
            </a:pPr>
            <a:r>
              <a:rPr sz="1600" b="0" i="0">
                <a:solidFill>
                  <a:srgbClr val="1D2433"/>
                </a:solidFill>
                <a:latin typeface="Calibri"/>
              </a:rPr>
              <a:t>Systèmes d'information médicale, infrastructures et réseaux</a:t>
            </a:r>
          </a:p>
        </p:txBody>
      </p:sp>
      <p:sp>
        <p:nvSpPr>
          <p:cNvPr id="21" name="Rounded Rectangle 20"/>
          <p:cNvSpPr/>
          <p:nvPr/>
        </p:nvSpPr>
        <p:spPr>
          <a:xfrm>
            <a:off x="8229600" y="1600200"/>
            <a:ext cx="3413455" cy="45262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pic>
        <p:nvPicPr>
          <p:cNvPr id="22" name="Picture 21" descr="mmt-logo.png"/>
          <p:cNvPicPr>
            <a:picLocks noChangeAspect="1"/>
          </p:cNvPicPr>
          <p:nvPr/>
        </p:nvPicPr>
        <p:blipFill>
          <a:blip r:embed="rId6"/>
          <a:stretch>
            <a:fillRect/>
          </a:stretch>
        </p:blipFill>
        <p:spPr>
          <a:xfrm>
            <a:off x="9067647" y="1874519"/>
            <a:ext cx="1737360" cy="1737360"/>
          </a:xfrm>
          <a:prstGeom prst="rect">
            <a:avLst/>
          </a:prstGeom>
        </p:spPr>
      </p:pic>
      <p:sp>
        <p:nvSpPr>
          <p:cNvPr id="23" name="TextBox 22"/>
          <p:cNvSpPr txBox="1"/>
          <p:nvPr/>
        </p:nvSpPr>
        <p:spPr>
          <a:xfrm>
            <a:off x="8458200" y="3840480"/>
            <a:ext cx="2956255" cy="2194560"/>
          </a:xfrm>
          <a:prstGeom prst="rect">
            <a:avLst/>
          </a:prstGeom>
          <a:noFill/>
        </p:spPr>
        <p:txBody>
          <a:bodyPr wrap="square" lIns="18288" tIns="18288" rIns="18288" bIns="18288" anchor="t">
            <a:spAutoFit/>
          </a:bodyPr>
          <a:lstStyle/>
          <a:p>
            <a:pPr algn="l">
              <a:spcAft>
                <a:spcPts val="500"/>
              </a:spcAft>
            </a:pPr>
            <a:r>
              <a:rPr sz="1400" b="1" i="0">
                <a:solidFill>
                  <a:srgbClr val="1D2433"/>
                </a:solidFill>
                <a:latin typeface="Calibri"/>
              </a:rPr>
              <a:t>Le stage</a:t>
            </a:r>
          </a:p>
          <a:p>
            <a:pPr algn="l">
              <a:spcAft>
                <a:spcPts val="500"/>
              </a:spcAft>
            </a:pPr>
            <a:r>
              <a:rPr sz="1400" b="0" i="0">
                <a:solidFill>
                  <a:srgbClr val="1D2433"/>
                </a:solidFill>
                <a:latin typeface="Calibri"/>
              </a:rPr>
              <a:t>Département Recherche et Développement</a:t>
            </a:r>
          </a:p>
          <a:p>
            <a:pPr algn="l">
              <a:spcAft>
                <a:spcPts val="500"/>
              </a:spcAft>
            </a:pPr>
            <a:r>
              <a:rPr sz="1400" b="0" i="0">
                <a:solidFill>
                  <a:srgbClr val="1D2433"/>
                </a:solidFill>
                <a:latin typeface="Calibri"/>
              </a:rPr>
              <a:t>6 juillet → fin octobre 2026 (4 mois)</a:t>
            </a:r>
          </a:p>
          <a:p>
            <a:pPr algn="l">
              <a:spcAft>
                <a:spcPts val="500"/>
              </a:spcAft>
            </a:pPr>
            <a:r>
              <a:rPr sz="1400" b="0" i="0">
                <a:solidFill>
                  <a:srgbClr val="1D2433"/>
                </a:solidFill>
                <a:latin typeface="Calibri"/>
              </a:rPr>
              <a:t>Encadrant : M. Harena Ny Aina RABEMANOELA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650"/>
                            </p:stCondLst>
                            <p:childTnLst>
                              <p:par>
                                <p:cTn id="15" presetID="10" presetClass="entr" presetSubtype="0"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childTnLst>
                          </p:cTn>
                        </p:par>
                        <p:par>
                          <p:cTn id="24" fill="hold">
                            <p:stCondLst>
                              <p:cond delay="1300"/>
                            </p:stCondLst>
                            <p:childTnLst>
                              <p:par>
                                <p:cTn id="25" presetID="10" presetClass="entr" presetSubtype="0" fill="hold" grpId="0" nodeType="after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animEffect transition="in" filter="fade">
                                      <p:cBhvr>
                                        <p:cTn id="33" dur="500"/>
                                        <p:tgtEl>
                                          <p:spTgt spid="1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5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QUESTION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fiches, trois formats… une seule personne ?</a:t>
            </a:r>
          </a:p>
        </p:txBody>
      </p:sp>
      <p:sp>
        <p:nvSpPr>
          <p:cNvPr id="10" name="Rounded Rectangle 9"/>
          <p:cNvSpPr/>
          <p:nvPr/>
        </p:nvSpPr>
        <p:spPr>
          <a:xfrm>
            <a:off x="548640" y="164592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777240" y="173736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PHARMACIE</a:t>
            </a:r>
          </a:p>
        </p:txBody>
      </p:sp>
      <p:sp>
        <p:nvSpPr>
          <p:cNvPr id="12" name="TextBox 11"/>
          <p:cNvSpPr txBox="1"/>
          <p:nvPr/>
        </p:nvSpPr>
        <p:spPr>
          <a:xfrm>
            <a:off x="777240" y="199339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Jean Rakoto</a:t>
            </a:r>
          </a:p>
        </p:txBody>
      </p:sp>
      <p:sp>
        <p:nvSpPr>
          <p:cNvPr id="13" name="TextBox 12"/>
          <p:cNvSpPr txBox="1"/>
          <p:nvPr/>
        </p:nvSpPr>
        <p:spPr>
          <a:xfrm>
            <a:off x="777240" y="230428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 02404 5 · 1990-01-10</a:t>
            </a:r>
          </a:p>
        </p:txBody>
      </p:sp>
      <p:cxnSp>
        <p:nvCxnSpPr>
          <p:cNvPr id="14" name="Connector 13"/>
          <p:cNvCxnSpPr/>
          <p:nvPr/>
        </p:nvCxnSpPr>
        <p:spPr>
          <a:xfrm>
            <a:off x="4846320" y="2148840"/>
            <a:ext cx="777240" cy="9601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283464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777240" y="292608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CONSULTATION</a:t>
            </a:r>
          </a:p>
        </p:txBody>
      </p:sp>
      <p:sp>
        <p:nvSpPr>
          <p:cNvPr id="17" name="TextBox 16"/>
          <p:cNvSpPr txBox="1"/>
          <p:nvPr/>
        </p:nvSpPr>
        <p:spPr>
          <a:xfrm>
            <a:off x="777240" y="318211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Rakoto Jean</a:t>
            </a:r>
          </a:p>
        </p:txBody>
      </p:sp>
      <p:sp>
        <p:nvSpPr>
          <p:cNvPr id="18" name="TextBox 17"/>
          <p:cNvSpPr txBox="1"/>
          <p:nvPr/>
        </p:nvSpPr>
        <p:spPr>
          <a:xfrm>
            <a:off x="777240" y="349300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10/01/1990</a:t>
            </a:r>
          </a:p>
        </p:txBody>
      </p:sp>
      <p:cxnSp>
        <p:nvCxnSpPr>
          <p:cNvPr id="19" name="Connector 18"/>
          <p:cNvCxnSpPr/>
          <p:nvPr/>
        </p:nvCxnSpPr>
        <p:spPr>
          <a:xfrm flipV="1">
            <a:off x="4846320" y="3108960"/>
            <a:ext cx="777240" cy="22860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4023360"/>
            <a:ext cx="4206240" cy="1005840"/>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777240" y="4114800"/>
            <a:ext cx="3749039" cy="274320"/>
          </a:xfrm>
          <a:prstGeom prst="rect">
            <a:avLst/>
          </a:prstGeom>
          <a:noFill/>
        </p:spPr>
        <p:txBody>
          <a:bodyPr wrap="square" lIns="18288" tIns="18288" rIns="18288" bIns="18288" anchor="t">
            <a:spAutoFit/>
          </a:bodyPr>
          <a:lstStyle/>
          <a:p>
            <a:pPr algn="l"/>
            <a:r>
              <a:rPr sz="1200" b="1" i="0">
                <a:solidFill>
                  <a:srgbClr val="2E5597"/>
                </a:solidFill>
                <a:latin typeface="Calibri"/>
              </a:rPr>
              <a:t>IMAGERIE</a:t>
            </a:r>
          </a:p>
        </p:txBody>
      </p:sp>
      <p:sp>
        <p:nvSpPr>
          <p:cNvPr id="22" name="TextBox 21"/>
          <p:cNvSpPr txBox="1"/>
          <p:nvPr/>
        </p:nvSpPr>
        <p:spPr>
          <a:xfrm>
            <a:off x="777240" y="4370832"/>
            <a:ext cx="3749039" cy="320040"/>
          </a:xfrm>
          <a:prstGeom prst="rect">
            <a:avLst/>
          </a:prstGeom>
          <a:noFill/>
        </p:spPr>
        <p:txBody>
          <a:bodyPr wrap="square" lIns="18288" tIns="18288" rIns="18288" bIns="18288" anchor="t">
            <a:spAutoFit/>
          </a:bodyPr>
          <a:lstStyle/>
          <a:p>
            <a:pPr algn="l"/>
            <a:r>
              <a:rPr sz="1900" b="1" i="0">
                <a:solidFill>
                  <a:srgbClr val="1D2433"/>
                </a:solidFill>
                <a:latin typeface="Consolas"/>
              </a:rPr>
              <a:t>J. RAKOTO</a:t>
            </a:r>
          </a:p>
        </p:txBody>
      </p:sp>
      <p:sp>
        <p:nvSpPr>
          <p:cNvPr id="23" name="TextBox 22"/>
          <p:cNvSpPr txBox="1"/>
          <p:nvPr/>
        </p:nvSpPr>
        <p:spPr>
          <a:xfrm>
            <a:off x="777240" y="4681728"/>
            <a:ext cx="3749039" cy="274320"/>
          </a:xfrm>
          <a:prstGeom prst="rect">
            <a:avLst/>
          </a:prstGeom>
          <a:noFill/>
        </p:spPr>
        <p:txBody>
          <a:bodyPr wrap="square" lIns="18288" tIns="18288" rIns="18288" bIns="18288" anchor="t">
            <a:spAutoFit/>
          </a:bodyPr>
          <a:lstStyle/>
          <a:p>
            <a:pPr algn="l"/>
            <a:r>
              <a:rPr sz="1300" b="0" i="0">
                <a:solidFill>
                  <a:srgbClr val="5B6475"/>
                </a:solidFill>
                <a:latin typeface="Consolas"/>
              </a:rPr>
              <a:t>101024045 · 1990/01/10</a:t>
            </a:r>
          </a:p>
        </p:txBody>
      </p:sp>
      <p:cxnSp>
        <p:nvCxnSpPr>
          <p:cNvPr id="24" name="Connector 23"/>
          <p:cNvCxnSpPr/>
          <p:nvPr/>
        </p:nvCxnSpPr>
        <p:spPr>
          <a:xfrm flipV="1">
            <a:off x="4846320" y="3108960"/>
            <a:ext cx="777240" cy="1417320"/>
          </a:xfrm>
          <a:prstGeom prst="line">
            <a:avLst/>
          </a:prstGeom>
          <a:ln w="25400">
            <a:solidFill>
              <a:srgbClr val="8EAA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669280" y="2560320"/>
            <a:ext cx="1097280" cy="1097280"/>
          </a:xfrm>
          <a:prstGeom prst="ellipse">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4400" b="1" i="0">
                <a:solidFill>
                  <a:srgbClr val="FFFFFF"/>
                </a:solidFill>
                <a:latin typeface="Calibri"/>
              </a:rPr>
              <a:t>?</a:t>
            </a:r>
          </a:p>
        </p:txBody>
      </p:sp>
      <p:sp>
        <p:nvSpPr>
          <p:cNvPr id="26" name="Rounded Rectangle 25"/>
          <p:cNvSpPr/>
          <p:nvPr/>
        </p:nvSpPr>
        <p:spPr>
          <a:xfrm>
            <a:off x="7132320" y="1645920"/>
            <a:ext cx="4510735" cy="33832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TextBox 26"/>
          <p:cNvSpPr txBox="1"/>
          <p:nvPr/>
        </p:nvSpPr>
        <p:spPr>
          <a:xfrm>
            <a:off x="7406640" y="1874519"/>
            <a:ext cx="3962095" cy="2926080"/>
          </a:xfrm>
          <a:prstGeom prst="rect">
            <a:avLst/>
          </a:prstGeom>
          <a:noFill/>
        </p:spPr>
        <p:txBody>
          <a:bodyPr wrap="square" lIns="18288" tIns="18288" rIns="18288" bIns="18288" anchor="ctr">
            <a:spAutoFit/>
          </a:bodyPr>
          <a:lstStyle/>
          <a:p>
            <a:pPr algn="l"/>
            <a:r>
              <a:rPr sz="2200" b="0" i="0">
                <a:solidFill>
                  <a:srgbClr val="FFFFFF"/>
                </a:solidFill>
                <a:latin typeface="Calibri"/>
              </a:rPr>
              <a:t>Comment savoir qu'il s'agit du </a:t>
            </a:r>
            <a:r>
              <a:rPr sz="2200" b="1" i="0">
                <a:solidFill>
                  <a:srgbClr val="FFFFFF"/>
                </a:solidFill>
                <a:latin typeface="Calibri"/>
              </a:rPr>
              <a:t>même patient</a:t>
            </a:r>
            <a:r>
              <a:rPr sz="2200" b="0" i="0">
                <a:solidFill>
                  <a:srgbClr val="FFFFFF"/>
                </a:solidFill>
                <a:latin typeface="Calibri"/>
              </a:rPr>
              <a:t> ?</a:t>
            </a:r>
          </a:p>
          <a:p>
            <a:pPr algn="l"/>
            <a:endParaRPr sz="2200" b="0" i="0">
              <a:solidFill>
                <a:srgbClr val="FFFFFF"/>
              </a:solidFill>
              <a:latin typeface="Calibri"/>
            </a:endParaRPr>
          </a:p>
          <a:p>
            <a:pPr algn="l"/>
            <a:r>
              <a:rPr sz="2200" b="0" i="0">
                <a:solidFill>
                  <a:srgbClr val="FFFFFF"/>
                </a:solidFill>
                <a:latin typeface="Calibri"/>
              </a:rPr>
              <a:t>Et </a:t>
            </a:r>
            <a:r>
              <a:rPr sz="2200" b="1" i="0">
                <a:solidFill>
                  <a:srgbClr val="FFFFFF"/>
                </a:solidFill>
                <a:latin typeface="Calibri"/>
              </a:rPr>
              <a:t>qui a le droit</a:t>
            </a:r>
            <a:r>
              <a:rPr sz="2200" b="0" i="0">
                <a:solidFill>
                  <a:srgbClr val="FFFFFF"/>
                </a:solidFill>
                <a:latin typeface="Calibri"/>
              </a:rPr>
              <a:t> de lire ses données, </a:t>
            </a:r>
            <a:r>
              <a:rPr sz="2200" b="1" i="0">
                <a:solidFill>
                  <a:srgbClr val="FFFFFF"/>
                </a:solidFill>
                <a:latin typeface="Calibri"/>
              </a:rPr>
              <a:t>pour quelle finalité</a:t>
            </a:r>
            <a:r>
              <a:rPr sz="2200" b="0" i="0">
                <a:solidFill>
                  <a:srgbClr val="FFFFFF"/>
                </a:solidFill>
                <a:latin typeface="Calibri"/>
              </a:rPr>
              <a:t> ?</a:t>
            </a:r>
          </a:p>
        </p:txBody>
      </p:sp>
      <p:sp>
        <p:nvSpPr>
          <p:cNvPr id="28" name="TextBox 27"/>
          <p:cNvSpPr txBox="1"/>
          <p:nvPr/>
        </p:nvSpPr>
        <p:spPr>
          <a:xfrm>
            <a:off x="548640" y="5394959"/>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Cas de référence du projet — données fictives.</a:t>
            </a:r>
          </a:p>
        </p:txBody>
      </p:sp>
    </p:spTree>
    <p:extLst>
      <p:ext uri="{BB962C8B-B14F-4D97-AF65-F5344CB8AC3E}">
        <p14:creationId xmlns:p14="http://schemas.microsoft.com/office/powerpoint/2010/main" val="287470384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500"/>
                                        <p:tgtEl>
                                          <p:spTgt spid="28"/>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par>
                          <p:cTn id="33" fill="hold">
                            <p:stCondLst>
                              <p:cond delay="1000"/>
                            </p:stCondLst>
                            <p:childTnLst>
                              <p:par>
                                <p:cTn id="34" presetID="10" presetClass="entr" presetSubtype="0" fill="hold" nodeType="after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500"/>
                                        <p:tgtEl>
                                          <p:spTgt spid="20"/>
                                        </p:tgtEl>
                                      </p:cBhvr>
                                    </p:animEffect>
                                  </p:childTnLst>
                                </p:cTn>
                              </p:par>
                              <p:par>
                                <p:cTn id="37" presetID="10" presetClass="entr" presetSubtype="0"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500"/>
                                        <p:tgtEl>
                                          <p:spTgt spid="14"/>
                                        </p:tgtEl>
                                      </p:cBhvr>
                                    </p:animEffect>
                                  </p:childTnLst>
                                </p:cTn>
                              </p:par>
                              <p:par>
                                <p:cTn id="51" presetID="22" presetClass="entr" presetSubtype="8"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wipe(left)">
                                      <p:cBhvr>
                                        <p:cTn id="53" dur="500"/>
                                        <p:tgtEl>
                                          <p:spTgt spid="19"/>
                                        </p:tgtEl>
                                      </p:cBhvr>
                                    </p:animEffect>
                                  </p:childTnLst>
                                </p:cTn>
                              </p:par>
                              <p:par>
                                <p:cTn id="54" presetID="22" presetClass="entr" presetSubtype="8"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wipe(left)">
                                      <p:cBhvr>
                                        <p:cTn id="56" dur="500"/>
                                        <p:tgtEl>
                                          <p:spTgt spid="24"/>
                                        </p:tgtEl>
                                      </p:cBhvr>
                                    </p:animEffect>
                                  </p:childTnLst>
                                </p:cTn>
                              </p:par>
                            </p:childTnLst>
                          </p:cTn>
                        </p:par>
                        <p:par>
                          <p:cTn id="57" fill="hold">
                            <p:stCondLst>
                              <p:cond delay="500"/>
                            </p:stCondLst>
                            <p:childTnLst>
                              <p:par>
                                <p:cTn id="58" presetID="53" presetClass="entr" presetSubtype="16" fill="hold" nodeType="afterEffect">
                                  <p:stCondLst>
                                    <p:cond delay="0"/>
                                  </p:stCondLst>
                                  <p:childTnLst>
                                    <p:set>
                                      <p:cBhvr>
                                        <p:cTn id="59" dur="1" fill="hold">
                                          <p:stCondLst>
                                            <p:cond delay="0"/>
                                          </p:stCondLst>
                                        </p:cTn>
                                        <p:tgtEl>
                                          <p:spTgt spid="25"/>
                                        </p:tgtEl>
                                        <p:attrNameLst>
                                          <p:attrName>style.visibility</p:attrName>
                                        </p:attrNameLst>
                                      </p:cBhvr>
                                      <p:to>
                                        <p:strVal val="visible"/>
                                      </p:to>
                                    </p:set>
                                    <p:anim calcmode="lin" valueType="num">
                                      <p:cBhvr>
                                        <p:cTn id="60" dur="500" fill="hold"/>
                                        <p:tgtEl>
                                          <p:spTgt spid="25"/>
                                        </p:tgtEl>
                                        <p:attrNameLst>
                                          <p:attrName>ppt_w</p:attrName>
                                        </p:attrNameLst>
                                      </p:cBhvr>
                                      <p:tavLst>
                                        <p:tav tm="0">
                                          <p:val>
                                            <p:fltVal val="0"/>
                                          </p:val>
                                        </p:tav>
                                        <p:tav tm="100000">
                                          <p:val>
                                            <p:strVal val="#ppt_w"/>
                                          </p:val>
                                        </p:tav>
                                      </p:tavLst>
                                    </p:anim>
                                    <p:anim calcmode="lin" valueType="num">
                                      <p:cBhvr>
                                        <p:cTn id="61" dur="500" fill="hold"/>
                                        <p:tgtEl>
                                          <p:spTgt spid="25"/>
                                        </p:tgtEl>
                                        <p:attrNameLst>
                                          <p:attrName>ppt_h</p:attrName>
                                        </p:attrNameLst>
                                      </p:cBhvr>
                                      <p:tavLst>
                                        <p:tav tm="0">
                                          <p:val>
                                            <p:fltVal val="0"/>
                                          </p:val>
                                        </p:tav>
                                        <p:tav tm="100000">
                                          <p:val>
                                            <p:strVal val="#ppt_h"/>
                                          </p:val>
                                        </p:tav>
                                      </p:tavLst>
                                    </p:anim>
                                    <p:animEffect transition="in" filter="fade">
                                      <p:cBhvr>
                                        <p:cTn id="62" dur="500"/>
                                        <p:tgtEl>
                                          <p:spTgt spid="25"/>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par>
                                <p:cTn id="68" presetID="10" presetClass="entr" presetSubtype="0" fill="hold"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CONTEXTE ET PROBLÉMATIQUE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Des systèmes complets… mais qui ne se parlent pas</a:t>
            </a:r>
          </a:p>
        </p:txBody>
      </p:sp>
      <p:sp>
        <p:nvSpPr>
          <p:cNvPr id="10" name="Rounded Rectangle 9"/>
          <p:cNvSpPr/>
          <p:nvPr/>
        </p:nvSpPr>
        <p:spPr>
          <a:xfrm>
            <a:off x="548640"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822959"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08760"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Dispersion</a:t>
            </a:r>
          </a:p>
        </p:txBody>
      </p:sp>
      <p:sp>
        <p:nvSpPr>
          <p:cNvPr id="13" name="TextBox 12"/>
          <p:cNvSpPr txBox="1"/>
          <p:nvPr/>
        </p:nvSpPr>
        <p:spPr>
          <a:xfrm>
            <a:off x="822959"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Les données d'un patient sont réparties entre plusieurs bases, sans vue globale.</a:t>
            </a:r>
          </a:p>
        </p:txBody>
      </p:sp>
      <p:sp>
        <p:nvSpPr>
          <p:cNvPr id="14" name="Rounded Rectangle 13"/>
          <p:cNvSpPr/>
          <p:nvPr/>
        </p:nvSpPr>
        <p:spPr>
          <a:xfrm>
            <a:off x="4353458"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627778"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13578"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Hétérogénéité</a:t>
            </a:r>
          </a:p>
        </p:txBody>
      </p:sp>
      <p:sp>
        <p:nvSpPr>
          <p:cNvPr id="17" name="TextBox 16"/>
          <p:cNvSpPr txBox="1"/>
          <p:nvPr/>
        </p:nvSpPr>
        <p:spPr>
          <a:xfrm>
            <a:off x="4627778"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Identifiants, libellés et formats diffèrent : le genre s'écrit </a:t>
            </a:r>
            <a:r>
              <a:rPr sz="1400" b="0" i="0">
                <a:solidFill>
                  <a:srgbClr val="1D2433"/>
                </a:solidFill>
                <a:latin typeface="Consolas"/>
              </a:rPr>
              <a:t>H/F</a:t>
            </a:r>
            <a:r>
              <a:rPr sz="1500" b="0" i="0">
                <a:solidFill>
                  <a:srgbClr val="1D2433"/>
                </a:solidFill>
                <a:latin typeface="Calibri"/>
              </a:rPr>
              <a:t>, </a:t>
            </a:r>
            <a:r>
              <a:rPr sz="1400" b="0" i="0">
                <a:solidFill>
                  <a:srgbClr val="1D2433"/>
                </a:solidFill>
                <a:latin typeface="Consolas"/>
              </a:rPr>
              <a:t>male/female</a:t>
            </a:r>
            <a:r>
              <a:rPr sz="1500" b="0" i="0">
                <a:solidFill>
                  <a:srgbClr val="1D2433"/>
                </a:solidFill>
                <a:latin typeface="Calibri"/>
              </a:rPr>
              <a:t> ou </a:t>
            </a:r>
            <a:r>
              <a:rPr sz="1400" b="0" i="0">
                <a:solidFill>
                  <a:srgbClr val="1D2433"/>
                </a:solidFill>
                <a:latin typeface="Consolas"/>
              </a:rPr>
              <a:t>Homme/femme</a:t>
            </a:r>
            <a:r>
              <a:rPr sz="1500" b="0" i="0">
                <a:solidFill>
                  <a:srgbClr val="1D2433"/>
                </a:solidFill>
                <a:latin typeface="Calibri"/>
              </a:rPr>
              <a:t>.</a:t>
            </a:r>
          </a:p>
        </p:txBody>
      </p:sp>
      <p:sp>
        <p:nvSpPr>
          <p:cNvPr id="18" name="Rounded Rectangle 17"/>
          <p:cNvSpPr/>
          <p:nvPr/>
        </p:nvSpPr>
        <p:spPr>
          <a:xfrm>
            <a:off x="8158276" y="1600200"/>
            <a:ext cx="3484778" cy="23317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432596" y="1828800"/>
            <a:ext cx="548640" cy="5486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18396" y="1874519"/>
            <a:ext cx="2387498" cy="457200"/>
          </a:xfrm>
          <a:prstGeom prst="rect">
            <a:avLst/>
          </a:prstGeom>
          <a:noFill/>
        </p:spPr>
        <p:txBody>
          <a:bodyPr wrap="square" lIns="18288" tIns="18288" rIns="18288" bIns="18288" anchor="t">
            <a:spAutoFit/>
          </a:bodyPr>
          <a:lstStyle/>
          <a:p>
            <a:pPr algn="l"/>
            <a:r>
              <a:rPr sz="2000" b="1" i="0">
                <a:solidFill>
                  <a:srgbClr val="1F3864"/>
                </a:solidFill>
                <a:latin typeface="Calibri"/>
              </a:rPr>
              <a:t>Absence de gouvernance</a:t>
            </a:r>
          </a:p>
        </p:txBody>
      </p:sp>
      <p:sp>
        <p:nvSpPr>
          <p:cNvPr id="21" name="TextBox 20"/>
          <p:cNvSpPr txBox="1"/>
          <p:nvPr/>
        </p:nvSpPr>
        <p:spPr>
          <a:xfrm>
            <a:off x="8432596" y="2560320"/>
            <a:ext cx="2981858" cy="1280160"/>
          </a:xfrm>
          <a:prstGeom prst="rect">
            <a:avLst/>
          </a:prstGeom>
          <a:noFill/>
        </p:spPr>
        <p:txBody>
          <a:bodyPr wrap="square" lIns="18288" tIns="18288" rIns="18288" bIns="18288" anchor="t">
            <a:spAutoFit/>
          </a:bodyPr>
          <a:lstStyle/>
          <a:p>
            <a:pPr algn="l"/>
            <a:r>
              <a:rPr sz="1500" b="0" i="0">
                <a:solidFill>
                  <a:srgbClr val="1D2433"/>
                </a:solidFill>
                <a:latin typeface="Calibri"/>
              </a:rPr>
              <a:t>Aucun contrôle de qui accède à quelle donnée, ni pour quelle finalité.</a:t>
            </a:r>
          </a:p>
        </p:txBody>
      </p:sp>
      <p:sp>
        <p:nvSpPr>
          <p:cNvPr id="22" name="Rounded Rectangle 21"/>
          <p:cNvSpPr/>
          <p:nvPr/>
        </p:nvSpPr>
        <p:spPr>
          <a:xfrm>
            <a:off x="548640" y="425196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914400" y="4389120"/>
            <a:ext cx="2743200" cy="320040"/>
          </a:xfrm>
          <a:prstGeom prst="rect">
            <a:avLst/>
          </a:prstGeom>
          <a:noFill/>
        </p:spPr>
        <p:txBody>
          <a:bodyPr wrap="square" lIns="18288" tIns="18288" rIns="18288" bIns="18288" anchor="t">
            <a:spAutoFit/>
          </a:bodyPr>
          <a:lstStyle/>
          <a:p>
            <a:pPr algn="l"/>
            <a:r>
              <a:rPr sz="1300" b="1" i="0">
                <a:solidFill>
                  <a:srgbClr val="8EAADB"/>
                </a:solidFill>
                <a:latin typeface="Calibri"/>
              </a:rPr>
              <a:t>PROBLÉMATIQUE</a:t>
            </a:r>
          </a:p>
        </p:txBody>
      </p:sp>
      <p:sp>
        <p:nvSpPr>
          <p:cNvPr id="24" name="TextBox 23"/>
          <p:cNvSpPr txBox="1"/>
          <p:nvPr/>
        </p:nvSpPr>
        <p:spPr>
          <a:xfrm>
            <a:off x="914400" y="4727448"/>
            <a:ext cx="10362895" cy="1234440"/>
          </a:xfrm>
          <a:prstGeom prst="rect">
            <a:avLst/>
          </a:prstGeom>
          <a:noFill/>
        </p:spPr>
        <p:txBody>
          <a:bodyPr wrap="square" lIns="18288" tIns="18288" rIns="18288" bIns="18288" anchor="t">
            <a:spAutoFit/>
          </a:bodyPr>
          <a:lstStyle/>
          <a:p>
            <a:pPr algn="l"/>
            <a:r>
              <a:rPr sz="1900" b="0" i="0">
                <a:solidFill>
                  <a:srgbClr val="FFFFFF"/>
                </a:solidFill>
                <a:latin typeface="Calibri"/>
              </a:rPr>
              <a:t>Comment concevoir une plateforme capable d'</a:t>
            </a:r>
            <a:r>
              <a:rPr sz="1900" b="1" i="0">
                <a:solidFill>
                  <a:srgbClr val="FFFFFF"/>
                </a:solidFill>
                <a:latin typeface="Calibri"/>
              </a:rPr>
              <a:t>intégrer, nettoyer, dédupliquer et centraliser</a:t>
            </a:r>
            <a:r>
              <a:rPr sz="1900" b="0" i="0">
                <a:solidFill>
                  <a:srgbClr val="FFFFFF"/>
                </a:solidFill>
                <a:latin typeface="Calibri"/>
              </a:rPr>
              <a:t> des données patients hétérogènes, tout en assurant la </a:t>
            </a:r>
            <a:r>
              <a:rPr sz="1900" b="1" i="0">
                <a:solidFill>
                  <a:srgbClr val="FFFFFF"/>
                </a:solidFill>
                <a:latin typeface="Calibri"/>
              </a:rPr>
              <a:t>traçabilité des identités</a:t>
            </a:r>
            <a:r>
              <a:rPr sz="1900" b="0" i="0">
                <a:solidFill>
                  <a:srgbClr val="FFFFFF"/>
                </a:solidFill>
                <a:latin typeface="Calibri"/>
              </a:rPr>
              <a:t> et la </a:t>
            </a:r>
            <a:r>
              <a:rPr sz="1900" b="1" i="0">
                <a:solidFill>
                  <a:srgbClr val="FFFFFF"/>
                </a:solidFill>
                <a:latin typeface="Calibri"/>
              </a:rPr>
              <a:t>gouvernance des accès</a:t>
            </a:r>
            <a:r>
              <a:rPr sz="1900" b="0" i="0">
                <a:solidFill>
                  <a:srgbClr val="FFFFFF"/>
                </a:solidFill>
                <a:latin typeface="Calibri"/>
              </a:rPr>
              <a:t> basée sur le consentement du patient ?</a:t>
            </a:r>
          </a:p>
        </p:txBody>
      </p:sp>
    </p:spTree>
    <p:extLst>
      <p:ext uri="{BB962C8B-B14F-4D97-AF65-F5344CB8AC3E}">
        <p14:creationId xmlns:p14="http://schemas.microsoft.com/office/powerpoint/2010/main" val="237308291"/>
      </p:ext>
    </p:extLst>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OBJECTIFS DU PROJET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Six objectifs, deux contraintes non négociables</a:t>
            </a:r>
          </a:p>
        </p:txBody>
      </p:sp>
      <p:sp>
        <p:nvSpPr>
          <p:cNvPr id="10" name="Rounded Rectangle 9"/>
          <p:cNvSpPr/>
          <p:nvPr/>
        </p:nvSpPr>
        <p:spPr>
          <a:xfrm>
            <a:off x="548640"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1</a:t>
            </a:r>
          </a:p>
        </p:txBody>
      </p:sp>
      <p:sp>
        <p:nvSpPr>
          <p:cNvPr id="12" name="TextBox 11"/>
          <p:cNvSpPr txBox="1"/>
          <p:nvPr/>
        </p:nvSpPr>
        <p:spPr>
          <a:xfrm>
            <a:off x="1554480"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Centraliser</a:t>
            </a:r>
          </a:p>
        </p:txBody>
      </p:sp>
      <p:sp>
        <p:nvSpPr>
          <p:cNvPr id="13" name="TextBox 12"/>
          <p:cNvSpPr txBox="1"/>
          <p:nvPr/>
        </p:nvSpPr>
        <p:spPr>
          <a:xfrm>
            <a:off x="1554480"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lac de données Medallion RAW → SILVER → GOLD</a:t>
            </a:r>
          </a:p>
        </p:txBody>
      </p:sp>
      <p:sp>
        <p:nvSpPr>
          <p:cNvPr id="14" name="Rounded Rectangle 13"/>
          <p:cNvSpPr/>
          <p:nvPr/>
        </p:nvSpPr>
        <p:spPr>
          <a:xfrm>
            <a:off x="4338218"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4566818"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2</a:t>
            </a:r>
          </a:p>
        </p:txBody>
      </p:sp>
      <p:sp>
        <p:nvSpPr>
          <p:cNvPr id="16" name="TextBox 15"/>
          <p:cNvSpPr txBox="1"/>
          <p:nvPr/>
        </p:nvSpPr>
        <p:spPr>
          <a:xfrm>
            <a:off x="5344058"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Nettoyer</a:t>
            </a:r>
          </a:p>
        </p:txBody>
      </p:sp>
      <p:sp>
        <p:nvSpPr>
          <p:cNvPr id="17" name="TextBox 16"/>
          <p:cNvSpPr txBox="1"/>
          <p:nvPr/>
        </p:nvSpPr>
        <p:spPr>
          <a:xfrm>
            <a:off x="5344058"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modèle canonique et schéma pivot FHIR</a:t>
            </a:r>
          </a:p>
        </p:txBody>
      </p:sp>
      <p:sp>
        <p:nvSpPr>
          <p:cNvPr id="18" name="Rounded Rectangle 17"/>
          <p:cNvSpPr/>
          <p:nvPr/>
        </p:nvSpPr>
        <p:spPr>
          <a:xfrm>
            <a:off x="8127796" y="155448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8356396" y="1874519"/>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3</a:t>
            </a:r>
          </a:p>
        </p:txBody>
      </p:sp>
      <p:sp>
        <p:nvSpPr>
          <p:cNvPr id="20" name="TextBox 19"/>
          <p:cNvSpPr txBox="1"/>
          <p:nvPr/>
        </p:nvSpPr>
        <p:spPr>
          <a:xfrm>
            <a:off x="9133636" y="173736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Dédupliquer</a:t>
            </a:r>
          </a:p>
        </p:txBody>
      </p:sp>
      <p:sp>
        <p:nvSpPr>
          <p:cNvPr id="21" name="TextBox 20"/>
          <p:cNvSpPr txBox="1"/>
          <p:nvPr/>
        </p:nvSpPr>
        <p:spPr>
          <a:xfrm>
            <a:off x="9133636" y="2157984"/>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patient maître, score, méthode et explication</a:t>
            </a:r>
          </a:p>
        </p:txBody>
      </p:sp>
      <p:sp>
        <p:nvSpPr>
          <p:cNvPr id="22" name="Rounded Rectangle 21"/>
          <p:cNvSpPr/>
          <p:nvPr/>
        </p:nvSpPr>
        <p:spPr>
          <a:xfrm>
            <a:off x="548640"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77240"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4</a:t>
            </a:r>
          </a:p>
        </p:txBody>
      </p:sp>
      <p:sp>
        <p:nvSpPr>
          <p:cNvPr id="24" name="TextBox 23"/>
          <p:cNvSpPr txBox="1"/>
          <p:nvPr/>
        </p:nvSpPr>
        <p:spPr>
          <a:xfrm>
            <a:off x="1554480"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Gouverner</a:t>
            </a:r>
          </a:p>
        </p:txBody>
      </p:sp>
      <p:sp>
        <p:nvSpPr>
          <p:cNvPr id="25" name="TextBox 24"/>
          <p:cNvSpPr txBox="1"/>
          <p:nvPr/>
        </p:nvSpPr>
        <p:spPr>
          <a:xfrm>
            <a:off x="1554480"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rôles, consentement par finalité, audit</a:t>
            </a:r>
          </a:p>
        </p:txBody>
      </p:sp>
      <p:sp>
        <p:nvSpPr>
          <p:cNvPr id="26" name="Rounded Rectangle 25"/>
          <p:cNvSpPr/>
          <p:nvPr/>
        </p:nvSpPr>
        <p:spPr>
          <a:xfrm>
            <a:off x="4338218"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4566818"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5</a:t>
            </a:r>
          </a:p>
        </p:txBody>
      </p:sp>
      <p:sp>
        <p:nvSpPr>
          <p:cNvPr id="28" name="TextBox 27"/>
          <p:cNvSpPr txBox="1"/>
          <p:nvPr/>
        </p:nvSpPr>
        <p:spPr>
          <a:xfrm>
            <a:off x="5344058"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Visualiser</a:t>
            </a:r>
          </a:p>
        </p:txBody>
      </p:sp>
      <p:sp>
        <p:nvSpPr>
          <p:cNvPr id="29" name="TextBox 28"/>
          <p:cNvSpPr txBox="1"/>
          <p:nvPr/>
        </p:nvSpPr>
        <p:spPr>
          <a:xfrm>
            <a:off x="5344058"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vues de déduplication et de consentement</a:t>
            </a:r>
          </a:p>
        </p:txBody>
      </p:sp>
      <p:sp>
        <p:nvSpPr>
          <p:cNvPr id="30" name="Rounded Rectangle 29"/>
          <p:cNvSpPr/>
          <p:nvPr/>
        </p:nvSpPr>
        <p:spPr>
          <a:xfrm>
            <a:off x="8127796" y="3108960"/>
            <a:ext cx="3515258"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1" name="Oval 30"/>
          <p:cNvSpPr/>
          <p:nvPr/>
        </p:nvSpPr>
        <p:spPr>
          <a:xfrm>
            <a:off x="8356396" y="3429000"/>
            <a:ext cx="594360" cy="59436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Calibri"/>
              </a:rPr>
              <a:t>6</a:t>
            </a:r>
          </a:p>
        </p:txBody>
      </p:sp>
      <p:sp>
        <p:nvSpPr>
          <p:cNvPr id="32" name="TextBox 31"/>
          <p:cNvSpPr txBox="1"/>
          <p:nvPr/>
        </p:nvSpPr>
        <p:spPr>
          <a:xfrm>
            <a:off x="9133636" y="3291840"/>
            <a:ext cx="2372258" cy="411480"/>
          </a:xfrm>
          <a:prstGeom prst="rect">
            <a:avLst/>
          </a:prstGeom>
          <a:noFill/>
        </p:spPr>
        <p:txBody>
          <a:bodyPr wrap="square" lIns="18288" tIns="18288" rIns="18288" bIns="18288" anchor="t">
            <a:spAutoFit/>
          </a:bodyPr>
          <a:lstStyle/>
          <a:p>
            <a:pPr algn="l"/>
            <a:r>
              <a:rPr sz="2000" b="1" i="0">
                <a:solidFill>
                  <a:srgbClr val="1F3864"/>
                </a:solidFill>
                <a:latin typeface="Calibri"/>
              </a:rPr>
              <a:t>Évaluer</a:t>
            </a:r>
          </a:p>
        </p:txBody>
      </p:sp>
      <p:sp>
        <p:nvSpPr>
          <p:cNvPr id="33" name="TextBox 32"/>
          <p:cNvSpPr txBox="1"/>
          <p:nvPr/>
        </p:nvSpPr>
        <p:spPr>
          <a:xfrm>
            <a:off x="9133636" y="3712463"/>
            <a:ext cx="2372258" cy="685800"/>
          </a:xfrm>
          <a:prstGeom prst="rect">
            <a:avLst/>
          </a:prstGeom>
          <a:noFill/>
        </p:spPr>
        <p:txBody>
          <a:bodyPr wrap="square" lIns="18288" tIns="18288" rIns="18288" bIns="18288" anchor="t">
            <a:spAutoFit/>
          </a:bodyPr>
          <a:lstStyle/>
          <a:p>
            <a:pPr algn="l"/>
            <a:r>
              <a:rPr sz="1400" b="0" i="0">
                <a:solidFill>
                  <a:srgbClr val="1D2433"/>
                </a:solidFill>
                <a:latin typeface="Calibri"/>
              </a:rPr>
              <a:t>précision, rappel, F1 sur vérité terrain</a:t>
            </a:r>
          </a:p>
        </p:txBody>
      </p:sp>
      <p:sp>
        <p:nvSpPr>
          <p:cNvPr id="34" name="Rounded Rectangle 33"/>
          <p:cNvSpPr/>
          <p:nvPr/>
        </p:nvSpPr>
        <p:spPr>
          <a:xfrm>
            <a:off x="548640"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Hébergement interne</a:t>
            </a:r>
            <a:r>
              <a:rPr sz="1600" b="0" i="0">
                <a:solidFill>
                  <a:srgbClr val="1D2433"/>
                </a:solidFill>
                <a:latin typeface="Calibri"/>
              </a:rPr>
              <a:t> : aucune donnée ne quitte l'établissement</a:t>
            </a:r>
          </a:p>
        </p:txBody>
      </p:sp>
      <p:sp>
        <p:nvSpPr>
          <p:cNvPr id="35" name="Rounded Rectangle 34"/>
          <p:cNvSpPr/>
          <p:nvPr/>
        </p:nvSpPr>
        <p:spPr>
          <a:xfrm>
            <a:off x="6233007" y="4800600"/>
            <a:ext cx="5410047" cy="86868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1D2433"/>
                </a:solidFill>
                <a:latin typeface="Calibri"/>
              </a:rPr>
              <a:t>Données exclusivement synthétiques</a:t>
            </a:r>
            <a:r>
              <a:rPr sz="1600" b="0" i="0">
                <a:solidFill>
                  <a:srgbClr val="1D2433"/>
                </a:solidFill>
                <a:latin typeface="Calibri"/>
              </a:rPr>
              <a:t> : aucune donnée réelle de patient</a:t>
            </a:r>
          </a:p>
        </p:txBody>
      </p:sp>
    </p:spTree>
    <p:extLst>
      <p:ext uri="{BB962C8B-B14F-4D97-AF65-F5344CB8AC3E}">
        <p14:creationId xmlns:p14="http://schemas.microsoft.com/office/powerpoint/2010/main" val="2427286589"/>
      </p:ext>
    </p:extLst>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PLAN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Déroulé de la présentation</a:t>
            </a:r>
          </a:p>
        </p:txBody>
      </p:sp>
      <p:sp>
        <p:nvSpPr>
          <p:cNvPr id="10" name="Rounded Rectangle 9"/>
          <p:cNvSpPr/>
          <p:nvPr/>
        </p:nvSpPr>
        <p:spPr>
          <a:xfrm>
            <a:off x="548640"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132301"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1</a:t>
            </a:r>
          </a:p>
        </p:txBody>
      </p:sp>
      <p:sp>
        <p:nvSpPr>
          <p:cNvPr id="12" name="TextBox 11"/>
          <p:cNvSpPr txBox="1"/>
          <p:nvPr/>
        </p:nvSpPr>
        <p:spPr>
          <a:xfrm>
            <a:off x="731520"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État de l'art</a:t>
            </a:r>
          </a:p>
        </p:txBody>
      </p:sp>
      <p:sp>
        <p:nvSpPr>
          <p:cNvPr id="13" name="TextBox 12"/>
          <p:cNvSpPr txBox="1"/>
          <p:nvPr/>
        </p:nvSpPr>
        <p:spPr>
          <a:xfrm>
            <a:off x="731520"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notions clés, solutions du marché</a:t>
            </a:r>
          </a:p>
        </p:txBody>
      </p:sp>
      <p:sp>
        <p:nvSpPr>
          <p:cNvPr id="14" name="Rounded Rectangle 13"/>
          <p:cNvSpPr/>
          <p:nvPr/>
        </p:nvSpPr>
        <p:spPr>
          <a:xfrm>
            <a:off x="2813243"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Oval 14"/>
          <p:cNvSpPr/>
          <p:nvPr/>
        </p:nvSpPr>
        <p:spPr>
          <a:xfrm>
            <a:off x="3396904"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2</a:t>
            </a:r>
          </a:p>
        </p:txBody>
      </p:sp>
      <p:sp>
        <p:nvSpPr>
          <p:cNvPr id="16" name="TextBox 15"/>
          <p:cNvSpPr txBox="1"/>
          <p:nvPr/>
        </p:nvSpPr>
        <p:spPr>
          <a:xfrm>
            <a:off x="2996123"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Étude de l'existant</a:t>
            </a:r>
          </a:p>
        </p:txBody>
      </p:sp>
      <p:sp>
        <p:nvSpPr>
          <p:cNvPr id="17" name="TextBox 16"/>
          <p:cNvSpPr txBox="1"/>
          <p:nvPr/>
        </p:nvSpPr>
        <p:spPr>
          <a:xfrm>
            <a:off x="2996123"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trois systèmes, leurs limites</a:t>
            </a:r>
          </a:p>
        </p:txBody>
      </p:sp>
      <p:sp>
        <p:nvSpPr>
          <p:cNvPr id="18" name="Rounded Rectangle 17"/>
          <p:cNvSpPr/>
          <p:nvPr/>
        </p:nvSpPr>
        <p:spPr>
          <a:xfrm>
            <a:off x="5077846"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9" name="Oval 18"/>
          <p:cNvSpPr/>
          <p:nvPr/>
        </p:nvSpPr>
        <p:spPr>
          <a:xfrm>
            <a:off x="5661507"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3</a:t>
            </a:r>
          </a:p>
        </p:txBody>
      </p:sp>
      <p:sp>
        <p:nvSpPr>
          <p:cNvPr id="20" name="TextBox 19"/>
          <p:cNvSpPr txBox="1"/>
          <p:nvPr/>
        </p:nvSpPr>
        <p:spPr>
          <a:xfrm>
            <a:off x="5260726"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Solution proposée</a:t>
            </a:r>
          </a:p>
        </p:txBody>
      </p:sp>
      <p:sp>
        <p:nvSpPr>
          <p:cNvPr id="21" name="TextBox 20"/>
          <p:cNvSpPr txBox="1"/>
          <p:nvPr/>
        </p:nvSpPr>
        <p:spPr>
          <a:xfrm>
            <a:off x="5260726"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démarche en trois niveaux, architecture</a:t>
            </a:r>
          </a:p>
        </p:txBody>
      </p:sp>
      <p:sp>
        <p:nvSpPr>
          <p:cNvPr id="22" name="Rounded Rectangle 21"/>
          <p:cNvSpPr/>
          <p:nvPr/>
        </p:nvSpPr>
        <p:spPr>
          <a:xfrm>
            <a:off x="7342449"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926110"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4</a:t>
            </a:r>
          </a:p>
        </p:txBody>
      </p:sp>
      <p:sp>
        <p:nvSpPr>
          <p:cNvPr id="24" name="TextBox 23"/>
          <p:cNvSpPr txBox="1"/>
          <p:nvPr/>
        </p:nvSpPr>
        <p:spPr>
          <a:xfrm>
            <a:off x="7525329"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Fonctionnalités et résultats</a:t>
            </a:r>
          </a:p>
        </p:txBody>
      </p:sp>
      <p:sp>
        <p:nvSpPr>
          <p:cNvPr id="25" name="TextBox 24"/>
          <p:cNvSpPr txBox="1"/>
          <p:nvPr/>
        </p:nvSpPr>
        <p:spPr>
          <a:xfrm>
            <a:off x="7525329"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déduplication, gouvernance, évaluation</a:t>
            </a:r>
          </a:p>
        </p:txBody>
      </p:sp>
      <p:sp>
        <p:nvSpPr>
          <p:cNvPr id="26" name="Rounded Rectangle 25"/>
          <p:cNvSpPr/>
          <p:nvPr/>
        </p:nvSpPr>
        <p:spPr>
          <a:xfrm>
            <a:off x="9607052" y="2240280"/>
            <a:ext cx="2036003" cy="28346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7" name="Oval 26"/>
          <p:cNvSpPr/>
          <p:nvPr/>
        </p:nvSpPr>
        <p:spPr>
          <a:xfrm>
            <a:off x="10190713" y="1783080"/>
            <a:ext cx="868680" cy="86868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i="0">
                <a:solidFill>
                  <a:srgbClr val="FFFFFF"/>
                </a:solidFill>
                <a:latin typeface="Calibri"/>
              </a:rPr>
              <a:t>5</a:t>
            </a:r>
          </a:p>
        </p:txBody>
      </p:sp>
      <p:sp>
        <p:nvSpPr>
          <p:cNvPr id="28" name="TextBox 27"/>
          <p:cNvSpPr txBox="1"/>
          <p:nvPr/>
        </p:nvSpPr>
        <p:spPr>
          <a:xfrm>
            <a:off x="9789932" y="2926080"/>
            <a:ext cx="1670243" cy="868680"/>
          </a:xfrm>
          <a:prstGeom prst="rect">
            <a:avLst/>
          </a:prstGeom>
          <a:noFill/>
        </p:spPr>
        <p:txBody>
          <a:bodyPr wrap="square" lIns="18288" tIns="18288" rIns="18288" bIns="18288" anchor="t">
            <a:spAutoFit/>
          </a:bodyPr>
          <a:lstStyle/>
          <a:p>
            <a:pPr algn="ctr"/>
            <a:r>
              <a:rPr sz="1900" b="1" i="0">
                <a:solidFill>
                  <a:srgbClr val="1F3864"/>
                </a:solidFill>
                <a:latin typeface="Calibri"/>
              </a:rPr>
              <a:t>Démonstration et perspectives</a:t>
            </a:r>
          </a:p>
        </p:txBody>
      </p:sp>
      <p:sp>
        <p:nvSpPr>
          <p:cNvPr id="29" name="TextBox 28"/>
          <p:cNvSpPr txBox="1"/>
          <p:nvPr/>
        </p:nvSpPr>
        <p:spPr>
          <a:xfrm>
            <a:off x="9789932" y="3840480"/>
            <a:ext cx="1670243" cy="1097280"/>
          </a:xfrm>
          <a:prstGeom prst="rect">
            <a:avLst/>
          </a:prstGeom>
          <a:noFill/>
        </p:spPr>
        <p:txBody>
          <a:bodyPr wrap="square" lIns="18288" tIns="18288" rIns="18288" bIns="18288" anchor="t">
            <a:spAutoFit/>
          </a:bodyPr>
          <a:lstStyle/>
          <a:p>
            <a:pPr algn="ctr"/>
            <a:r>
              <a:rPr sz="1400" b="0" i="0">
                <a:solidFill>
                  <a:srgbClr val="5B6475"/>
                </a:solidFill>
                <a:latin typeface="Calibri"/>
              </a:rPr>
              <a:t>démo, limites, suite du projet</a:t>
            </a:r>
          </a:p>
        </p:txBody>
      </p:sp>
    </p:spTree>
    <p:extLst>
      <p:ext uri="{BB962C8B-B14F-4D97-AF65-F5344CB8AC3E}">
        <p14:creationId xmlns:p14="http://schemas.microsoft.com/office/powerpoint/2010/main" val="1251110875"/>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Quatre notions structurent la solution</a:t>
            </a:r>
          </a:p>
        </p:txBody>
      </p:sp>
      <p:pic>
        <p:nvPicPr>
          <p:cNvPr id="10" name="Picture 9" descr="notions_cles.png"/>
          <p:cNvPicPr>
            <a:picLocks noChangeAspect="1"/>
          </p:cNvPicPr>
          <p:nvPr/>
        </p:nvPicPr>
        <p:blipFill>
          <a:blip r:embed="rId7"/>
          <a:stretch>
            <a:fillRect/>
          </a:stretch>
        </p:blipFill>
        <p:spPr>
          <a:xfrm>
            <a:off x="2965021" y="1417320"/>
            <a:ext cx="6261652" cy="4800600"/>
          </a:xfrm>
          <a:prstGeom prst="rect">
            <a:avLst/>
          </a:prstGeom>
        </p:spPr>
      </p:pic>
    </p:spTree>
    <p:extLst>
      <p:ext uri="{BB962C8B-B14F-4D97-AF65-F5344CB8AC3E}">
        <p14:creationId xmlns:p14="http://schemas.microsoft.com/office/powerpoint/2010/main" val="89978414"/>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ÉTAT DE L'ART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Aucune solution du marché ne coche les six critères</a:t>
            </a:r>
          </a:p>
        </p:txBody>
      </p:sp>
      <p:graphicFrame>
        <p:nvGraphicFramePr>
          <p:cNvPr id="10" name="Table 9"/>
          <p:cNvGraphicFramePr>
            <a:graphicFrameLocks noGrp="1"/>
          </p:cNvGraphicFramePr>
          <p:nvPr/>
        </p:nvGraphicFramePr>
        <p:xfrm>
          <a:off x="548640" y="1508760"/>
          <a:ext cx="11094410" cy="356616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1101590">
                  <a:extLst>
                    <a:ext uri="{9D8B030D-6E8A-4147-A177-3AD203B41FA5}">
                      <a16:colId xmlns:a16="http://schemas.microsoft.com/office/drawing/2014/main" val="20001"/>
                    </a:ext>
                  </a:extLst>
                </a:gridCol>
                <a:gridCol w="1101590">
                  <a:extLst>
                    <a:ext uri="{9D8B030D-6E8A-4147-A177-3AD203B41FA5}">
                      <a16:colId xmlns:a16="http://schemas.microsoft.com/office/drawing/2014/main" val="20002"/>
                    </a:ext>
                  </a:extLst>
                </a:gridCol>
                <a:gridCol w="1101590">
                  <a:extLst>
                    <a:ext uri="{9D8B030D-6E8A-4147-A177-3AD203B41FA5}">
                      <a16:colId xmlns:a16="http://schemas.microsoft.com/office/drawing/2014/main" val="20003"/>
                    </a:ext>
                  </a:extLst>
                </a:gridCol>
                <a:gridCol w="1101590">
                  <a:extLst>
                    <a:ext uri="{9D8B030D-6E8A-4147-A177-3AD203B41FA5}">
                      <a16:colId xmlns:a16="http://schemas.microsoft.com/office/drawing/2014/main" val="20004"/>
                    </a:ext>
                  </a:extLst>
                </a:gridCol>
                <a:gridCol w="1101590">
                  <a:extLst>
                    <a:ext uri="{9D8B030D-6E8A-4147-A177-3AD203B41FA5}">
                      <a16:colId xmlns:a16="http://schemas.microsoft.com/office/drawing/2014/main" val="20005"/>
                    </a:ext>
                  </a:extLst>
                </a:gridCol>
                <a:gridCol w="1101590">
                  <a:extLst>
                    <a:ext uri="{9D8B030D-6E8A-4147-A177-3AD203B41FA5}">
                      <a16:colId xmlns:a16="http://schemas.microsoft.com/office/drawing/2014/main" val="20006"/>
                    </a:ext>
                  </a:extLst>
                </a:gridCol>
                <a:gridCol w="1101590">
                  <a:extLst>
                    <a:ext uri="{9D8B030D-6E8A-4147-A177-3AD203B41FA5}">
                      <a16:colId xmlns:a16="http://schemas.microsoft.com/office/drawing/2014/main" val="20007"/>
                    </a:ext>
                  </a:extLst>
                </a:gridCol>
              </a:tblGrid>
              <a:tr h="509451">
                <a:tc>
                  <a:txBody>
                    <a:bodyPr/>
                    <a:lstStyle/>
                    <a:p>
                      <a:pPr algn="l"/>
                      <a:r>
                        <a:rPr sz="1500" b="1" i="0">
                          <a:solidFill>
                            <a:srgbClr val="FFFFFF"/>
                          </a:solidFill>
                          <a:latin typeface="Calibri"/>
                        </a:rPr>
                        <a:t>Critère</a:t>
                      </a:r>
                    </a:p>
                  </a:txBody>
                  <a:tcPr anchor="ctr">
                    <a:solidFill>
                      <a:srgbClr val="1F3864"/>
                    </a:solidFill>
                  </a:tcPr>
                </a:tc>
                <a:tc>
                  <a:txBody>
                    <a:bodyPr/>
                    <a:lstStyle/>
                    <a:p>
                      <a:pPr algn="ctr"/>
                      <a:r>
                        <a:rPr sz="1500" b="1" i="0">
                          <a:solidFill>
                            <a:srgbClr val="FFFFFF"/>
                          </a:solidFill>
                          <a:latin typeface="Calibri"/>
                        </a:rPr>
                        <a:t>EMPI</a:t>
                      </a:r>
                    </a:p>
                  </a:txBody>
                  <a:tcPr anchor="ctr">
                    <a:solidFill>
                      <a:srgbClr val="1F3864"/>
                    </a:solidFill>
                  </a:tcPr>
                </a:tc>
                <a:tc>
                  <a:txBody>
                    <a:bodyPr/>
                    <a:lstStyle/>
                    <a:p>
                      <a:pPr algn="ctr"/>
                      <a:r>
                        <a:rPr sz="1500" b="1" i="0">
                          <a:solidFill>
                            <a:srgbClr val="FFFFFF"/>
                          </a:solidFill>
                          <a:latin typeface="Calibri"/>
                        </a:rPr>
                        <a:t>Talend</a:t>
                      </a:r>
                    </a:p>
                  </a:txBody>
                  <a:tcPr anchor="ctr">
                    <a:solidFill>
                      <a:srgbClr val="1F3864"/>
                    </a:solidFill>
                  </a:tcPr>
                </a:tc>
                <a:tc>
                  <a:txBody>
                    <a:bodyPr/>
                    <a:lstStyle/>
                    <a:p>
                      <a:pPr algn="ctr"/>
                      <a:r>
                        <a:rPr sz="1500" b="1" i="0">
                          <a:solidFill>
                            <a:srgbClr val="FFFFFF"/>
                          </a:solidFill>
                          <a:latin typeface="Calibri"/>
                        </a:rPr>
                        <a:t>Azure</a:t>
                      </a:r>
                    </a:p>
                  </a:txBody>
                  <a:tcPr anchor="ctr">
                    <a:solidFill>
                      <a:srgbClr val="1F3864"/>
                    </a:solidFill>
                  </a:tcPr>
                </a:tc>
                <a:tc>
                  <a:txBody>
                    <a:bodyPr/>
                    <a:lstStyle/>
                    <a:p>
                      <a:pPr algn="ctr"/>
                      <a:r>
                        <a:rPr sz="1500" b="1" i="0">
                          <a:solidFill>
                            <a:srgbClr val="FFFFFF"/>
                          </a:solidFill>
                          <a:latin typeface="Calibri"/>
                        </a:rPr>
                        <a:t>HAPI</a:t>
                      </a:r>
                    </a:p>
                  </a:txBody>
                  <a:tcPr anchor="ctr">
                    <a:solidFill>
                      <a:srgbClr val="1F3864"/>
                    </a:solidFill>
                  </a:tcPr>
                </a:tc>
                <a:tc>
                  <a:txBody>
                    <a:bodyPr/>
                    <a:lstStyle/>
                    <a:p>
                      <a:pPr algn="ctr"/>
                      <a:r>
                        <a:rPr sz="1500" b="1" i="0">
                          <a:solidFill>
                            <a:srgbClr val="FFFFFF"/>
                          </a:solidFill>
                          <a:latin typeface="Calibri"/>
                        </a:rPr>
                        <a:t>Splink</a:t>
                      </a:r>
                    </a:p>
                  </a:txBody>
                  <a:tcPr anchor="ctr">
                    <a:solidFill>
                      <a:srgbClr val="1F3864"/>
                    </a:solidFill>
                  </a:tcPr>
                </a:tc>
                <a:tc>
                  <a:txBody>
                    <a:bodyPr/>
                    <a:lstStyle/>
                    <a:p>
                      <a:pPr algn="ctr"/>
                      <a:r>
                        <a:rPr sz="1500" b="1" i="0">
                          <a:solidFill>
                            <a:srgbClr val="FFFFFF"/>
                          </a:solidFill>
                          <a:latin typeface="Calibri"/>
                        </a:rPr>
                        <a:t>Atlas</a:t>
                      </a:r>
                    </a:p>
                  </a:txBody>
                  <a:tcPr anchor="ctr">
                    <a:solidFill>
                      <a:srgbClr val="1F3864"/>
                    </a:solidFill>
                  </a:tcPr>
                </a:tc>
                <a:tc>
                  <a:txBody>
                    <a:bodyPr/>
                    <a:lstStyle/>
                    <a:p>
                      <a:pPr algn="ctr"/>
                      <a:r>
                        <a:rPr sz="1500" b="1" i="0">
                          <a:solidFill>
                            <a:srgbClr val="FFFFFF"/>
                          </a:solidFill>
                          <a:latin typeface="Calibri"/>
                        </a:rPr>
                        <a:t>Stage</a:t>
                      </a:r>
                    </a:p>
                  </a:txBody>
                  <a:tcPr anchor="ctr">
                    <a:solidFill>
                      <a:srgbClr val="C78400"/>
                    </a:solidFill>
                  </a:tcPr>
                </a:tc>
                <a:extLst>
                  <a:ext uri="{0D108BD9-81ED-4DB2-BD59-A6C34878D82A}">
                    <a16:rowId xmlns:a16="http://schemas.microsoft.com/office/drawing/2014/main" val="10000"/>
                  </a:ext>
                </a:extLst>
              </a:tr>
              <a:tr h="509451">
                <a:tc>
                  <a:txBody>
                    <a:bodyPr/>
                    <a:lstStyle/>
                    <a:p>
                      <a:pPr algn="l"/>
                      <a:r>
                        <a:rPr sz="1500" b="1" i="0">
                          <a:solidFill>
                            <a:srgbClr val="1D2433"/>
                          </a:solidFill>
                          <a:latin typeface="Calibri"/>
                        </a:rPr>
                        <a:t>Déduplication explicable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1"/>
                  </a:ext>
                </a:extLst>
              </a:tr>
              <a:tr h="509451">
                <a:tc>
                  <a:txBody>
                    <a:bodyPr/>
                    <a:lstStyle/>
                    <a:p>
                      <a:pPr algn="l"/>
                      <a:r>
                        <a:rPr sz="1500" b="1" i="0">
                          <a:solidFill>
                            <a:srgbClr val="1D2433"/>
                          </a:solidFill>
                          <a:latin typeface="Calibri"/>
                        </a:rPr>
                        <a:t>Interopérabilité FHIR</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2"/>
                  </a:ext>
                </a:extLst>
              </a:tr>
              <a:tr h="509451">
                <a:tc>
                  <a:txBody>
                    <a:bodyPr/>
                    <a:lstStyle/>
                    <a:p>
                      <a:pPr algn="l"/>
                      <a:r>
                        <a:rPr sz="1500" b="1" i="0">
                          <a:solidFill>
                            <a:srgbClr val="1D2433"/>
                          </a:solidFill>
                          <a:latin typeface="Calibri"/>
                        </a:rPr>
                        <a:t>Rôle, consentement, audit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C78400"/>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3"/>
                  </a:ext>
                </a:extLst>
              </a:tr>
              <a:tr h="509451">
                <a:tc>
                  <a:txBody>
                    <a:bodyPr/>
                    <a:lstStyle/>
                    <a:p>
                      <a:pPr algn="l"/>
                      <a:r>
                        <a:rPr sz="1500" b="1" i="0">
                          <a:solidFill>
                            <a:srgbClr val="1D2433"/>
                          </a:solidFill>
                          <a:latin typeface="Calibri"/>
                        </a:rPr>
                        <a:t>Montée en charge Big Data</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4"/>
                  </a:ext>
                </a:extLst>
              </a:tr>
              <a:tr h="509451">
                <a:tc>
                  <a:txBody>
                    <a:bodyPr/>
                    <a:lstStyle/>
                    <a:p>
                      <a:pPr algn="l"/>
                      <a:r>
                        <a:rPr sz="1500" b="1" i="0">
                          <a:solidFill>
                            <a:srgbClr val="1D2433"/>
                          </a:solidFill>
                          <a:latin typeface="Calibri"/>
                        </a:rPr>
                        <a:t>Hébergement interne</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B3261E"/>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1F4F9"/>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5"/>
                  </a:ext>
                </a:extLst>
              </a:tr>
              <a:tr h="509454">
                <a:tc>
                  <a:txBody>
                    <a:bodyPr/>
                    <a:lstStyle/>
                    <a:p>
                      <a:pPr algn="l"/>
                      <a:r>
                        <a:rPr sz="1500" b="1" i="0">
                          <a:solidFill>
                            <a:srgbClr val="1D2433"/>
                          </a:solidFill>
                          <a:latin typeface="Calibri"/>
                        </a:rPr>
                        <a:t>VM 8 Go et Python 3.8</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C78400"/>
                          </a:solidFill>
                          <a:latin typeface="Calibri"/>
                        </a:rPr>
                        <a:t>◐</a:t>
                      </a:r>
                    </a:p>
                  </a:txBody>
                  <a:tcPr anchor="ctr">
                    <a:solidFill>
                      <a:srgbClr val="FFFFFF"/>
                    </a:solidFill>
                  </a:tcPr>
                </a:tc>
                <a:tc>
                  <a:txBody>
                    <a:bodyPr/>
                    <a:lstStyle/>
                    <a:p>
                      <a:pPr algn="ctr"/>
                      <a:r>
                        <a:rPr sz="2000" b="1" i="0">
                          <a:solidFill>
                            <a:srgbClr val="B3261E"/>
                          </a:solidFill>
                          <a:latin typeface="Calibri"/>
                        </a:rPr>
                        <a:t>✖</a:t>
                      </a:r>
                    </a:p>
                  </a:txBody>
                  <a:tcPr anchor="ctr">
                    <a:solidFill>
                      <a:srgbClr val="FFFFFF"/>
                    </a:solidFill>
                  </a:tcPr>
                </a:tc>
                <a:tc>
                  <a:txBody>
                    <a:bodyPr/>
                    <a:lstStyle/>
                    <a:p>
                      <a:pPr algn="ctr"/>
                      <a:r>
                        <a:rPr sz="2000" b="1" i="0">
                          <a:solidFill>
                            <a:srgbClr val="2E7D4F"/>
                          </a:solidFill>
                          <a:latin typeface="Calibri"/>
                        </a:rPr>
                        <a:t>✔</a:t>
                      </a:r>
                    </a:p>
                  </a:txBody>
                  <a:tcPr anchor="ctr">
                    <a:solidFill>
                      <a:srgbClr val="FBF1DC"/>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548640" y="5257800"/>
            <a:ext cx="11094415" cy="365760"/>
          </a:xfrm>
          <a:prstGeom prst="rect">
            <a:avLst/>
          </a:prstGeom>
          <a:noFill/>
        </p:spPr>
        <p:txBody>
          <a:bodyPr wrap="square" lIns="18288" tIns="18288" rIns="18288" bIns="18288" anchor="t">
            <a:spAutoFit/>
          </a:bodyPr>
          <a:lstStyle/>
          <a:p>
            <a:pPr algn="l"/>
            <a:r>
              <a:rPr sz="1300" b="0" i="1">
                <a:solidFill>
                  <a:srgbClr val="5B6475"/>
                </a:solidFill>
                <a:latin typeface="Calibri"/>
              </a:rPr>
              <a:t>✔ capacité annoncée   ◐ partielle   ✖ absente — comparaison documentaire, aucun produit installé.</a:t>
            </a:r>
          </a:p>
        </p:txBody>
      </p:sp>
      <p:sp>
        <p:nvSpPr>
          <p:cNvPr id="12" name="Rounded Rectangle 11"/>
          <p:cNvSpPr/>
          <p:nvPr/>
        </p:nvSpPr>
        <p:spPr>
          <a:xfrm>
            <a:off x="548640" y="5669280"/>
            <a:ext cx="11094415" cy="54864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0" i="0">
                <a:solidFill>
                  <a:srgbClr val="1F3864"/>
                </a:solidFill>
                <a:latin typeface="Calibri"/>
              </a:rPr>
              <a:t>Décision : une </a:t>
            </a:r>
            <a:r>
              <a:rPr sz="1700" b="1" i="0">
                <a:solidFill>
                  <a:srgbClr val="1F3864"/>
                </a:solidFill>
                <a:latin typeface="Calibri"/>
              </a:rPr>
              <a:t>chaîne sur mesure adossée aux standards</a:t>
            </a:r>
            <a:r>
              <a:rPr sz="1700" b="0" i="0">
                <a:solidFill>
                  <a:srgbClr val="1F3864"/>
                </a:solidFill>
                <a:latin typeface="Calibri"/>
              </a:rPr>
              <a:t> (Fellegi-Sunter, FHIR, Medallion)</a:t>
            </a:r>
          </a:p>
        </p:txBody>
      </p:sp>
    </p:spTree>
    <p:extLst>
      <p:ext uri="{BB962C8B-B14F-4D97-AF65-F5344CB8AC3E}">
        <p14:creationId xmlns:p14="http://schemas.microsoft.com/office/powerpoint/2010/main" val="1906434059"/>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Trois systèmes riches, cohérents… et isolés</a:t>
            </a:r>
          </a:p>
        </p:txBody>
      </p:sp>
      <p:sp>
        <p:nvSpPr>
          <p:cNvPr id="10" name="Rounded Rectangle 9"/>
          <p:cNvSpPr/>
          <p:nvPr/>
        </p:nvSpPr>
        <p:spPr>
          <a:xfrm>
            <a:off x="548640"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MAVIS</a:t>
            </a:r>
          </a:p>
        </p:txBody>
      </p:sp>
      <p:sp>
        <p:nvSpPr>
          <p:cNvPr id="12" name="TextBox 11"/>
          <p:cNvSpPr txBox="1"/>
          <p:nvPr/>
        </p:nvSpPr>
        <p:spPr>
          <a:xfrm>
            <a:off x="822959"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Odoo + module hospitalier · PostgreSQL distant</a:t>
            </a:r>
          </a:p>
        </p:txBody>
      </p:sp>
      <p:sp>
        <p:nvSpPr>
          <p:cNvPr id="13" name="TextBox 12"/>
          <p:cNvSpPr txBox="1"/>
          <p:nvPr/>
        </p:nvSpPr>
        <p:spPr>
          <a:xfrm>
            <a:off x="822959"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73 090</a:t>
            </a:r>
          </a:p>
        </p:txBody>
      </p:sp>
      <p:sp>
        <p:nvSpPr>
          <p:cNvPr id="14" name="TextBox 13"/>
          <p:cNvSpPr txBox="1"/>
          <p:nvPr/>
        </p:nvSpPr>
        <p:spPr>
          <a:xfrm>
            <a:off x="822959"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en réplique locale</a:t>
            </a:r>
          </a:p>
        </p:txBody>
      </p:sp>
      <p:sp>
        <p:nvSpPr>
          <p:cNvPr id="15" name="TextBox 14"/>
          <p:cNvSpPr txBox="1"/>
          <p:nvPr/>
        </p:nvSpPr>
        <p:spPr>
          <a:xfrm>
            <a:off x="822959"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1 260</a:t>
            </a:r>
          </a:p>
        </p:txBody>
      </p:sp>
      <p:sp>
        <p:nvSpPr>
          <p:cNvPr id="16" name="TextBox 15"/>
          <p:cNvSpPr txBox="1"/>
          <p:nvPr/>
        </p:nvSpPr>
        <p:spPr>
          <a:xfrm>
            <a:off x="822959"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tables détectées, 11 retenues</a:t>
            </a:r>
          </a:p>
        </p:txBody>
      </p:sp>
      <p:sp>
        <p:nvSpPr>
          <p:cNvPr id="17" name="Rounded Rectangle 16"/>
          <p:cNvSpPr/>
          <p:nvPr/>
        </p:nvSpPr>
        <p:spPr>
          <a:xfrm>
            <a:off x="4353458"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4627778"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MMT_DB</a:t>
            </a:r>
          </a:p>
        </p:txBody>
      </p:sp>
      <p:sp>
        <p:nvSpPr>
          <p:cNvPr id="19" name="TextBox 18"/>
          <p:cNvSpPr txBox="1"/>
          <p:nvPr/>
        </p:nvSpPr>
        <p:spPr>
          <a:xfrm>
            <a:off x="4627778"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GNU Health · PostgreSQL local</a:t>
            </a:r>
          </a:p>
        </p:txBody>
      </p:sp>
      <p:sp>
        <p:nvSpPr>
          <p:cNvPr id="20" name="TextBox 19"/>
          <p:cNvSpPr txBox="1"/>
          <p:nvPr/>
        </p:nvSpPr>
        <p:spPr>
          <a:xfrm>
            <a:off x="4627778"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60 271</a:t>
            </a:r>
          </a:p>
        </p:txBody>
      </p:sp>
      <p:sp>
        <p:nvSpPr>
          <p:cNvPr id="21" name="TextBox 20"/>
          <p:cNvSpPr txBox="1"/>
          <p:nvPr/>
        </p:nvSpPr>
        <p:spPr>
          <a:xfrm>
            <a:off x="4627778"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9 tables</a:t>
            </a:r>
          </a:p>
        </p:txBody>
      </p:sp>
      <p:sp>
        <p:nvSpPr>
          <p:cNvPr id="22" name="TextBox 21"/>
          <p:cNvSpPr txBox="1"/>
          <p:nvPr/>
        </p:nvSpPr>
        <p:spPr>
          <a:xfrm>
            <a:off x="4627778"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a:t>
            </a:r>
          </a:p>
        </p:txBody>
      </p:sp>
      <p:sp>
        <p:nvSpPr>
          <p:cNvPr id="23" name="TextBox 22"/>
          <p:cNvSpPr txBox="1"/>
          <p:nvPr/>
        </p:nvSpPr>
        <p:spPr>
          <a:xfrm>
            <a:off x="4627778"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clés étrangères découvertes</a:t>
            </a:r>
          </a:p>
        </p:txBody>
      </p:sp>
      <p:sp>
        <p:nvSpPr>
          <p:cNvPr id="24" name="Rounded Rectangle 23"/>
          <p:cNvSpPr/>
          <p:nvPr/>
        </p:nvSpPr>
        <p:spPr>
          <a:xfrm>
            <a:off x="8158276" y="1554480"/>
            <a:ext cx="3484778" cy="37033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5" name="TextBox 24"/>
          <p:cNvSpPr txBox="1"/>
          <p:nvPr/>
        </p:nvSpPr>
        <p:spPr>
          <a:xfrm>
            <a:off x="8432596" y="1691640"/>
            <a:ext cx="2936138" cy="457200"/>
          </a:xfrm>
          <a:prstGeom prst="rect">
            <a:avLst/>
          </a:prstGeom>
          <a:noFill/>
        </p:spPr>
        <p:txBody>
          <a:bodyPr wrap="square" lIns="18288" tIns="18288" rIns="18288" bIns="18288" anchor="t">
            <a:spAutoFit/>
          </a:bodyPr>
          <a:lstStyle/>
          <a:p>
            <a:pPr algn="l"/>
            <a:r>
              <a:rPr sz="2400" b="1" i="0">
                <a:solidFill>
                  <a:srgbClr val="1F3864"/>
                </a:solidFill>
                <a:latin typeface="Calibri"/>
              </a:rPr>
              <a:t>CLINIQUE</a:t>
            </a:r>
          </a:p>
        </p:txBody>
      </p:sp>
      <p:sp>
        <p:nvSpPr>
          <p:cNvPr id="26" name="TextBox 25"/>
          <p:cNvSpPr txBox="1"/>
          <p:nvPr/>
        </p:nvSpPr>
        <p:spPr>
          <a:xfrm>
            <a:off x="8432596" y="2167128"/>
            <a:ext cx="2936138" cy="457200"/>
          </a:xfrm>
          <a:prstGeom prst="rect">
            <a:avLst/>
          </a:prstGeom>
          <a:noFill/>
        </p:spPr>
        <p:txBody>
          <a:bodyPr wrap="square" lIns="18288" tIns="18288" rIns="18288" bIns="18288" anchor="t">
            <a:spAutoFit/>
          </a:bodyPr>
          <a:lstStyle/>
          <a:p>
            <a:pPr algn="l"/>
            <a:r>
              <a:rPr sz="1300" b="0" i="0">
                <a:solidFill>
                  <a:srgbClr val="5B6475"/>
                </a:solidFill>
                <a:latin typeface="Calibri"/>
              </a:rPr>
              <a:t>SQLite</a:t>
            </a:r>
          </a:p>
        </p:txBody>
      </p:sp>
      <p:sp>
        <p:nvSpPr>
          <p:cNvPr id="27" name="TextBox 26"/>
          <p:cNvSpPr txBox="1"/>
          <p:nvPr/>
        </p:nvSpPr>
        <p:spPr>
          <a:xfrm>
            <a:off x="8432596" y="274320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54 582</a:t>
            </a:r>
          </a:p>
        </p:txBody>
      </p:sp>
      <p:sp>
        <p:nvSpPr>
          <p:cNvPr id="28" name="TextBox 27"/>
          <p:cNvSpPr txBox="1"/>
          <p:nvPr/>
        </p:nvSpPr>
        <p:spPr>
          <a:xfrm>
            <a:off x="8432596" y="334670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lignes dans 4 tables</a:t>
            </a:r>
          </a:p>
        </p:txBody>
      </p:sp>
      <p:sp>
        <p:nvSpPr>
          <p:cNvPr id="29" name="TextBox 28"/>
          <p:cNvSpPr txBox="1"/>
          <p:nvPr/>
        </p:nvSpPr>
        <p:spPr>
          <a:xfrm>
            <a:off x="8432596" y="3931920"/>
            <a:ext cx="2936138" cy="594360"/>
          </a:xfrm>
          <a:prstGeom prst="rect">
            <a:avLst/>
          </a:prstGeom>
          <a:noFill/>
        </p:spPr>
        <p:txBody>
          <a:bodyPr wrap="square" lIns="18288" tIns="18288" rIns="18288" bIns="18288" anchor="t">
            <a:spAutoFit/>
          </a:bodyPr>
          <a:lstStyle/>
          <a:p>
            <a:pPr algn="l"/>
            <a:r>
              <a:rPr sz="3600" b="1" i="0">
                <a:solidFill>
                  <a:srgbClr val="2E5597"/>
                </a:solidFill>
                <a:latin typeface="Calibri"/>
              </a:rPr>
              <a:t>0</a:t>
            </a:r>
          </a:p>
        </p:txBody>
      </p:sp>
      <p:sp>
        <p:nvSpPr>
          <p:cNvPr id="30" name="TextBox 29"/>
          <p:cNvSpPr txBox="1"/>
          <p:nvPr/>
        </p:nvSpPr>
        <p:spPr>
          <a:xfrm>
            <a:off x="8432596" y="4535424"/>
            <a:ext cx="2936138" cy="365760"/>
          </a:xfrm>
          <a:prstGeom prst="rect">
            <a:avLst/>
          </a:prstGeom>
          <a:noFill/>
        </p:spPr>
        <p:txBody>
          <a:bodyPr wrap="square" lIns="18288" tIns="18288" rIns="18288" bIns="18288" anchor="t">
            <a:spAutoFit/>
          </a:bodyPr>
          <a:lstStyle/>
          <a:p>
            <a:pPr algn="l"/>
            <a:r>
              <a:rPr sz="1400" b="0" i="0">
                <a:solidFill>
                  <a:srgbClr val="1D2433"/>
                </a:solidFill>
                <a:latin typeface="Calibri"/>
              </a:rPr>
              <a:t>violation de clé étrangère</a:t>
            </a:r>
          </a:p>
        </p:txBody>
      </p:sp>
      <p:sp>
        <p:nvSpPr>
          <p:cNvPr id="31" name="Rounded Rectangle 30"/>
          <p:cNvSpPr/>
          <p:nvPr/>
        </p:nvSpPr>
        <p:spPr>
          <a:xfrm>
            <a:off x="548640" y="5486400"/>
            <a:ext cx="11094415"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Chaque base est </a:t>
            </a:r>
            <a:r>
              <a:rPr sz="1800" b="1" i="0">
                <a:solidFill>
                  <a:srgbClr val="FFFFFF"/>
                </a:solidFill>
                <a:latin typeface="Calibri"/>
              </a:rPr>
              <a:t>cohérente avec elle-même</a:t>
            </a:r>
            <a:r>
              <a:rPr sz="1800" b="0" i="0">
                <a:solidFill>
                  <a:srgbClr val="FFFFFF"/>
                </a:solidFill>
                <a:latin typeface="Calibri"/>
              </a:rPr>
              <a:t> : ce qui manque, c'est </a:t>
            </a:r>
            <a:r>
              <a:rPr sz="1800" b="1" i="0">
                <a:solidFill>
                  <a:srgbClr val="FFFFFF"/>
                </a:solidFill>
                <a:latin typeface="Calibri"/>
              </a:rPr>
              <a:t>le pont entre elles</a:t>
            </a:r>
            <a:r>
              <a:rPr sz="1800" b="0" i="0">
                <a:solidFill>
                  <a:srgbClr val="FFFFFF"/>
                </a:solidFill>
                <a:latin typeface="Calibri"/>
              </a:rPr>
              <a:t>.</a:t>
            </a:r>
          </a:p>
        </p:txBody>
      </p:sp>
    </p:spTree>
    <p:extLst>
      <p:ext uri="{BB962C8B-B14F-4D97-AF65-F5344CB8AC3E}">
        <p14:creationId xmlns:p14="http://schemas.microsoft.com/office/powerpoint/2010/main" val="1763394632"/>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10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ÉTUDE DE L'EXISTANT</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Cinq manques à combler</a:t>
            </a:r>
          </a:p>
        </p:txBody>
      </p:sp>
      <p:sp>
        <p:nvSpPr>
          <p:cNvPr id="10" name="Rounded Rectangle 9"/>
          <p:cNvSpPr/>
          <p:nvPr/>
        </p:nvSpPr>
        <p:spPr>
          <a:xfrm>
            <a:off x="548640" y="1554480"/>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13232" y="1682495"/>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1</a:t>
            </a:r>
          </a:p>
        </p:txBody>
      </p:sp>
      <p:sp>
        <p:nvSpPr>
          <p:cNvPr id="12" name="TextBox 11"/>
          <p:cNvSpPr txBox="1"/>
          <p:nvPr/>
        </p:nvSpPr>
        <p:spPr>
          <a:xfrm>
            <a:off x="1371600" y="1627632"/>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identifiant transversal</a:t>
            </a:r>
            <a:r>
              <a:rPr sz="1600" b="0" i="0">
                <a:solidFill>
                  <a:srgbClr val="1D2433"/>
                </a:solidFill>
                <a:latin typeface="Calibri"/>
              </a:rPr>
              <a:t> — le CIN manque pour ~25 % des patients</a:t>
            </a:r>
          </a:p>
        </p:txBody>
      </p:sp>
      <p:sp>
        <p:nvSpPr>
          <p:cNvPr id="13" name="Rounded Rectangle 12"/>
          <p:cNvSpPr/>
          <p:nvPr/>
        </p:nvSpPr>
        <p:spPr>
          <a:xfrm>
            <a:off x="548640" y="2450591"/>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Oval 13"/>
          <p:cNvSpPr/>
          <p:nvPr/>
        </p:nvSpPr>
        <p:spPr>
          <a:xfrm>
            <a:off x="713232" y="2578608"/>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2</a:t>
            </a:r>
          </a:p>
        </p:txBody>
      </p:sp>
      <p:sp>
        <p:nvSpPr>
          <p:cNvPr id="15" name="TextBox 14"/>
          <p:cNvSpPr txBox="1"/>
          <p:nvPr/>
        </p:nvSpPr>
        <p:spPr>
          <a:xfrm>
            <a:off x="1371600" y="2523744"/>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normalisation commune</a:t>
            </a:r>
            <a:r>
              <a:rPr sz="1600" b="0" i="0">
                <a:solidFill>
                  <a:srgbClr val="1D2433"/>
                </a:solidFill>
                <a:latin typeface="Calibri"/>
              </a:rPr>
              <a:t> — ni schéma pivot, ni formats partagés</a:t>
            </a:r>
          </a:p>
        </p:txBody>
      </p:sp>
      <p:sp>
        <p:nvSpPr>
          <p:cNvPr id="16" name="Rounded Rectangle 15"/>
          <p:cNvSpPr/>
          <p:nvPr/>
        </p:nvSpPr>
        <p:spPr>
          <a:xfrm>
            <a:off x="548640" y="3346704"/>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713232" y="3474720"/>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3</a:t>
            </a:r>
          </a:p>
        </p:txBody>
      </p:sp>
      <p:sp>
        <p:nvSpPr>
          <p:cNvPr id="18" name="TextBox 17"/>
          <p:cNvSpPr txBox="1"/>
          <p:nvPr/>
        </p:nvSpPr>
        <p:spPr>
          <a:xfrm>
            <a:off x="1371600" y="3419856"/>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rapprochement d'identités</a:t>
            </a:r>
            <a:r>
              <a:rPr sz="1600" b="0" i="0">
                <a:solidFill>
                  <a:srgbClr val="1D2433"/>
                </a:solidFill>
                <a:latin typeface="Calibri"/>
              </a:rPr>
              <a:t> explicable</a:t>
            </a:r>
          </a:p>
        </p:txBody>
      </p:sp>
      <p:sp>
        <p:nvSpPr>
          <p:cNvPr id="19" name="Rounded Rectangle 18"/>
          <p:cNvSpPr/>
          <p:nvPr/>
        </p:nvSpPr>
        <p:spPr>
          <a:xfrm>
            <a:off x="548640" y="4242816"/>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Oval 19"/>
          <p:cNvSpPr/>
          <p:nvPr/>
        </p:nvSpPr>
        <p:spPr>
          <a:xfrm>
            <a:off x="713232" y="4370831"/>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4</a:t>
            </a:r>
          </a:p>
        </p:txBody>
      </p:sp>
      <p:sp>
        <p:nvSpPr>
          <p:cNvPr id="21" name="TextBox 20"/>
          <p:cNvSpPr txBox="1"/>
          <p:nvPr/>
        </p:nvSpPr>
        <p:spPr>
          <a:xfrm>
            <a:off x="1371600" y="4315968"/>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Aucune gouvernance</a:t>
            </a:r>
            <a:r>
              <a:rPr sz="1600" b="0" i="0">
                <a:solidFill>
                  <a:srgbClr val="1D2433"/>
                </a:solidFill>
                <a:latin typeface="Calibri"/>
              </a:rPr>
              <a:t> — ni rôles, ni consentement, ni journal d'accès</a:t>
            </a:r>
          </a:p>
        </p:txBody>
      </p:sp>
      <p:sp>
        <p:nvSpPr>
          <p:cNvPr id="22" name="Rounded Rectangle 21"/>
          <p:cNvSpPr/>
          <p:nvPr/>
        </p:nvSpPr>
        <p:spPr>
          <a:xfrm>
            <a:off x="548640" y="5138928"/>
            <a:ext cx="6949440" cy="749808"/>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713232" y="5266944"/>
            <a:ext cx="493776" cy="49377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i="0">
                <a:solidFill>
                  <a:srgbClr val="FFFFFF"/>
                </a:solidFill>
                <a:latin typeface="Calibri"/>
              </a:rPr>
              <a:t>5</a:t>
            </a:r>
          </a:p>
        </p:txBody>
      </p:sp>
      <p:sp>
        <p:nvSpPr>
          <p:cNvPr id="24" name="TextBox 23"/>
          <p:cNvSpPr txBox="1"/>
          <p:nvPr/>
        </p:nvSpPr>
        <p:spPr>
          <a:xfrm>
            <a:off x="1371600" y="5212080"/>
            <a:ext cx="5989320" cy="640080"/>
          </a:xfrm>
          <a:prstGeom prst="rect">
            <a:avLst/>
          </a:prstGeom>
          <a:noFill/>
        </p:spPr>
        <p:txBody>
          <a:bodyPr wrap="square" lIns="18288" tIns="18288" rIns="18288" bIns="18288" anchor="ctr">
            <a:spAutoFit/>
          </a:bodyPr>
          <a:lstStyle/>
          <a:p>
            <a:pPr algn="l"/>
            <a:r>
              <a:rPr sz="1600" b="1" i="0">
                <a:solidFill>
                  <a:srgbClr val="1D2433"/>
                </a:solidFill>
                <a:latin typeface="Calibri"/>
              </a:rPr>
              <a:t>Aucun espace de rejeu</a:t>
            </a:r>
            <a:r>
              <a:rPr sz="1600" b="0" i="0">
                <a:solidFill>
                  <a:srgbClr val="1D2433"/>
                </a:solidFill>
                <a:latin typeface="Calibri"/>
              </a:rPr>
              <a:t> — une erreur de traitement ne se rejoue pas</a:t>
            </a:r>
          </a:p>
        </p:txBody>
      </p:sp>
      <p:sp>
        <p:nvSpPr>
          <p:cNvPr id="25" name="Rounded Rectangle 24"/>
          <p:cNvSpPr/>
          <p:nvPr/>
        </p:nvSpPr>
        <p:spPr>
          <a:xfrm>
            <a:off x="7863840" y="1554480"/>
            <a:ext cx="3779215" cy="43434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8183879" y="1920240"/>
            <a:ext cx="3139135" cy="1005840"/>
          </a:xfrm>
          <a:prstGeom prst="rect">
            <a:avLst/>
          </a:prstGeom>
          <a:noFill/>
        </p:spPr>
        <p:txBody>
          <a:bodyPr wrap="square" lIns="18288" tIns="18288" rIns="18288" bIns="18288" anchor="t">
            <a:spAutoFit/>
          </a:bodyPr>
          <a:lstStyle/>
          <a:p>
            <a:pPr algn="ctr"/>
            <a:r>
              <a:rPr sz="6000" b="1" i="0">
                <a:solidFill>
                  <a:srgbClr val="FFFFFF"/>
                </a:solidFill>
                <a:latin typeface="Calibri"/>
              </a:rPr>
              <a:t>24 872</a:t>
            </a:r>
          </a:p>
        </p:txBody>
      </p:sp>
      <p:sp>
        <p:nvSpPr>
          <p:cNvPr id="27" name="TextBox 26"/>
          <p:cNvSpPr txBox="1"/>
          <p:nvPr/>
        </p:nvSpPr>
        <p:spPr>
          <a:xfrm>
            <a:off x="8183879" y="3017520"/>
            <a:ext cx="3139135" cy="1097280"/>
          </a:xfrm>
          <a:prstGeom prst="rect">
            <a:avLst/>
          </a:prstGeom>
          <a:noFill/>
        </p:spPr>
        <p:txBody>
          <a:bodyPr wrap="square" lIns="18288" tIns="18288" rIns="18288" bIns="18288" anchor="t">
            <a:spAutoFit/>
          </a:bodyPr>
          <a:lstStyle/>
          <a:p>
            <a:pPr algn="ctr"/>
            <a:r>
              <a:rPr sz="1700" b="0" i="0">
                <a:solidFill>
                  <a:srgbClr val="E2E9F3"/>
                </a:solidFill>
                <a:latin typeface="Calibri"/>
              </a:rPr>
              <a:t>marqueurs de doublon dans le premier prototype (run du 24/08/2026)</a:t>
            </a:r>
          </a:p>
        </p:txBody>
      </p:sp>
      <p:sp>
        <p:nvSpPr>
          <p:cNvPr id="28" name="TextBox 27"/>
          <p:cNvSpPr txBox="1"/>
          <p:nvPr/>
        </p:nvSpPr>
        <p:spPr>
          <a:xfrm>
            <a:off x="8183879" y="4343400"/>
            <a:ext cx="3139135" cy="1280160"/>
          </a:xfrm>
          <a:prstGeom prst="rect">
            <a:avLst/>
          </a:prstGeom>
          <a:noFill/>
        </p:spPr>
        <p:txBody>
          <a:bodyPr wrap="square" lIns="18288" tIns="18288" rIns="18288" bIns="18288" anchor="t">
            <a:spAutoFit/>
          </a:bodyPr>
          <a:lstStyle/>
          <a:p>
            <a:pPr algn="ctr"/>
            <a:r>
              <a:rPr sz="1800" b="1" i="0">
                <a:solidFill>
                  <a:srgbClr val="FFFFFF"/>
                </a:solidFill>
                <a:latin typeface="Calibri"/>
              </a:rPr>
              <a:t>… sans référentiel patient ni justification des fusions</a:t>
            </a:r>
          </a:p>
        </p:txBody>
      </p:sp>
    </p:spTree>
    <p:extLst>
      <p:ext uri="{BB962C8B-B14F-4D97-AF65-F5344CB8AC3E}">
        <p14:creationId xmlns:p14="http://schemas.microsoft.com/office/powerpoint/2010/main" val="1343200141"/>
      </p:ext>
    </p:extLst>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11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Une démarche en trois niveaux : chaque technologie répond à un besoin</a:t>
            </a:r>
          </a:p>
        </p:txBody>
      </p:sp>
      <p:sp>
        <p:nvSpPr>
          <p:cNvPr id="10" name="Rounded Rectangle 9"/>
          <p:cNvSpPr/>
          <p:nvPr/>
        </p:nvSpPr>
        <p:spPr>
          <a:xfrm>
            <a:off x="548640"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22959"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1</a:t>
            </a:r>
          </a:p>
        </p:txBody>
      </p:sp>
      <p:sp>
        <p:nvSpPr>
          <p:cNvPr id="12" name="TextBox 11"/>
          <p:cNvSpPr txBox="1"/>
          <p:nvPr/>
        </p:nvSpPr>
        <p:spPr>
          <a:xfrm>
            <a:off x="822959"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MVP</a:t>
            </a:r>
          </a:p>
        </p:txBody>
      </p:sp>
      <p:sp>
        <p:nvSpPr>
          <p:cNvPr id="13" name="TextBox 12"/>
          <p:cNvSpPr txBox="1"/>
          <p:nvPr/>
        </p:nvSpPr>
        <p:spPr>
          <a:xfrm>
            <a:off x="822959"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CSV · Pandas · PostgreSQL</a:t>
            </a:r>
          </a:p>
        </p:txBody>
      </p:sp>
      <p:sp>
        <p:nvSpPr>
          <p:cNvPr id="14" name="TextBox 13"/>
          <p:cNvSpPr txBox="1"/>
          <p:nvPr/>
        </p:nvSpPr>
        <p:spPr>
          <a:xfrm>
            <a:off x="822959"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résoudre le problème métier au plus simple</a:t>
            </a:r>
          </a:p>
        </p:txBody>
      </p:sp>
      <p:sp>
        <p:nvSpPr>
          <p:cNvPr id="15" name="Right Arrow 14"/>
          <p:cNvSpPr/>
          <p:nvPr/>
        </p:nvSpPr>
        <p:spPr>
          <a:xfrm>
            <a:off x="3984650"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414418" y="1554480"/>
            <a:ext cx="3362858" cy="26517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4688738" y="1691640"/>
            <a:ext cx="2814218" cy="320040"/>
          </a:xfrm>
          <a:prstGeom prst="rect">
            <a:avLst/>
          </a:prstGeom>
          <a:noFill/>
        </p:spPr>
        <p:txBody>
          <a:bodyPr wrap="square" lIns="18288" tIns="18288" rIns="18288" bIns="18288" anchor="t">
            <a:spAutoFit/>
          </a:bodyPr>
          <a:lstStyle/>
          <a:p>
            <a:pPr algn="l"/>
            <a:r>
              <a:rPr sz="1300" b="1" i="0">
                <a:solidFill>
                  <a:srgbClr val="2E5597"/>
                </a:solidFill>
                <a:latin typeface="Calibri"/>
              </a:rPr>
              <a:t>NIVEAU 2</a:t>
            </a:r>
          </a:p>
        </p:txBody>
      </p:sp>
      <p:sp>
        <p:nvSpPr>
          <p:cNvPr id="18" name="TextBox 17"/>
          <p:cNvSpPr txBox="1"/>
          <p:nvPr/>
        </p:nvSpPr>
        <p:spPr>
          <a:xfrm>
            <a:off x="4688738" y="2011680"/>
            <a:ext cx="2814218" cy="548640"/>
          </a:xfrm>
          <a:prstGeom prst="rect">
            <a:avLst/>
          </a:prstGeom>
          <a:noFill/>
        </p:spPr>
        <p:txBody>
          <a:bodyPr wrap="square" lIns="18288" tIns="18288" rIns="18288" bIns="18288" anchor="t">
            <a:spAutoFit/>
          </a:bodyPr>
          <a:lstStyle/>
          <a:p>
            <a:pPr algn="l"/>
            <a:r>
              <a:rPr sz="3000" b="1" i="0">
                <a:solidFill>
                  <a:srgbClr val="1F3864"/>
                </a:solidFill>
                <a:latin typeface="Calibri"/>
              </a:rPr>
              <a:t>Spark</a:t>
            </a:r>
          </a:p>
        </p:txBody>
      </p:sp>
      <p:sp>
        <p:nvSpPr>
          <p:cNvPr id="19" name="TextBox 18"/>
          <p:cNvSpPr txBox="1"/>
          <p:nvPr/>
        </p:nvSpPr>
        <p:spPr>
          <a:xfrm>
            <a:off x="4688738" y="2651760"/>
            <a:ext cx="2814218" cy="457200"/>
          </a:xfrm>
          <a:prstGeom prst="rect">
            <a:avLst/>
          </a:prstGeom>
          <a:noFill/>
        </p:spPr>
        <p:txBody>
          <a:bodyPr wrap="square" lIns="18288" tIns="18288" rIns="18288" bIns="18288" anchor="t">
            <a:spAutoFit/>
          </a:bodyPr>
          <a:lstStyle/>
          <a:p>
            <a:pPr algn="l"/>
            <a:r>
              <a:rPr sz="1500" b="0" i="0">
                <a:solidFill>
                  <a:srgbClr val="5B6475"/>
                </a:solidFill>
                <a:latin typeface="Calibri"/>
              </a:rPr>
              <a:t>même moteur en PySpark</a:t>
            </a:r>
          </a:p>
        </p:txBody>
      </p:sp>
      <p:sp>
        <p:nvSpPr>
          <p:cNvPr id="20" name="TextBox 19"/>
          <p:cNvSpPr txBox="1"/>
          <p:nvPr/>
        </p:nvSpPr>
        <p:spPr>
          <a:xfrm>
            <a:off x="4688738" y="3154680"/>
            <a:ext cx="2814218" cy="914400"/>
          </a:xfrm>
          <a:prstGeom prst="rect">
            <a:avLst/>
          </a:prstGeom>
          <a:noFill/>
        </p:spPr>
        <p:txBody>
          <a:bodyPr wrap="square" lIns="18288" tIns="18288" rIns="18288" bIns="18288" anchor="t">
            <a:spAutoFit/>
          </a:bodyPr>
          <a:lstStyle/>
          <a:p>
            <a:pPr algn="l"/>
            <a:r>
              <a:rPr sz="1600" b="0" i="0">
                <a:solidFill>
                  <a:srgbClr val="1D2433"/>
                </a:solidFill>
                <a:latin typeface="Calibri"/>
              </a:rPr>
              <a:t>changer d'échelle </a:t>
            </a:r>
            <a:r>
              <a:rPr sz="1600" b="1" i="0">
                <a:solidFill>
                  <a:srgbClr val="1D2433"/>
                </a:solidFill>
                <a:latin typeface="Calibri"/>
              </a:rPr>
              <a:t>sans changer la logique</a:t>
            </a:r>
          </a:p>
        </p:txBody>
      </p:sp>
      <p:sp>
        <p:nvSpPr>
          <p:cNvPr id="21" name="Right Arrow 20"/>
          <p:cNvSpPr/>
          <p:nvPr/>
        </p:nvSpPr>
        <p:spPr>
          <a:xfrm>
            <a:off x="7850428" y="2606040"/>
            <a:ext cx="356616" cy="54864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80196" y="1554480"/>
            <a:ext cx="3362858" cy="26517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TextBox 22"/>
          <p:cNvSpPr txBox="1"/>
          <p:nvPr/>
        </p:nvSpPr>
        <p:spPr>
          <a:xfrm>
            <a:off x="8554516" y="1691640"/>
            <a:ext cx="2814218" cy="320040"/>
          </a:xfrm>
          <a:prstGeom prst="rect">
            <a:avLst/>
          </a:prstGeom>
          <a:noFill/>
        </p:spPr>
        <p:txBody>
          <a:bodyPr wrap="square" lIns="18288" tIns="18288" rIns="18288" bIns="18288" anchor="t">
            <a:spAutoFit/>
          </a:bodyPr>
          <a:lstStyle/>
          <a:p>
            <a:pPr algn="l"/>
            <a:r>
              <a:rPr sz="1300" b="1" i="0">
                <a:solidFill>
                  <a:srgbClr val="C78400"/>
                </a:solidFill>
                <a:latin typeface="Calibri"/>
              </a:rPr>
              <a:t>NIVEAU 3</a:t>
            </a:r>
          </a:p>
        </p:txBody>
      </p:sp>
      <p:sp>
        <p:nvSpPr>
          <p:cNvPr id="24" name="TextBox 23"/>
          <p:cNvSpPr txBox="1"/>
          <p:nvPr/>
        </p:nvSpPr>
        <p:spPr>
          <a:xfrm>
            <a:off x="8554516" y="2011680"/>
            <a:ext cx="2814218" cy="548640"/>
          </a:xfrm>
          <a:prstGeom prst="rect">
            <a:avLst/>
          </a:prstGeom>
          <a:noFill/>
        </p:spPr>
        <p:txBody>
          <a:bodyPr wrap="square" lIns="18288" tIns="18288" rIns="18288" bIns="18288" anchor="t">
            <a:spAutoFit/>
          </a:bodyPr>
          <a:lstStyle/>
          <a:p>
            <a:pPr algn="l"/>
            <a:r>
              <a:rPr sz="3000" b="1" i="0">
                <a:solidFill>
                  <a:srgbClr val="FFFFFF"/>
                </a:solidFill>
                <a:latin typeface="Calibri"/>
              </a:rPr>
              <a:t>Big Data</a:t>
            </a:r>
          </a:p>
        </p:txBody>
      </p:sp>
      <p:sp>
        <p:nvSpPr>
          <p:cNvPr id="25" name="TextBox 24"/>
          <p:cNvSpPr txBox="1"/>
          <p:nvPr/>
        </p:nvSpPr>
        <p:spPr>
          <a:xfrm>
            <a:off x="8554516" y="2651760"/>
            <a:ext cx="2814218" cy="457200"/>
          </a:xfrm>
          <a:prstGeom prst="rect">
            <a:avLst/>
          </a:prstGeom>
          <a:noFill/>
        </p:spPr>
        <p:txBody>
          <a:bodyPr wrap="square" lIns="18288" tIns="18288" rIns="18288" bIns="18288" anchor="t">
            <a:spAutoFit/>
          </a:bodyPr>
          <a:lstStyle/>
          <a:p>
            <a:pPr algn="l"/>
            <a:r>
              <a:rPr sz="1500" b="0" i="0">
                <a:solidFill>
                  <a:srgbClr val="E2E9F3"/>
                </a:solidFill>
                <a:latin typeface="Calibri"/>
              </a:rPr>
              <a:t>HDFS · Hive · Spark</a:t>
            </a:r>
          </a:p>
        </p:txBody>
      </p:sp>
      <p:sp>
        <p:nvSpPr>
          <p:cNvPr id="26" name="TextBox 25"/>
          <p:cNvSpPr txBox="1"/>
          <p:nvPr/>
        </p:nvSpPr>
        <p:spPr>
          <a:xfrm>
            <a:off x="8554516" y="3154680"/>
            <a:ext cx="2814218" cy="914400"/>
          </a:xfrm>
          <a:prstGeom prst="rect">
            <a:avLst/>
          </a:prstGeom>
          <a:noFill/>
        </p:spPr>
        <p:txBody>
          <a:bodyPr wrap="square" lIns="18288" tIns="18288" rIns="18288" bIns="18288" anchor="t">
            <a:spAutoFit/>
          </a:bodyPr>
          <a:lstStyle/>
          <a:p>
            <a:pPr algn="l"/>
            <a:r>
              <a:rPr sz="1600" b="0" i="0">
                <a:solidFill>
                  <a:srgbClr val="FFFFFF"/>
                </a:solidFill>
                <a:latin typeface="Calibri"/>
              </a:rPr>
              <a:t>lac Medallion rejouable et planifiable</a:t>
            </a:r>
          </a:p>
        </p:txBody>
      </p:sp>
      <p:sp>
        <p:nvSpPr>
          <p:cNvPr id="27" name="Rounded Rectangle 26"/>
          <p:cNvSpPr/>
          <p:nvPr/>
        </p:nvSpPr>
        <p:spPr>
          <a:xfrm>
            <a:off x="548640" y="448056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Validation</a:t>
            </a:r>
          </a:p>
        </p:txBody>
      </p:sp>
      <p:sp>
        <p:nvSpPr>
          <p:cNvPr id="28" name="TextBox 27"/>
          <p:cNvSpPr txBox="1"/>
          <p:nvPr/>
        </p:nvSpPr>
        <p:spPr>
          <a:xfrm>
            <a:off x="3154680" y="448056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vérité terrain avant le passage à l'échelle</a:t>
            </a:r>
          </a:p>
        </p:txBody>
      </p:sp>
      <p:sp>
        <p:nvSpPr>
          <p:cNvPr id="29" name="Rounded Rectangle 28"/>
          <p:cNvSpPr/>
          <p:nvPr/>
        </p:nvSpPr>
        <p:spPr>
          <a:xfrm>
            <a:off x="548640" y="5349240"/>
            <a:ext cx="2377440" cy="713232"/>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700" b="1" i="0">
                <a:solidFill>
                  <a:srgbClr val="1D2433"/>
                </a:solidFill>
                <a:latin typeface="Calibri"/>
              </a:rPr>
              <a:t>Gouvernance</a:t>
            </a:r>
          </a:p>
        </p:txBody>
      </p:sp>
      <p:sp>
        <p:nvSpPr>
          <p:cNvPr id="30" name="TextBox 29"/>
          <p:cNvSpPr txBox="1"/>
          <p:nvPr/>
        </p:nvSpPr>
        <p:spPr>
          <a:xfrm>
            <a:off x="3154680" y="5349240"/>
            <a:ext cx="8488375" cy="713232"/>
          </a:xfrm>
          <a:prstGeom prst="rect">
            <a:avLst/>
          </a:prstGeom>
          <a:noFill/>
        </p:spPr>
        <p:txBody>
          <a:bodyPr wrap="square" lIns="18288" tIns="18288" rIns="18288" bIns="18288" anchor="ctr">
            <a:spAutoFit/>
          </a:bodyPr>
          <a:lstStyle/>
          <a:p>
            <a:pPr algn="l"/>
            <a:r>
              <a:rPr sz="1700" b="0" i="0">
                <a:solidFill>
                  <a:srgbClr val="1D2433"/>
                </a:solidFill>
                <a:latin typeface="Calibri"/>
              </a:rPr>
              <a:t>consentement, audit et API sur la zone GOLD</a:t>
            </a:r>
          </a:p>
        </p:txBody>
      </p:sp>
      <p:sp>
        <p:nvSpPr>
          <p:cNvPr id="31" name="TextBox 30"/>
          <p:cNvSpPr txBox="1"/>
          <p:nvPr/>
        </p:nvSpPr>
        <p:spPr>
          <a:xfrm>
            <a:off x="548640" y="6035040"/>
            <a:ext cx="11094415" cy="274320"/>
          </a:xfrm>
          <a:prstGeom prst="rect">
            <a:avLst/>
          </a:prstGeom>
          <a:noFill/>
        </p:spPr>
        <p:txBody>
          <a:bodyPr wrap="square" lIns="18288" tIns="18288" rIns="18288" bIns="18288" anchor="t">
            <a:spAutoFit/>
          </a:bodyPr>
          <a:lstStyle/>
          <a:p>
            <a:pPr algn="l"/>
            <a:r>
              <a:rPr sz="1300" b="0" i="1">
                <a:solidFill>
                  <a:srgbClr val="5B6475"/>
                </a:solidFill>
                <a:latin typeface="Calibri"/>
              </a:rPr>
              <a:t>Deux étapes transverses : on ne passe à l'échelle, et on n'ouvre les accès, qu'une fois la preuve établie.</a:t>
            </a:r>
          </a:p>
        </p:txBody>
      </p:sp>
    </p:spTree>
    <p:extLst>
      <p:ext uri="{BB962C8B-B14F-4D97-AF65-F5344CB8AC3E}">
        <p14:creationId xmlns:p14="http://schemas.microsoft.com/office/powerpoint/2010/main" val="379543700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12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SOLUTION PROPOSÉE</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Architecture : de la source à l'API gouvernée</a:t>
            </a:r>
          </a:p>
        </p:txBody>
      </p:sp>
      <p:sp>
        <p:nvSpPr>
          <p:cNvPr id="10" name="TextBox 9"/>
          <p:cNvSpPr txBox="1"/>
          <p:nvPr/>
        </p:nvSpPr>
        <p:spPr>
          <a:xfrm>
            <a:off x="548640" y="1645920"/>
            <a:ext cx="1920240" cy="274320"/>
          </a:xfrm>
          <a:prstGeom prst="rect">
            <a:avLst/>
          </a:prstGeom>
          <a:noFill/>
        </p:spPr>
        <p:txBody>
          <a:bodyPr wrap="square" lIns="18288" tIns="18288" rIns="18288" bIns="18288" anchor="t">
            <a:spAutoFit/>
          </a:bodyPr>
          <a:lstStyle/>
          <a:p>
            <a:pPr algn="l"/>
            <a:r>
              <a:rPr sz="1200" b="1" i="0">
                <a:solidFill>
                  <a:srgbClr val="2E5597"/>
                </a:solidFill>
                <a:latin typeface="Calibri"/>
              </a:rPr>
              <a:t>SOURCES</a:t>
            </a:r>
          </a:p>
        </p:txBody>
      </p:sp>
      <p:sp>
        <p:nvSpPr>
          <p:cNvPr id="11" name="Rounded Rectangle 10"/>
          <p:cNvSpPr/>
          <p:nvPr/>
        </p:nvSpPr>
        <p:spPr>
          <a:xfrm>
            <a:off x="548640" y="1965960"/>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Pharmacie</a:t>
            </a:r>
          </a:p>
        </p:txBody>
      </p:sp>
      <p:sp>
        <p:nvSpPr>
          <p:cNvPr id="12" name="Rounded Rectangle 11"/>
          <p:cNvSpPr/>
          <p:nvPr/>
        </p:nvSpPr>
        <p:spPr>
          <a:xfrm>
            <a:off x="548640" y="2624328"/>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Consultation</a:t>
            </a:r>
          </a:p>
        </p:txBody>
      </p:sp>
      <p:sp>
        <p:nvSpPr>
          <p:cNvPr id="13" name="Rounded Rectangle 12"/>
          <p:cNvSpPr/>
          <p:nvPr/>
        </p:nvSpPr>
        <p:spPr>
          <a:xfrm>
            <a:off x="548640" y="3282696"/>
            <a:ext cx="1920240" cy="530352"/>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0" i="0">
                <a:solidFill>
                  <a:srgbClr val="1D2433"/>
                </a:solidFill>
                <a:latin typeface="Calibri"/>
              </a:rPr>
              <a:t>Imagerie</a:t>
            </a:r>
          </a:p>
        </p:txBody>
      </p:sp>
      <p:sp>
        <p:nvSpPr>
          <p:cNvPr id="14" name="TextBox 13"/>
          <p:cNvSpPr txBox="1"/>
          <p:nvPr/>
        </p:nvSpPr>
        <p:spPr>
          <a:xfrm>
            <a:off x="3063240" y="1645920"/>
            <a:ext cx="6172200" cy="274320"/>
          </a:xfrm>
          <a:prstGeom prst="rect">
            <a:avLst/>
          </a:prstGeom>
          <a:noFill/>
        </p:spPr>
        <p:txBody>
          <a:bodyPr wrap="square" lIns="18288" tIns="18288" rIns="18288" bIns="18288" anchor="t">
            <a:spAutoFit/>
          </a:bodyPr>
          <a:lstStyle/>
          <a:p>
            <a:pPr algn="l"/>
            <a:r>
              <a:rPr sz="1200" b="1" i="0">
                <a:solidFill>
                  <a:srgbClr val="2E5597"/>
                </a:solidFill>
                <a:latin typeface="Calibri"/>
              </a:rPr>
              <a:t>LAC DE DONNÉES — HDFS · HIVE · SPARK</a:t>
            </a:r>
          </a:p>
        </p:txBody>
      </p:sp>
      <p:sp>
        <p:nvSpPr>
          <p:cNvPr id="15" name="Rounded Rectangle 14"/>
          <p:cNvSpPr/>
          <p:nvPr/>
        </p:nvSpPr>
        <p:spPr>
          <a:xfrm>
            <a:off x="3063240" y="1965960"/>
            <a:ext cx="1783080" cy="1847088"/>
          </a:xfrm>
          <a:prstGeom prst="roundRect">
            <a:avLst>
              <a:gd name="adj" fmla="val 8000"/>
            </a:avLst>
          </a:prstGeom>
          <a:solidFill>
            <a:srgbClr val="FFFFFF"/>
          </a:solidFill>
          <a:ln w="31750">
            <a:solidFill>
              <a:srgbClr val="8A6F55"/>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TextBox 15"/>
          <p:cNvSpPr txBox="1"/>
          <p:nvPr/>
        </p:nvSpPr>
        <p:spPr>
          <a:xfrm>
            <a:off x="3154680" y="2103120"/>
            <a:ext cx="1600200" cy="457200"/>
          </a:xfrm>
          <a:prstGeom prst="rect">
            <a:avLst/>
          </a:prstGeom>
          <a:noFill/>
        </p:spPr>
        <p:txBody>
          <a:bodyPr wrap="square" lIns="18288" tIns="18288" rIns="18288" bIns="18288" anchor="t">
            <a:spAutoFit/>
          </a:bodyPr>
          <a:lstStyle/>
          <a:p>
            <a:pPr algn="ctr"/>
            <a:r>
              <a:rPr sz="2200" b="1" i="0">
                <a:solidFill>
                  <a:srgbClr val="8A6F55"/>
                </a:solidFill>
                <a:latin typeface="Calibri"/>
              </a:rPr>
              <a:t>RAW</a:t>
            </a:r>
          </a:p>
        </p:txBody>
      </p:sp>
      <p:sp>
        <p:nvSpPr>
          <p:cNvPr id="17" name="TextBox 16"/>
          <p:cNvSpPr txBox="1"/>
          <p:nvPr/>
        </p:nvSpPr>
        <p:spPr>
          <a:xfrm>
            <a:off x="315468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brut, inchangé</a:t>
            </a:r>
          </a:p>
        </p:txBody>
      </p:sp>
      <p:cxnSp>
        <p:nvCxnSpPr>
          <p:cNvPr id="18" name="Connector 17"/>
          <p:cNvCxnSpPr/>
          <p:nvPr/>
        </p:nvCxnSpPr>
        <p:spPr>
          <a:xfrm>
            <a:off x="489204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257800" y="1965960"/>
            <a:ext cx="1783080" cy="1847088"/>
          </a:xfrm>
          <a:prstGeom prst="roundRect">
            <a:avLst>
              <a:gd name="adj" fmla="val 8000"/>
            </a:avLst>
          </a:prstGeom>
          <a:solidFill>
            <a:srgbClr val="FFFFFF"/>
          </a:solidFill>
          <a:ln w="31750">
            <a:solidFill>
              <a:srgbClr val="6F7B8C"/>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0" name="TextBox 19"/>
          <p:cNvSpPr txBox="1"/>
          <p:nvPr/>
        </p:nvSpPr>
        <p:spPr>
          <a:xfrm>
            <a:off x="5349240" y="2103120"/>
            <a:ext cx="1600200" cy="457200"/>
          </a:xfrm>
          <a:prstGeom prst="rect">
            <a:avLst/>
          </a:prstGeom>
          <a:noFill/>
        </p:spPr>
        <p:txBody>
          <a:bodyPr wrap="square" lIns="18288" tIns="18288" rIns="18288" bIns="18288" anchor="t">
            <a:spAutoFit/>
          </a:bodyPr>
          <a:lstStyle/>
          <a:p>
            <a:pPr algn="ctr"/>
            <a:r>
              <a:rPr sz="2200" b="1" i="0">
                <a:solidFill>
                  <a:srgbClr val="6F7B8C"/>
                </a:solidFill>
                <a:latin typeface="Calibri"/>
              </a:rPr>
              <a:t>SILVER</a:t>
            </a:r>
          </a:p>
        </p:txBody>
      </p:sp>
      <p:sp>
        <p:nvSpPr>
          <p:cNvPr id="21" name="TextBox 20"/>
          <p:cNvSpPr txBox="1"/>
          <p:nvPr/>
        </p:nvSpPr>
        <p:spPr>
          <a:xfrm>
            <a:off x="534924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FHIR normalisé</a:t>
            </a:r>
          </a:p>
          <a:p>
            <a:pPr algn="ctr"/>
            <a:r>
              <a:rPr sz="1300" b="0" i="0">
                <a:solidFill>
                  <a:srgbClr val="1D2433"/>
                </a:solidFill>
                <a:latin typeface="Calibri"/>
              </a:rPr>
              <a:t>+ patient maître</a:t>
            </a:r>
          </a:p>
        </p:txBody>
      </p:sp>
      <p:cxnSp>
        <p:nvCxnSpPr>
          <p:cNvPr id="22" name="Connector 21"/>
          <p:cNvCxnSpPr/>
          <p:nvPr/>
        </p:nvCxnSpPr>
        <p:spPr>
          <a:xfrm>
            <a:off x="7086600" y="2880360"/>
            <a:ext cx="32004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52360" y="1965960"/>
            <a:ext cx="1783080" cy="1847088"/>
          </a:xfrm>
          <a:prstGeom prst="roundRect">
            <a:avLst>
              <a:gd name="adj" fmla="val 8000"/>
            </a:avLst>
          </a:prstGeom>
          <a:solidFill>
            <a:srgbClr val="FFFFFF"/>
          </a:solidFill>
          <a:ln w="31750">
            <a:solidFill>
              <a:srgbClr val="B8860B"/>
            </a:solid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7543800" y="2103120"/>
            <a:ext cx="1600200" cy="457200"/>
          </a:xfrm>
          <a:prstGeom prst="rect">
            <a:avLst/>
          </a:prstGeom>
          <a:noFill/>
        </p:spPr>
        <p:txBody>
          <a:bodyPr wrap="square" lIns="18288" tIns="18288" rIns="18288" bIns="18288" anchor="t">
            <a:spAutoFit/>
          </a:bodyPr>
          <a:lstStyle/>
          <a:p>
            <a:pPr algn="ctr"/>
            <a:r>
              <a:rPr sz="2200" b="1" i="0">
                <a:solidFill>
                  <a:srgbClr val="B8860B"/>
                </a:solidFill>
                <a:latin typeface="Calibri"/>
              </a:rPr>
              <a:t>GOLD</a:t>
            </a:r>
          </a:p>
        </p:txBody>
      </p:sp>
      <p:sp>
        <p:nvSpPr>
          <p:cNvPr id="25" name="TextBox 24"/>
          <p:cNvSpPr txBox="1"/>
          <p:nvPr/>
        </p:nvSpPr>
        <p:spPr>
          <a:xfrm>
            <a:off x="7543800" y="2606040"/>
            <a:ext cx="1600200" cy="1097280"/>
          </a:xfrm>
          <a:prstGeom prst="rect">
            <a:avLst/>
          </a:prstGeom>
          <a:noFill/>
        </p:spPr>
        <p:txBody>
          <a:bodyPr wrap="square" lIns="18288" tIns="18288" rIns="18288" bIns="18288" anchor="t">
            <a:spAutoFit/>
          </a:bodyPr>
          <a:lstStyle/>
          <a:p>
            <a:pPr algn="ctr"/>
            <a:r>
              <a:rPr sz="1300" b="0" i="0">
                <a:solidFill>
                  <a:srgbClr val="1D2433"/>
                </a:solidFill>
                <a:latin typeface="Calibri"/>
              </a:rPr>
              <a:t>agrégats</a:t>
            </a:r>
          </a:p>
          <a:p>
            <a:pPr algn="ctr"/>
            <a:r>
              <a:rPr sz="1300" b="0" i="0">
                <a:solidFill>
                  <a:srgbClr val="1D2433"/>
                </a:solidFill>
                <a:latin typeface="Calibri"/>
              </a:rPr>
              <a:t>+ consentement</a:t>
            </a:r>
          </a:p>
        </p:txBody>
      </p:sp>
      <p:cxnSp>
        <p:nvCxnSpPr>
          <p:cNvPr id="26" name="Connector 25"/>
          <p:cNvCxnSpPr/>
          <p:nvPr/>
        </p:nvCxnSpPr>
        <p:spPr>
          <a:xfrm>
            <a:off x="2514600" y="2880360"/>
            <a:ext cx="502920"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0" y="4206240"/>
            <a:ext cx="2240280" cy="7772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1" i="0">
                <a:solidFill>
                  <a:srgbClr val="1D2433"/>
                </a:solidFill>
                <a:latin typeface="Calibri"/>
              </a:rPr>
              <a:t>Moteur de déduplication</a:t>
            </a:r>
          </a:p>
          <a:p>
            <a:pPr algn="ctr"/>
            <a:r>
              <a:rPr sz="1300" b="0" i="0">
                <a:solidFill>
                  <a:srgbClr val="1D2433"/>
                </a:solidFill>
                <a:latin typeface="Calibri"/>
              </a:rPr>
              <a:t>exact + probabiliste</a:t>
            </a:r>
          </a:p>
        </p:txBody>
      </p:sp>
      <p:cxnSp>
        <p:nvCxnSpPr>
          <p:cNvPr id="28" name="Connector 27"/>
          <p:cNvCxnSpPr/>
          <p:nvPr/>
        </p:nvCxnSpPr>
        <p:spPr>
          <a:xfrm flipV="1">
            <a:off x="6149340" y="3858768"/>
            <a:ext cx="0" cy="301752"/>
          </a:xfrm>
          <a:prstGeom prst="line">
            <a:avLst/>
          </a:prstGeom>
          <a:ln w="28575">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692640" y="1965960"/>
            <a:ext cx="1950415" cy="1051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Calibri"/>
              </a:rPr>
              <a:t>API de gouvernance</a:t>
            </a:r>
          </a:p>
          <a:p>
            <a:pPr algn="ctr"/>
            <a:r>
              <a:rPr sz="1400" b="0" i="0">
                <a:solidFill>
                  <a:srgbClr val="FFFFFF"/>
                </a:solidFill>
                <a:latin typeface="Calibri"/>
              </a:rPr>
              <a:t>rôle · finalité · consentement</a:t>
            </a:r>
          </a:p>
        </p:txBody>
      </p:sp>
      <p:cxnSp>
        <p:nvCxnSpPr>
          <p:cNvPr id="30" name="Connector 29"/>
          <p:cNvCxnSpPr/>
          <p:nvPr/>
        </p:nvCxnSpPr>
        <p:spPr>
          <a:xfrm>
            <a:off x="9281160" y="2487168"/>
            <a:ext cx="365759" cy="0"/>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92640" y="3291840"/>
            <a:ext cx="1950415" cy="105156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1D2433"/>
                </a:solidFill>
                <a:latin typeface="Calibri"/>
              </a:rPr>
              <a:t>PostgreSQL</a:t>
            </a:r>
          </a:p>
          <a:p>
            <a:pPr algn="ctr"/>
            <a:r>
              <a:rPr sz="1400" b="0" i="0">
                <a:solidFill>
                  <a:srgbClr val="1D2433"/>
                </a:solidFill>
                <a:latin typeface="Calibri"/>
              </a:rPr>
              <a:t>patients maîtres · consentements · audit</a:t>
            </a:r>
          </a:p>
        </p:txBody>
      </p:sp>
      <p:cxnSp>
        <p:nvCxnSpPr>
          <p:cNvPr id="32" name="Connector 31"/>
          <p:cNvCxnSpPr/>
          <p:nvPr/>
        </p:nvCxnSpPr>
        <p:spPr>
          <a:xfrm flipV="1">
            <a:off x="10667847" y="304495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92640" y="4617720"/>
            <a:ext cx="1950415" cy="566928"/>
          </a:xfrm>
          <a:prstGeom prst="roundRect">
            <a:avLst>
              <a:gd name="adj" fmla="val 8000"/>
            </a:avLst>
          </a:prstGeom>
          <a:solidFill>
            <a:srgbClr val="FFFFFF"/>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300" b="0" i="0">
                <a:solidFill>
                  <a:srgbClr val="1D2433"/>
                </a:solidFill>
                <a:latin typeface="Calibri"/>
              </a:rPr>
              <a:t>Journal d'audit de chaque appel</a:t>
            </a:r>
          </a:p>
        </p:txBody>
      </p:sp>
      <p:cxnSp>
        <p:nvCxnSpPr>
          <p:cNvPr id="34" name="Connector 33"/>
          <p:cNvCxnSpPr/>
          <p:nvPr/>
        </p:nvCxnSpPr>
        <p:spPr>
          <a:xfrm>
            <a:off x="10667847" y="4370832"/>
            <a:ext cx="0" cy="219456"/>
          </a:xfrm>
          <a:prstGeom prst="line">
            <a:avLst/>
          </a:prstGeom>
          <a:ln w="28575">
            <a:solidFill>
              <a:srgbClr val="2E559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5577840"/>
            <a:ext cx="2011680" cy="365760"/>
          </a:xfrm>
          <a:prstGeom prst="rect">
            <a:avLst/>
          </a:prstGeom>
          <a:noFill/>
        </p:spPr>
        <p:txBody>
          <a:bodyPr wrap="square" lIns="18288" tIns="18288" rIns="18288" bIns="18288" anchor="t">
            <a:spAutoFit/>
          </a:bodyPr>
          <a:lstStyle/>
          <a:p>
            <a:pPr algn="l"/>
            <a:r>
              <a:rPr sz="1400" b="1" i="0">
                <a:solidFill>
                  <a:srgbClr val="5B6475"/>
                </a:solidFill>
                <a:latin typeface="Calibri"/>
              </a:rPr>
              <a:t>Outils libres :</a:t>
            </a:r>
          </a:p>
        </p:txBody>
      </p:sp>
      <p:pic>
        <p:nvPicPr>
          <p:cNvPr id="36" name="Picture 35" descr="hadoop.png"/>
          <p:cNvPicPr>
            <a:picLocks noChangeAspect="1"/>
          </p:cNvPicPr>
          <p:nvPr/>
        </p:nvPicPr>
        <p:blipFill>
          <a:blip r:embed="rId7"/>
          <a:stretch>
            <a:fillRect/>
          </a:stretch>
        </p:blipFill>
        <p:spPr>
          <a:xfrm>
            <a:off x="2514600" y="5394959"/>
            <a:ext cx="927912" cy="324769"/>
          </a:xfrm>
          <a:prstGeom prst="rect">
            <a:avLst/>
          </a:prstGeom>
        </p:spPr>
      </p:pic>
      <p:pic>
        <p:nvPicPr>
          <p:cNvPr id="37" name="Picture 36" descr="hive.png"/>
          <p:cNvPicPr>
            <a:picLocks noChangeAspect="1"/>
          </p:cNvPicPr>
          <p:nvPr/>
        </p:nvPicPr>
        <p:blipFill>
          <a:blip r:embed="rId8"/>
          <a:stretch>
            <a:fillRect/>
          </a:stretch>
        </p:blipFill>
        <p:spPr>
          <a:xfrm>
            <a:off x="3533952" y="5394959"/>
            <a:ext cx="927912" cy="324769"/>
          </a:xfrm>
          <a:prstGeom prst="rect">
            <a:avLst/>
          </a:prstGeom>
        </p:spPr>
      </p:pic>
      <p:pic>
        <p:nvPicPr>
          <p:cNvPr id="38" name="Picture 37" descr="spark.png"/>
          <p:cNvPicPr>
            <a:picLocks noChangeAspect="1"/>
          </p:cNvPicPr>
          <p:nvPr/>
        </p:nvPicPr>
        <p:blipFill>
          <a:blip r:embed="rId9"/>
          <a:stretch>
            <a:fillRect/>
          </a:stretch>
        </p:blipFill>
        <p:spPr>
          <a:xfrm>
            <a:off x="4553305" y="5394959"/>
            <a:ext cx="927912" cy="324769"/>
          </a:xfrm>
          <a:prstGeom prst="rect">
            <a:avLst/>
          </a:prstGeom>
        </p:spPr>
      </p:pic>
      <p:pic>
        <p:nvPicPr>
          <p:cNvPr id="39" name="Picture 38" descr="python.png"/>
          <p:cNvPicPr>
            <a:picLocks noChangeAspect="1"/>
          </p:cNvPicPr>
          <p:nvPr/>
        </p:nvPicPr>
        <p:blipFill>
          <a:blip r:embed="rId10"/>
          <a:stretch>
            <a:fillRect/>
          </a:stretch>
        </p:blipFill>
        <p:spPr>
          <a:xfrm>
            <a:off x="5572658" y="5394959"/>
            <a:ext cx="927912" cy="324769"/>
          </a:xfrm>
          <a:prstGeom prst="rect">
            <a:avLst/>
          </a:prstGeom>
        </p:spPr>
      </p:pic>
      <p:pic>
        <p:nvPicPr>
          <p:cNvPr id="40" name="Picture 39" descr="pandas.png"/>
          <p:cNvPicPr>
            <a:picLocks noChangeAspect="1"/>
          </p:cNvPicPr>
          <p:nvPr/>
        </p:nvPicPr>
        <p:blipFill>
          <a:blip r:embed="rId11"/>
          <a:stretch>
            <a:fillRect/>
          </a:stretch>
        </p:blipFill>
        <p:spPr>
          <a:xfrm>
            <a:off x="6592011" y="5394959"/>
            <a:ext cx="927912" cy="324769"/>
          </a:xfrm>
          <a:prstGeom prst="rect">
            <a:avLst/>
          </a:prstGeom>
        </p:spPr>
      </p:pic>
      <p:pic>
        <p:nvPicPr>
          <p:cNvPr id="41" name="Picture 40" descr="rapidfuzz.png"/>
          <p:cNvPicPr>
            <a:picLocks noChangeAspect="1"/>
          </p:cNvPicPr>
          <p:nvPr/>
        </p:nvPicPr>
        <p:blipFill>
          <a:blip r:embed="rId12"/>
          <a:stretch>
            <a:fillRect/>
          </a:stretch>
        </p:blipFill>
        <p:spPr>
          <a:xfrm>
            <a:off x="7611364" y="5394959"/>
            <a:ext cx="927912" cy="324769"/>
          </a:xfrm>
          <a:prstGeom prst="rect">
            <a:avLst/>
          </a:prstGeom>
        </p:spPr>
      </p:pic>
      <p:pic>
        <p:nvPicPr>
          <p:cNvPr id="42" name="Picture 41" descr="postgresql.png"/>
          <p:cNvPicPr>
            <a:picLocks noChangeAspect="1"/>
          </p:cNvPicPr>
          <p:nvPr/>
        </p:nvPicPr>
        <p:blipFill>
          <a:blip r:embed="rId13"/>
          <a:stretch>
            <a:fillRect/>
          </a:stretch>
        </p:blipFill>
        <p:spPr>
          <a:xfrm>
            <a:off x="8630716" y="5394959"/>
            <a:ext cx="927912" cy="324769"/>
          </a:xfrm>
          <a:prstGeom prst="rect">
            <a:avLst/>
          </a:prstGeom>
        </p:spPr>
      </p:pic>
      <p:pic>
        <p:nvPicPr>
          <p:cNvPr id="43" name="Picture 42" descr="fastapi.png"/>
          <p:cNvPicPr>
            <a:picLocks noChangeAspect="1"/>
          </p:cNvPicPr>
          <p:nvPr/>
        </p:nvPicPr>
        <p:blipFill>
          <a:blip r:embed="rId14"/>
          <a:stretch>
            <a:fillRect/>
          </a:stretch>
        </p:blipFill>
        <p:spPr>
          <a:xfrm>
            <a:off x="9650069" y="5394959"/>
            <a:ext cx="927912" cy="324769"/>
          </a:xfrm>
          <a:prstGeom prst="rect">
            <a:avLst/>
          </a:prstGeom>
        </p:spPr>
      </p:pic>
      <p:pic>
        <p:nvPicPr>
          <p:cNvPr id="44" name="Picture 43" descr="vagrant.png"/>
          <p:cNvPicPr>
            <a:picLocks noChangeAspect="1"/>
          </p:cNvPicPr>
          <p:nvPr/>
        </p:nvPicPr>
        <p:blipFill>
          <a:blip r:embed="rId15"/>
          <a:stretch>
            <a:fillRect/>
          </a:stretch>
        </p:blipFill>
        <p:spPr>
          <a:xfrm>
            <a:off x="10669422" y="5394959"/>
            <a:ext cx="927912" cy="324769"/>
          </a:xfrm>
          <a:prstGeom prst="rect">
            <a:avLst/>
          </a:prstGeom>
        </p:spPr>
      </p:pic>
    </p:spTree>
    <p:extLst>
      <p:ext uri="{BB962C8B-B14F-4D97-AF65-F5344CB8AC3E}">
        <p14:creationId xmlns:p14="http://schemas.microsoft.com/office/powerpoint/2010/main" val="465070843"/>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13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Déduplication explicable : jamais de fusion sans justification</a:t>
            </a:r>
          </a:p>
        </p:txBody>
      </p:sp>
      <p:sp>
        <p:nvSpPr>
          <p:cNvPr id="10" name="Oval 9"/>
          <p:cNvSpPr/>
          <p:nvPr/>
        </p:nvSpPr>
        <p:spPr>
          <a:xfrm>
            <a:off x="548640" y="1664207"/>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1</a:t>
            </a:r>
          </a:p>
        </p:txBody>
      </p:sp>
      <p:sp>
        <p:nvSpPr>
          <p:cNvPr id="11" name="TextBox 10"/>
          <p:cNvSpPr txBox="1"/>
          <p:nvPr/>
        </p:nvSpPr>
        <p:spPr>
          <a:xfrm>
            <a:off x="1325880" y="1572768"/>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Blocking</a:t>
            </a:r>
          </a:p>
        </p:txBody>
      </p:sp>
      <p:sp>
        <p:nvSpPr>
          <p:cNvPr id="12" name="TextBox 11"/>
          <p:cNvSpPr txBox="1"/>
          <p:nvPr/>
        </p:nvSpPr>
        <p:spPr>
          <a:xfrm>
            <a:off x="1325880" y="1965960"/>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ne comparer que les candidats : préfixe du nom, date, CIN</a:t>
            </a:r>
          </a:p>
        </p:txBody>
      </p:sp>
      <p:sp>
        <p:nvSpPr>
          <p:cNvPr id="13" name="Oval 12"/>
          <p:cNvSpPr/>
          <p:nvPr/>
        </p:nvSpPr>
        <p:spPr>
          <a:xfrm>
            <a:off x="548640" y="2688336"/>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2</a:t>
            </a:r>
          </a:p>
        </p:txBody>
      </p:sp>
      <p:sp>
        <p:nvSpPr>
          <p:cNvPr id="14" name="TextBox 13"/>
          <p:cNvSpPr txBox="1"/>
          <p:nvPr/>
        </p:nvSpPr>
        <p:spPr>
          <a:xfrm>
            <a:off x="1325880" y="2596896"/>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exacte</a:t>
            </a:r>
          </a:p>
        </p:txBody>
      </p:sp>
      <p:sp>
        <p:nvSpPr>
          <p:cNvPr id="15" name="TextBox 14"/>
          <p:cNvSpPr txBox="1"/>
          <p:nvPr/>
        </p:nvSpPr>
        <p:spPr>
          <a:xfrm>
            <a:off x="1325880" y="2990088"/>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nom normalisé + naissance + CIN identiques → score 1,0</a:t>
            </a:r>
          </a:p>
        </p:txBody>
      </p:sp>
      <p:sp>
        <p:nvSpPr>
          <p:cNvPr id="16" name="Oval 15"/>
          <p:cNvSpPr/>
          <p:nvPr/>
        </p:nvSpPr>
        <p:spPr>
          <a:xfrm>
            <a:off x="548640" y="3712464"/>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i="0">
                <a:solidFill>
                  <a:srgbClr val="FFFFFF"/>
                </a:solidFill>
                <a:latin typeface="Calibri"/>
              </a:rPr>
              <a:t>3</a:t>
            </a:r>
          </a:p>
        </p:txBody>
      </p:sp>
      <p:sp>
        <p:nvSpPr>
          <p:cNvPr id="17" name="TextBox 16"/>
          <p:cNvSpPr txBox="1"/>
          <p:nvPr/>
        </p:nvSpPr>
        <p:spPr>
          <a:xfrm>
            <a:off x="1325880" y="3621024"/>
            <a:ext cx="4754880" cy="384048"/>
          </a:xfrm>
          <a:prstGeom prst="rect">
            <a:avLst/>
          </a:prstGeom>
          <a:noFill/>
        </p:spPr>
        <p:txBody>
          <a:bodyPr wrap="square" lIns="18288" tIns="18288" rIns="18288" bIns="18288" anchor="t">
            <a:spAutoFit/>
          </a:bodyPr>
          <a:lstStyle/>
          <a:p>
            <a:pPr algn="l"/>
            <a:r>
              <a:rPr sz="1900" b="1" i="0">
                <a:solidFill>
                  <a:srgbClr val="1F3864"/>
                </a:solidFill>
                <a:latin typeface="Calibri"/>
              </a:rPr>
              <a:t>Passe probabiliste</a:t>
            </a:r>
          </a:p>
        </p:txBody>
      </p:sp>
      <p:sp>
        <p:nvSpPr>
          <p:cNvPr id="18" name="TextBox 17"/>
          <p:cNvSpPr txBox="1"/>
          <p:nvPr/>
        </p:nvSpPr>
        <p:spPr>
          <a:xfrm>
            <a:off x="1325880" y="4014216"/>
            <a:ext cx="4754880" cy="548640"/>
          </a:xfrm>
          <a:prstGeom prst="rect">
            <a:avLst/>
          </a:prstGeom>
          <a:noFill/>
        </p:spPr>
        <p:txBody>
          <a:bodyPr wrap="square" lIns="18288" tIns="18288" rIns="18288" bIns="18288" anchor="t">
            <a:spAutoFit/>
          </a:bodyPr>
          <a:lstStyle/>
          <a:p>
            <a:pPr algn="l"/>
            <a:r>
              <a:rPr sz="1500" b="0" i="0">
                <a:solidFill>
                  <a:srgbClr val="1D2433"/>
                </a:solidFill>
                <a:latin typeface="Calibri"/>
              </a:rPr>
              <a:t>score pondéré ≥ 0,80 → fusion ; sinon nouveau patient maître</a:t>
            </a:r>
          </a:p>
        </p:txBody>
      </p:sp>
      <p:sp>
        <p:nvSpPr>
          <p:cNvPr id="19" name="Rounded Rectangle 18"/>
          <p:cNvSpPr/>
          <p:nvPr/>
        </p:nvSpPr>
        <p:spPr>
          <a:xfrm>
            <a:off x="548640" y="4709160"/>
            <a:ext cx="5577840" cy="14173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FFFFFF"/>
                </a:solidFill>
                <a:latin typeface="Calibri"/>
              </a:rPr>
              <a:t>Chaque décision porte </a:t>
            </a:r>
            <a:r>
              <a:rPr sz="1600" b="1" i="0">
                <a:solidFill>
                  <a:srgbClr val="FFFFFF"/>
                </a:solidFill>
                <a:latin typeface="Calibri"/>
              </a:rPr>
              <a:t>méthode · score · explication</a:t>
            </a:r>
          </a:p>
          <a:p>
            <a:pPr algn="ctr"/>
            <a:r>
              <a:rPr sz="1500" b="0" i="0">
                <a:solidFill>
                  <a:srgbClr val="FFFFFF"/>
                </a:solidFill>
                <a:latin typeface="Consolas"/>
              </a:rPr>
              <a:t>exact</a:t>
            </a:r>
            <a:r>
              <a:rPr sz="1600" b="0" i="0">
                <a:solidFill>
                  <a:srgbClr val="FFFFFF"/>
                </a:solidFill>
                <a:latin typeface="Calibri"/>
              </a:rPr>
              <a:t> · </a:t>
            </a:r>
            <a:r>
              <a:rPr sz="1500" b="0" i="0">
                <a:solidFill>
                  <a:srgbClr val="FFFFFF"/>
                </a:solidFill>
                <a:latin typeface="Consolas"/>
              </a:rPr>
              <a:t>probabilistic</a:t>
            </a:r>
            <a:r>
              <a:rPr sz="1600" b="0" i="0">
                <a:solidFill>
                  <a:srgbClr val="FFFFFF"/>
                </a:solidFill>
                <a:latin typeface="Calibri"/>
              </a:rPr>
              <a:t> · </a:t>
            </a:r>
            <a:r>
              <a:rPr sz="1500" b="0" i="0">
                <a:solidFill>
                  <a:srgbClr val="FFFFFF"/>
                </a:solidFill>
                <a:latin typeface="Consolas"/>
              </a:rPr>
              <a:t>new_master</a:t>
            </a:r>
          </a:p>
        </p:txBody>
      </p:sp>
      <p:sp>
        <p:nvSpPr>
          <p:cNvPr id="20" name="TextBox 19"/>
          <p:cNvSpPr txBox="1"/>
          <p:nvPr/>
        </p:nvSpPr>
        <p:spPr>
          <a:xfrm>
            <a:off x="6675120" y="1554480"/>
            <a:ext cx="4967935" cy="365760"/>
          </a:xfrm>
          <a:prstGeom prst="rect">
            <a:avLst/>
          </a:prstGeom>
          <a:noFill/>
        </p:spPr>
        <p:txBody>
          <a:bodyPr wrap="square" lIns="18288" tIns="18288" rIns="18288" bIns="18288" anchor="t">
            <a:spAutoFit/>
          </a:bodyPr>
          <a:lstStyle/>
          <a:p>
            <a:pPr algn="l"/>
            <a:r>
              <a:rPr sz="1700" b="1" i="0">
                <a:solidFill>
                  <a:srgbClr val="1F3864"/>
                </a:solidFill>
                <a:latin typeface="Calibri"/>
              </a:rPr>
              <a:t>Composition du score de similarité</a:t>
            </a:r>
          </a:p>
        </p:txBody>
      </p:sp>
      <p:sp>
        <p:nvSpPr>
          <p:cNvPr id="21" name="Rectangle 20"/>
          <p:cNvSpPr/>
          <p:nvPr/>
        </p:nvSpPr>
        <p:spPr>
          <a:xfrm>
            <a:off x="6675120" y="2103120"/>
            <a:ext cx="2483967" cy="82296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TextBox 21"/>
          <p:cNvSpPr txBox="1"/>
          <p:nvPr/>
        </p:nvSpPr>
        <p:spPr>
          <a:xfrm>
            <a:off x="6675120" y="2148840"/>
            <a:ext cx="2483967"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Nom</a:t>
            </a:r>
          </a:p>
          <a:p>
            <a:pPr algn="ctr"/>
            <a:r>
              <a:rPr sz="1500" b="1" i="0">
                <a:solidFill>
                  <a:srgbClr val="FFFFFF"/>
                </a:solidFill>
                <a:latin typeface="Calibri"/>
              </a:rPr>
              <a:t>0,5</a:t>
            </a:r>
          </a:p>
        </p:txBody>
      </p:sp>
      <p:sp>
        <p:nvSpPr>
          <p:cNvPr id="23" name="Rectangle 22"/>
          <p:cNvSpPr/>
          <p:nvPr/>
        </p:nvSpPr>
        <p:spPr>
          <a:xfrm>
            <a:off x="9159087" y="2103120"/>
            <a:ext cx="1490380" cy="822960"/>
          </a:xfrm>
          <a:prstGeom prst="rect">
            <a:avLst/>
          </a:prstGeom>
          <a:solidFill>
            <a:srgbClr val="2E5597"/>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4" name="TextBox 23"/>
          <p:cNvSpPr txBox="1"/>
          <p:nvPr/>
        </p:nvSpPr>
        <p:spPr>
          <a:xfrm>
            <a:off x="9159087" y="2148840"/>
            <a:ext cx="1490380" cy="731520"/>
          </a:xfrm>
          <a:prstGeom prst="rect">
            <a:avLst/>
          </a:prstGeom>
          <a:noFill/>
        </p:spPr>
        <p:txBody>
          <a:bodyPr wrap="square" lIns="18288" tIns="18288" rIns="18288" bIns="18288" anchor="ctr">
            <a:spAutoFit/>
          </a:bodyPr>
          <a:lstStyle/>
          <a:p>
            <a:pPr algn="ctr"/>
            <a:r>
              <a:rPr sz="1500" b="1" i="0">
                <a:solidFill>
                  <a:srgbClr val="FFFFFF"/>
                </a:solidFill>
                <a:latin typeface="Calibri"/>
              </a:rPr>
              <a:t>Naissance</a:t>
            </a:r>
          </a:p>
          <a:p>
            <a:pPr algn="ctr"/>
            <a:r>
              <a:rPr sz="1500" b="1" i="0">
                <a:solidFill>
                  <a:srgbClr val="FFFFFF"/>
                </a:solidFill>
                <a:latin typeface="Calibri"/>
              </a:rPr>
              <a:t>0,3</a:t>
            </a:r>
          </a:p>
        </p:txBody>
      </p:sp>
      <p:sp>
        <p:nvSpPr>
          <p:cNvPr id="25" name="Rectangle 24"/>
          <p:cNvSpPr/>
          <p:nvPr/>
        </p:nvSpPr>
        <p:spPr>
          <a:xfrm>
            <a:off x="10649468" y="2103120"/>
            <a:ext cx="496793" cy="822960"/>
          </a:xfrm>
          <a:prstGeom prst="rect">
            <a:avLst/>
          </a:prstGeom>
          <a:solidFill>
            <a:srgbClr val="8EAADB"/>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TextBox 25"/>
          <p:cNvSpPr txBox="1"/>
          <p:nvPr/>
        </p:nvSpPr>
        <p:spPr>
          <a:xfrm>
            <a:off x="10649468"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CIN</a:t>
            </a:r>
          </a:p>
          <a:p>
            <a:pPr algn="ctr"/>
            <a:r>
              <a:rPr sz="1300" b="1" i="0">
                <a:solidFill>
                  <a:srgbClr val="1D2433"/>
                </a:solidFill>
                <a:latin typeface="Calibri"/>
              </a:rPr>
              <a:t>0,1</a:t>
            </a:r>
          </a:p>
        </p:txBody>
      </p:sp>
      <p:sp>
        <p:nvSpPr>
          <p:cNvPr id="27" name="Rectangle 26"/>
          <p:cNvSpPr/>
          <p:nvPr/>
        </p:nvSpPr>
        <p:spPr>
          <a:xfrm>
            <a:off x="11146261" y="2103120"/>
            <a:ext cx="496793" cy="822960"/>
          </a:xfrm>
          <a:prstGeom prst="rect">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11146261" y="2148840"/>
            <a:ext cx="496793" cy="731520"/>
          </a:xfrm>
          <a:prstGeom prst="rect">
            <a:avLst/>
          </a:prstGeom>
          <a:noFill/>
        </p:spPr>
        <p:txBody>
          <a:bodyPr wrap="square" lIns="18288" tIns="18288" rIns="18288" bIns="18288" anchor="ctr">
            <a:spAutoFit/>
          </a:bodyPr>
          <a:lstStyle/>
          <a:p>
            <a:pPr algn="ctr"/>
            <a:r>
              <a:rPr sz="1300" b="1" i="0">
                <a:solidFill>
                  <a:srgbClr val="1D2433"/>
                </a:solidFill>
                <a:latin typeface="Calibri"/>
              </a:rPr>
              <a:t>Ville</a:t>
            </a:r>
          </a:p>
          <a:p>
            <a:pPr algn="ctr"/>
            <a:r>
              <a:rPr sz="1300" b="1" i="0">
                <a:solidFill>
                  <a:srgbClr val="1D2433"/>
                </a:solidFill>
                <a:latin typeface="Calibri"/>
              </a:rPr>
              <a:t>0,1</a:t>
            </a:r>
          </a:p>
        </p:txBody>
      </p:sp>
      <p:cxnSp>
        <p:nvCxnSpPr>
          <p:cNvPr id="29" name="Connector 28"/>
          <p:cNvCxnSpPr/>
          <p:nvPr/>
        </p:nvCxnSpPr>
        <p:spPr>
          <a:xfrm flipV="1">
            <a:off x="10649468" y="2971800"/>
            <a:ext cx="0" cy="548639"/>
          </a:xfrm>
          <a:prstGeom prst="line">
            <a:avLst/>
          </a:prstGeom>
          <a:ln w="31750">
            <a:solidFill>
              <a:srgbClr val="C78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186428" y="3520439"/>
            <a:ext cx="2926080" cy="411480"/>
          </a:xfrm>
          <a:prstGeom prst="rect">
            <a:avLst/>
          </a:prstGeom>
          <a:noFill/>
        </p:spPr>
        <p:txBody>
          <a:bodyPr wrap="square" lIns="18288" tIns="18288" rIns="18288" bIns="18288" anchor="t">
            <a:spAutoFit/>
          </a:bodyPr>
          <a:lstStyle/>
          <a:p>
            <a:pPr algn="ctr"/>
            <a:r>
              <a:rPr sz="1600" b="1" i="0">
                <a:solidFill>
                  <a:srgbClr val="C78400"/>
                </a:solidFill>
                <a:latin typeface="Calibri"/>
              </a:rPr>
              <a:t>seuil de fusion : 0,80</a:t>
            </a:r>
          </a:p>
        </p:txBody>
      </p:sp>
      <p:sp>
        <p:nvSpPr>
          <p:cNvPr id="31" name="Rounded Rectangle 30"/>
          <p:cNvSpPr/>
          <p:nvPr/>
        </p:nvSpPr>
        <p:spPr>
          <a:xfrm>
            <a:off x="6675120" y="4160520"/>
            <a:ext cx="4967935" cy="196596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2" name="TextBox 31"/>
          <p:cNvSpPr txBox="1"/>
          <p:nvPr/>
        </p:nvSpPr>
        <p:spPr>
          <a:xfrm>
            <a:off x="6949440" y="4270248"/>
            <a:ext cx="4419295" cy="320040"/>
          </a:xfrm>
          <a:prstGeom prst="rect">
            <a:avLst/>
          </a:prstGeom>
          <a:noFill/>
        </p:spPr>
        <p:txBody>
          <a:bodyPr wrap="square" lIns="18288" tIns="18288" rIns="18288" bIns="18288" anchor="t">
            <a:spAutoFit/>
          </a:bodyPr>
          <a:lstStyle/>
          <a:p>
            <a:pPr algn="l"/>
            <a:r>
              <a:rPr sz="1200" b="1" i="0">
                <a:solidFill>
                  <a:srgbClr val="2E5597"/>
                </a:solidFill>
                <a:latin typeface="Calibri"/>
              </a:rPr>
              <a:t>EXEMPLE — CAS DE RÉFÉRENCE</a:t>
            </a:r>
          </a:p>
        </p:txBody>
      </p:sp>
      <p:sp>
        <p:nvSpPr>
          <p:cNvPr id="33" name="TextBox 32"/>
          <p:cNvSpPr txBox="1"/>
          <p:nvPr/>
        </p:nvSpPr>
        <p:spPr>
          <a:xfrm>
            <a:off x="6949440" y="4617720"/>
            <a:ext cx="4419295" cy="1463040"/>
          </a:xfrm>
          <a:prstGeom prst="rect">
            <a:avLst/>
          </a:prstGeom>
          <a:noFill/>
        </p:spPr>
        <p:txBody>
          <a:bodyPr wrap="square" lIns="18288" tIns="18288" rIns="18288" bIns="18288" anchor="t">
            <a:spAutoFit/>
          </a:bodyPr>
          <a:lstStyle/>
          <a:p>
            <a:pPr algn="l">
              <a:spcAft>
                <a:spcPts val="600"/>
              </a:spcAft>
            </a:pPr>
            <a:r>
              <a:rPr sz="1500" b="1" i="0">
                <a:solidFill>
                  <a:srgbClr val="1D2433"/>
                </a:solidFill>
                <a:latin typeface="Calibri"/>
              </a:rPr>
              <a:t>Jean Rakoto</a:t>
            </a:r>
            <a:r>
              <a:rPr sz="1500" b="0" i="0">
                <a:solidFill>
                  <a:srgbClr val="1D2433"/>
                </a:solidFill>
                <a:latin typeface="Calibri"/>
              </a:rPr>
              <a:t> : 3 fiches → </a:t>
            </a:r>
            <a:r>
              <a:rPr sz="1500" b="1" i="0">
                <a:solidFill>
                  <a:srgbClr val="1D2433"/>
                </a:solidFill>
                <a:latin typeface="Calibri"/>
              </a:rPr>
              <a:t>PAT-0102</a:t>
            </a:r>
            <a:r>
              <a:rPr sz="1500" b="0" i="0">
                <a:solidFill>
                  <a:srgbClr val="1D2433"/>
                </a:solidFill>
                <a:latin typeface="Calibri"/>
              </a:rPr>
              <a:t>, méthode </a:t>
            </a:r>
            <a:r>
              <a:rPr sz="1500" b="0" i="1">
                <a:solidFill>
                  <a:srgbClr val="1D2433"/>
                </a:solidFill>
                <a:latin typeface="Calibri"/>
              </a:rPr>
              <a:t>exacte</a:t>
            </a:r>
            <a:r>
              <a:rPr sz="1500" b="0" i="0">
                <a:solidFill>
                  <a:srgbClr val="1D2433"/>
                </a:solidFill>
                <a:latin typeface="Calibri"/>
              </a:rPr>
              <a:t> (CIN identique après normalisation)</a:t>
            </a:r>
          </a:p>
          <a:p>
            <a:pPr algn="l">
              <a:spcAft>
                <a:spcPts val="600"/>
              </a:spcAft>
            </a:pPr>
            <a:r>
              <a:rPr sz="1500" b="1" i="0">
                <a:solidFill>
                  <a:srgbClr val="1D2433"/>
                </a:solidFill>
                <a:latin typeface="Calibri"/>
              </a:rPr>
              <a:t>Nirina</a:t>
            </a:r>
            <a:r>
              <a:rPr sz="1500" b="0" i="0">
                <a:solidFill>
                  <a:srgbClr val="1D2433"/>
                </a:solidFill>
                <a:latin typeface="Calibri"/>
              </a:rPr>
              <a:t> : rattachée par méthode </a:t>
            </a:r>
            <a:r>
              <a:rPr sz="1500" b="0" i="1">
                <a:solidFill>
                  <a:srgbClr val="1D2433"/>
                </a:solidFill>
                <a:latin typeface="Calibri"/>
              </a:rPr>
              <a:t>probabiliste</a:t>
            </a:r>
            <a:r>
              <a:rPr sz="1500" b="0" i="0">
                <a:solidFill>
                  <a:srgbClr val="1D2433"/>
                </a:solidFill>
                <a:latin typeface="Calibri"/>
              </a:rPr>
              <a:t>, score ≥ 0,80</a:t>
            </a:r>
          </a:p>
        </p:txBody>
      </p:sp>
    </p:spTree>
    <p:extLst>
      <p:ext uri="{BB962C8B-B14F-4D97-AF65-F5344CB8AC3E}">
        <p14:creationId xmlns:p14="http://schemas.microsoft.com/office/powerpoint/2010/main" val="1650417033"/>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14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FONCTIONNALITÉS PRINCIPALES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Gouvernance : qui demande, pourquoi, et la trace de chaque accès</a:t>
            </a:r>
          </a:p>
        </p:txBody>
      </p:sp>
      <p:sp>
        <p:nvSpPr>
          <p:cNvPr id="10" name="Rounded Rectangle 9"/>
          <p:cNvSpPr/>
          <p:nvPr/>
        </p:nvSpPr>
        <p:spPr>
          <a:xfrm>
            <a:off x="54864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77724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1</a:t>
            </a:r>
          </a:p>
        </p:txBody>
      </p:sp>
      <p:sp>
        <p:nvSpPr>
          <p:cNvPr id="12" name="TextBox 11"/>
          <p:cNvSpPr txBox="1"/>
          <p:nvPr/>
        </p:nvSpPr>
        <p:spPr>
          <a:xfrm>
            <a:off x="150876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Qui ?</a:t>
            </a:r>
          </a:p>
        </p:txBody>
      </p:sp>
      <p:sp>
        <p:nvSpPr>
          <p:cNvPr id="13" name="TextBox 12"/>
          <p:cNvSpPr txBox="1"/>
          <p:nvPr/>
        </p:nvSpPr>
        <p:spPr>
          <a:xfrm>
            <a:off x="822959"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clé d'API → utilisateur → rôle</a:t>
            </a:r>
          </a:p>
        </p:txBody>
      </p:sp>
      <p:sp>
        <p:nvSpPr>
          <p:cNvPr id="14" name="TextBox 13"/>
          <p:cNvSpPr txBox="1"/>
          <p:nvPr/>
        </p:nvSpPr>
        <p:spPr>
          <a:xfrm>
            <a:off x="822959"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401</a:t>
            </a:r>
            <a:r>
              <a:rPr sz="1500" b="0" i="0">
                <a:solidFill>
                  <a:srgbClr val="5B6475"/>
                </a:solidFill>
                <a:latin typeface="Calibri"/>
              </a:rPr>
              <a:t> clé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rôle insuffisant</a:t>
            </a:r>
          </a:p>
        </p:txBody>
      </p:sp>
      <p:sp>
        <p:nvSpPr>
          <p:cNvPr id="15" name="Right Arrow 14"/>
          <p:cNvSpPr/>
          <p:nvPr/>
        </p:nvSpPr>
        <p:spPr>
          <a:xfrm>
            <a:off x="400507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Rounded Rectangle 15"/>
          <p:cNvSpPr/>
          <p:nvPr/>
        </p:nvSpPr>
        <p:spPr>
          <a:xfrm>
            <a:off x="438912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Oval 16"/>
          <p:cNvSpPr/>
          <p:nvPr/>
        </p:nvSpPr>
        <p:spPr>
          <a:xfrm>
            <a:off x="461772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2</a:t>
            </a:r>
          </a:p>
        </p:txBody>
      </p:sp>
      <p:sp>
        <p:nvSpPr>
          <p:cNvPr id="18" name="TextBox 17"/>
          <p:cNvSpPr txBox="1"/>
          <p:nvPr/>
        </p:nvSpPr>
        <p:spPr>
          <a:xfrm>
            <a:off x="534924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Pourquoi ?</a:t>
            </a:r>
          </a:p>
        </p:txBody>
      </p:sp>
      <p:sp>
        <p:nvSpPr>
          <p:cNvPr id="19" name="TextBox 18"/>
          <p:cNvSpPr txBox="1"/>
          <p:nvPr/>
        </p:nvSpPr>
        <p:spPr>
          <a:xfrm>
            <a:off x="466344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finalité déclarée → consentement du patient</a:t>
            </a:r>
          </a:p>
        </p:txBody>
      </p:sp>
      <p:sp>
        <p:nvSpPr>
          <p:cNvPr id="20" name="TextBox 19"/>
          <p:cNvSpPr txBox="1"/>
          <p:nvPr/>
        </p:nvSpPr>
        <p:spPr>
          <a:xfrm>
            <a:off x="466344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1" i="0">
                <a:solidFill>
                  <a:srgbClr val="5B6475"/>
                </a:solidFill>
                <a:latin typeface="Calibri"/>
              </a:rPr>
              <a:t>422</a:t>
            </a:r>
            <a:r>
              <a:rPr sz="1500" b="0" i="0">
                <a:solidFill>
                  <a:srgbClr val="5B6475"/>
                </a:solidFill>
                <a:latin typeface="Calibri"/>
              </a:rPr>
              <a:t> finalité absente ou inconnue</a:t>
            </a:r>
          </a:p>
          <a:p>
            <a:pPr marL="228600" indent="-201168" algn="l">
              <a:spcAft>
                <a:spcPts val="300"/>
              </a:spcAft>
              <a:buClr>
                <a:srgbClr val="2E5597"/>
              </a:buClr>
              <a:buChar char="•"/>
            </a:pPr>
            <a:r>
              <a:rPr sz="1500" b="1" i="0">
                <a:solidFill>
                  <a:srgbClr val="5B6475"/>
                </a:solidFill>
                <a:latin typeface="Calibri"/>
              </a:rPr>
              <a:t>403</a:t>
            </a:r>
            <a:r>
              <a:rPr sz="1500" b="0" i="0">
                <a:solidFill>
                  <a:srgbClr val="5B6475"/>
                </a:solidFill>
                <a:latin typeface="Calibri"/>
              </a:rPr>
              <a:t> finalité non consentie</a:t>
            </a:r>
          </a:p>
        </p:txBody>
      </p:sp>
      <p:sp>
        <p:nvSpPr>
          <p:cNvPr id="21" name="Right Arrow 20"/>
          <p:cNvSpPr/>
          <p:nvPr/>
        </p:nvSpPr>
        <p:spPr>
          <a:xfrm>
            <a:off x="7845552" y="2560320"/>
            <a:ext cx="310896" cy="50292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2" name="Rounded Rectangle 21"/>
          <p:cNvSpPr/>
          <p:nvPr/>
        </p:nvSpPr>
        <p:spPr>
          <a:xfrm>
            <a:off x="8229600" y="1554480"/>
            <a:ext cx="3383280" cy="25146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3" name="Oval 22"/>
          <p:cNvSpPr/>
          <p:nvPr/>
        </p:nvSpPr>
        <p:spPr>
          <a:xfrm>
            <a:off x="8458200" y="1737360"/>
            <a:ext cx="566928" cy="566928"/>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700" b="1" i="0">
                <a:solidFill>
                  <a:srgbClr val="FFFFFF"/>
                </a:solidFill>
                <a:latin typeface="Calibri"/>
              </a:rPr>
              <a:t>3</a:t>
            </a:r>
          </a:p>
        </p:txBody>
      </p:sp>
      <p:sp>
        <p:nvSpPr>
          <p:cNvPr id="24" name="TextBox 23"/>
          <p:cNvSpPr txBox="1"/>
          <p:nvPr/>
        </p:nvSpPr>
        <p:spPr>
          <a:xfrm>
            <a:off x="9189720" y="1737360"/>
            <a:ext cx="2286000" cy="548640"/>
          </a:xfrm>
          <a:prstGeom prst="rect">
            <a:avLst/>
          </a:prstGeom>
          <a:noFill/>
        </p:spPr>
        <p:txBody>
          <a:bodyPr wrap="square" lIns="18288" tIns="18288" rIns="18288" bIns="18288" anchor="ctr">
            <a:spAutoFit/>
          </a:bodyPr>
          <a:lstStyle/>
          <a:p>
            <a:pPr algn="l"/>
            <a:r>
              <a:rPr sz="2400" b="1" i="0">
                <a:solidFill>
                  <a:srgbClr val="1F3864"/>
                </a:solidFill>
                <a:latin typeface="Calibri"/>
              </a:rPr>
              <a:t>Trace</a:t>
            </a:r>
          </a:p>
        </p:txBody>
      </p:sp>
      <p:sp>
        <p:nvSpPr>
          <p:cNvPr id="25" name="TextBox 24"/>
          <p:cNvSpPr txBox="1"/>
          <p:nvPr/>
        </p:nvSpPr>
        <p:spPr>
          <a:xfrm>
            <a:off x="8503920" y="2423160"/>
            <a:ext cx="2834640" cy="548640"/>
          </a:xfrm>
          <a:prstGeom prst="rect">
            <a:avLst/>
          </a:prstGeom>
          <a:noFill/>
        </p:spPr>
        <p:txBody>
          <a:bodyPr wrap="square" lIns="18288" tIns="18288" rIns="18288" bIns="18288" anchor="t">
            <a:spAutoFit/>
          </a:bodyPr>
          <a:lstStyle/>
          <a:p>
            <a:pPr algn="l"/>
            <a:r>
              <a:rPr sz="1500" b="0" i="0">
                <a:solidFill>
                  <a:srgbClr val="1D2433"/>
                </a:solidFill>
                <a:latin typeface="Calibri"/>
              </a:rPr>
              <a:t>chaque appel journalisé</a:t>
            </a:r>
          </a:p>
        </p:txBody>
      </p:sp>
      <p:sp>
        <p:nvSpPr>
          <p:cNvPr id="26" name="TextBox 25"/>
          <p:cNvSpPr txBox="1"/>
          <p:nvPr/>
        </p:nvSpPr>
        <p:spPr>
          <a:xfrm>
            <a:off x="8503920" y="3017520"/>
            <a:ext cx="2834640" cy="1005840"/>
          </a:xfrm>
          <a:prstGeom prst="rect">
            <a:avLst/>
          </a:prstGeom>
          <a:noFill/>
        </p:spPr>
        <p:txBody>
          <a:bodyPr wrap="square" lIns="18288" tIns="18288" rIns="18288" bIns="18288" anchor="t">
            <a:spAutoFit/>
          </a:bodyPr>
          <a:lstStyle/>
          <a:p>
            <a:pPr marL="228600" indent="-201168" algn="l">
              <a:spcAft>
                <a:spcPts val="300"/>
              </a:spcAft>
              <a:buClr>
                <a:srgbClr val="2E5597"/>
              </a:buClr>
              <a:buChar char="•"/>
            </a:pPr>
            <a:r>
              <a:rPr sz="1500" b="0" i="0">
                <a:solidFill>
                  <a:srgbClr val="5B6475"/>
                </a:solidFill>
                <a:latin typeface="Calibri"/>
              </a:rPr>
              <a:t>finalité demandée</a:t>
            </a:r>
          </a:p>
          <a:p>
            <a:pPr marL="228600" indent="-201168" algn="l">
              <a:spcAft>
                <a:spcPts val="300"/>
              </a:spcAft>
              <a:buClr>
                <a:srgbClr val="2E5597"/>
              </a:buClr>
              <a:buChar char="•"/>
            </a:pPr>
            <a:r>
              <a:rPr sz="1500" b="0" i="0">
                <a:solidFill>
                  <a:srgbClr val="5B6475"/>
                </a:solidFill>
                <a:latin typeface="Calibri"/>
              </a:rPr>
              <a:t>motif du refus</a:t>
            </a:r>
          </a:p>
        </p:txBody>
      </p:sp>
      <p:sp>
        <p:nvSpPr>
          <p:cNvPr id="27" name="Rounded Rectangle 26"/>
          <p:cNvSpPr/>
          <p:nvPr/>
        </p:nvSpPr>
        <p:spPr>
          <a:xfrm>
            <a:off x="548640" y="4343400"/>
            <a:ext cx="11094415" cy="17830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8" name="TextBox 27"/>
          <p:cNvSpPr txBox="1"/>
          <p:nvPr/>
        </p:nvSpPr>
        <p:spPr>
          <a:xfrm>
            <a:off x="868680" y="4480560"/>
            <a:ext cx="5486400" cy="320040"/>
          </a:xfrm>
          <a:prstGeom prst="rect">
            <a:avLst/>
          </a:prstGeom>
          <a:noFill/>
        </p:spPr>
        <p:txBody>
          <a:bodyPr wrap="square" lIns="18288" tIns="18288" rIns="18288" bIns="18288" anchor="t">
            <a:spAutoFit/>
          </a:bodyPr>
          <a:lstStyle/>
          <a:p>
            <a:pPr algn="l"/>
            <a:r>
              <a:rPr sz="1200" b="1" i="0">
                <a:solidFill>
                  <a:srgbClr val="C78400"/>
                </a:solidFill>
                <a:latin typeface="Calibri"/>
              </a:rPr>
              <a:t>EXEMPLE DE REFUS</a:t>
            </a:r>
          </a:p>
        </p:txBody>
      </p:sp>
      <p:sp>
        <p:nvSpPr>
          <p:cNvPr id="29" name="TextBox 28"/>
          <p:cNvSpPr txBox="1"/>
          <p:nvPr/>
        </p:nvSpPr>
        <p:spPr>
          <a:xfrm>
            <a:off x="868680" y="4818888"/>
            <a:ext cx="10454335" cy="1234440"/>
          </a:xfrm>
          <a:prstGeom prst="rect">
            <a:avLst/>
          </a:prstGeom>
          <a:noFill/>
        </p:spPr>
        <p:txBody>
          <a:bodyPr wrap="square" lIns="18288" tIns="18288" rIns="18288" bIns="18288" anchor="t">
            <a:spAutoFit/>
          </a:bodyPr>
          <a:lstStyle/>
          <a:p>
            <a:pPr algn="l">
              <a:spcAft>
                <a:spcPts val="400"/>
              </a:spcAft>
            </a:pPr>
            <a:r>
              <a:rPr sz="1600" b="0" i="0">
                <a:solidFill>
                  <a:srgbClr val="FFFFFF"/>
                </a:solidFill>
                <a:latin typeface="Consolas"/>
              </a:rPr>
              <a:t>GET /patients/PAT-0102?purpose=analytics</a:t>
            </a:r>
          </a:p>
          <a:p>
            <a:pPr algn="l">
              <a:spcAft>
                <a:spcPts val="400"/>
              </a:spcAft>
            </a:pPr>
            <a:r>
              <a:rPr sz="1600" b="0" i="0">
                <a:solidFill>
                  <a:srgbClr val="FFFFFF"/>
                </a:solidFill>
                <a:latin typeface="Consolas"/>
              </a:rPr>
              <a:t>→ 403  « consentement non accorde pour la finalite analytics »</a:t>
            </a:r>
          </a:p>
          <a:p>
            <a:pPr algn="l">
              <a:spcAft>
                <a:spcPts val="400"/>
              </a:spcAft>
            </a:pPr>
            <a:r>
              <a:rPr sz="1600" b="0" i="0">
                <a:solidFill>
                  <a:srgbClr val="FFFFFF"/>
                </a:solidFill>
                <a:latin typeface="Consolas"/>
              </a:rPr>
              <a:t>→ access_audit : purpose = analytics · refusal_reason enregistré</a:t>
            </a:r>
          </a:p>
        </p:txBody>
      </p:sp>
    </p:spTree>
    <p:extLst>
      <p:ext uri="{BB962C8B-B14F-4D97-AF65-F5344CB8AC3E}">
        <p14:creationId xmlns:p14="http://schemas.microsoft.com/office/powerpoint/2010/main" val="1300378795"/>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15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Sur le jeu de démonstration : 214 fiches ramenées à 145 patients</a:t>
            </a:r>
          </a:p>
        </p:txBody>
      </p:sp>
      <p:sp>
        <p:nvSpPr>
          <p:cNvPr id="10" name="Rounded Rectangle 9"/>
          <p:cNvSpPr/>
          <p:nvPr/>
        </p:nvSpPr>
        <p:spPr>
          <a:xfrm>
            <a:off x="548640" y="1600200"/>
            <a:ext cx="3017520" cy="210312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640080" y="1709928"/>
            <a:ext cx="2834639" cy="777240"/>
          </a:xfrm>
          <a:prstGeom prst="rect">
            <a:avLst/>
          </a:prstGeom>
          <a:noFill/>
        </p:spPr>
        <p:txBody>
          <a:bodyPr wrap="square" lIns="18288" tIns="18288" rIns="18288" bIns="18288" anchor="ctr">
            <a:spAutoFit/>
          </a:bodyPr>
          <a:lstStyle/>
          <a:p>
            <a:pPr algn="ctr"/>
            <a:r>
              <a:rPr sz="6000" b="1" i="0">
                <a:solidFill>
                  <a:srgbClr val="1F3864"/>
                </a:solidFill>
                <a:latin typeface="Calibri"/>
              </a:rPr>
              <a:t>214</a:t>
            </a:r>
          </a:p>
        </p:txBody>
      </p:sp>
      <p:sp>
        <p:nvSpPr>
          <p:cNvPr id="12" name="TextBox 11"/>
          <p:cNvSpPr txBox="1"/>
          <p:nvPr/>
        </p:nvSpPr>
        <p:spPr>
          <a:xfrm>
            <a:off x="685800" y="2496312"/>
            <a:ext cx="2743200" cy="1142999"/>
          </a:xfrm>
          <a:prstGeom prst="rect">
            <a:avLst/>
          </a:prstGeom>
          <a:noFill/>
        </p:spPr>
        <p:txBody>
          <a:bodyPr wrap="square" lIns="18288" tIns="18288" rIns="18288" bIns="18288" anchor="t">
            <a:spAutoFit/>
          </a:bodyPr>
          <a:lstStyle/>
          <a:p>
            <a:pPr algn="ctr"/>
            <a:r>
              <a:rPr sz="1500" b="0" i="0">
                <a:solidFill>
                  <a:srgbClr val="5B6475"/>
                </a:solidFill>
                <a:latin typeface="Calibri"/>
              </a:rPr>
              <a:t>fiches dans la zone SILVER
(76 + 76 + 62)</a:t>
            </a:r>
          </a:p>
        </p:txBody>
      </p:sp>
      <p:sp>
        <p:nvSpPr>
          <p:cNvPr id="13" name="Right Arrow 12"/>
          <p:cNvSpPr/>
          <p:nvPr/>
        </p:nvSpPr>
        <p:spPr>
          <a:xfrm>
            <a:off x="3703320" y="2331720"/>
            <a:ext cx="731520" cy="640080"/>
          </a:xfrm>
          <a:prstGeom prst="rightArrow">
            <a:avLst/>
          </a:prstGeom>
          <a:solidFill>
            <a:srgbClr val="C78400"/>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Rounded Rectangle 13"/>
          <p:cNvSpPr/>
          <p:nvPr/>
        </p:nvSpPr>
        <p:spPr>
          <a:xfrm>
            <a:off x="4572000" y="1600200"/>
            <a:ext cx="3017520" cy="21031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4663440" y="1709928"/>
            <a:ext cx="2834639" cy="777240"/>
          </a:xfrm>
          <a:prstGeom prst="rect">
            <a:avLst/>
          </a:prstGeom>
          <a:noFill/>
        </p:spPr>
        <p:txBody>
          <a:bodyPr wrap="square" lIns="18288" tIns="18288" rIns="18288" bIns="18288" anchor="ctr">
            <a:spAutoFit/>
          </a:bodyPr>
          <a:lstStyle/>
          <a:p>
            <a:pPr algn="ctr"/>
            <a:r>
              <a:rPr sz="6000" b="1" i="0">
                <a:solidFill>
                  <a:srgbClr val="FFFFFF"/>
                </a:solidFill>
                <a:latin typeface="Calibri"/>
              </a:rPr>
              <a:t>145</a:t>
            </a:r>
          </a:p>
        </p:txBody>
      </p:sp>
      <p:sp>
        <p:nvSpPr>
          <p:cNvPr id="16" name="TextBox 15"/>
          <p:cNvSpPr txBox="1"/>
          <p:nvPr/>
        </p:nvSpPr>
        <p:spPr>
          <a:xfrm>
            <a:off x="4709160" y="2496312"/>
            <a:ext cx="2743200" cy="1142999"/>
          </a:xfrm>
          <a:prstGeom prst="rect">
            <a:avLst/>
          </a:prstGeom>
          <a:noFill/>
        </p:spPr>
        <p:txBody>
          <a:bodyPr wrap="square" lIns="18288" tIns="18288" rIns="18288" bIns="18288" anchor="t">
            <a:spAutoFit/>
          </a:bodyPr>
          <a:lstStyle/>
          <a:p>
            <a:pPr algn="ctr"/>
            <a:r>
              <a:rPr sz="1500" b="0" i="0">
                <a:solidFill>
                  <a:srgbClr val="E2E9F3"/>
                </a:solidFill>
                <a:latin typeface="Calibri"/>
              </a:rPr>
              <a:t>patients maîtres distincts</a:t>
            </a:r>
          </a:p>
        </p:txBody>
      </p:sp>
      <p:sp>
        <p:nvSpPr>
          <p:cNvPr id="17" name="Rounded Rectangle 16"/>
          <p:cNvSpPr/>
          <p:nvPr/>
        </p:nvSpPr>
        <p:spPr>
          <a:xfrm>
            <a:off x="7955279" y="160020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8" name="TextBox 17"/>
          <p:cNvSpPr txBox="1"/>
          <p:nvPr/>
        </p:nvSpPr>
        <p:spPr>
          <a:xfrm>
            <a:off x="8046719" y="170992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69</a:t>
            </a:r>
          </a:p>
        </p:txBody>
      </p:sp>
      <p:sp>
        <p:nvSpPr>
          <p:cNvPr id="19" name="TextBox 18"/>
          <p:cNvSpPr txBox="1"/>
          <p:nvPr/>
        </p:nvSpPr>
        <p:spPr>
          <a:xfrm>
            <a:off x="8092440" y="249631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doublons rattachés</a:t>
            </a:r>
          </a:p>
        </p:txBody>
      </p:sp>
      <p:sp>
        <p:nvSpPr>
          <p:cNvPr id="20" name="Rounded Rectangle 19"/>
          <p:cNvSpPr/>
          <p:nvPr/>
        </p:nvSpPr>
        <p:spPr>
          <a:xfrm>
            <a:off x="7955279" y="2697480"/>
            <a:ext cx="3687775" cy="100584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TextBox 20"/>
          <p:cNvSpPr txBox="1"/>
          <p:nvPr/>
        </p:nvSpPr>
        <p:spPr>
          <a:xfrm>
            <a:off x="8046719" y="2807208"/>
            <a:ext cx="3504895" cy="777240"/>
          </a:xfrm>
          <a:prstGeom prst="rect">
            <a:avLst/>
          </a:prstGeom>
          <a:noFill/>
        </p:spPr>
        <p:txBody>
          <a:bodyPr wrap="square" lIns="18288" tIns="18288" rIns="18288" bIns="18288" anchor="ctr">
            <a:spAutoFit/>
          </a:bodyPr>
          <a:lstStyle/>
          <a:p>
            <a:pPr algn="ctr"/>
            <a:r>
              <a:rPr sz="3000" b="1" i="0">
                <a:solidFill>
                  <a:srgbClr val="1F3864"/>
                </a:solidFill>
                <a:latin typeface="Calibri"/>
              </a:rPr>
              <a:t>32,24 %</a:t>
            </a:r>
          </a:p>
        </p:txBody>
      </p:sp>
      <p:sp>
        <p:nvSpPr>
          <p:cNvPr id="22" name="TextBox 21"/>
          <p:cNvSpPr txBox="1"/>
          <p:nvPr/>
        </p:nvSpPr>
        <p:spPr>
          <a:xfrm>
            <a:off x="8092440" y="3593592"/>
            <a:ext cx="3413455" cy="45720"/>
          </a:xfrm>
          <a:prstGeom prst="rect">
            <a:avLst/>
          </a:prstGeom>
          <a:noFill/>
        </p:spPr>
        <p:txBody>
          <a:bodyPr wrap="square" lIns="18288" tIns="18288" rIns="18288" bIns="18288" anchor="t">
            <a:spAutoFit/>
          </a:bodyPr>
          <a:lstStyle/>
          <a:p>
            <a:pPr algn="ctr"/>
            <a:r>
              <a:rPr sz="1300" b="0" i="0">
                <a:solidFill>
                  <a:srgbClr val="5B6475"/>
                </a:solidFill>
                <a:latin typeface="Calibri"/>
              </a:rPr>
              <a:t>taux de doublons</a:t>
            </a:r>
          </a:p>
        </p:txBody>
      </p:sp>
      <p:sp>
        <p:nvSpPr>
          <p:cNvPr id="23" name="TextBox 22"/>
          <p:cNvSpPr txBox="1"/>
          <p:nvPr/>
        </p:nvSpPr>
        <p:spPr>
          <a:xfrm>
            <a:off x="548640" y="41148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214 − 69 = 145</a:t>
            </a:r>
          </a:p>
        </p:txBody>
      </p:sp>
      <p:sp>
        <p:nvSpPr>
          <p:cNvPr id="24" name="TextBox 23"/>
          <p:cNvSpPr txBox="1"/>
          <p:nvPr/>
        </p:nvSpPr>
        <p:spPr>
          <a:xfrm>
            <a:off x="3657600" y="41148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cohérence vérifiée par comptage sur le lac</a:t>
            </a:r>
          </a:p>
        </p:txBody>
      </p:sp>
      <p:sp>
        <p:nvSpPr>
          <p:cNvPr id="25" name="TextBox 24"/>
          <p:cNvSpPr txBox="1"/>
          <p:nvPr/>
        </p:nvSpPr>
        <p:spPr>
          <a:xfrm>
            <a:off x="548640" y="48006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4 / 4</a:t>
            </a:r>
          </a:p>
        </p:txBody>
      </p:sp>
      <p:sp>
        <p:nvSpPr>
          <p:cNvPr id="26" name="TextBox 25"/>
          <p:cNvSpPr txBox="1"/>
          <p:nvPr/>
        </p:nvSpPr>
        <p:spPr>
          <a:xfrm>
            <a:off x="3657600" y="48006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étapes du pipeline réussies (run du 07/09/2026)</a:t>
            </a:r>
          </a:p>
        </p:txBody>
      </p:sp>
      <p:sp>
        <p:nvSpPr>
          <p:cNvPr id="27" name="TextBox 26"/>
          <p:cNvSpPr txBox="1"/>
          <p:nvPr/>
        </p:nvSpPr>
        <p:spPr>
          <a:xfrm>
            <a:off x="548640" y="5486400"/>
            <a:ext cx="3017520" cy="594360"/>
          </a:xfrm>
          <a:prstGeom prst="rect">
            <a:avLst/>
          </a:prstGeom>
          <a:noFill/>
        </p:spPr>
        <p:txBody>
          <a:bodyPr wrap="square" lIns="18288" tIns="18288" rIns="18288" bIns="18288" anchor="ctr">
            <a:spAutoFit/>
          </a:bodyPr>
          <a:lstStyle/>
          <a:p>
            <a:pPr algn="l"/>
            <a:r>
              <a:rPr sz="2200" b="1" i="0">
                <a:solidFill>
                  <a:srgbClr val="1F3864"/>
                </a:solidFill>
                <a:latin typeface="Calibri"/>
              </a:rPr>
              <a:t>102 / 102</a:t>
            </a:r>
          </a:p>
        </p:txBody>
      </p:sp>
      <p:sp>
        <p:nvSpPr>
          <p:cNvPr id="28" name="TextBox 27"/>
          <p:cNvSpPr txBox="1"/>
          <p:nvPr/>
        </p:nvSpPr>
        <p:spPr>
          <a:xfrm>
            <a:off x="3657600" y="5486400"/>
            <a:ext cx="7985455" cy="594360"/>
          </a:xfrm>
          <a:prstGeom prst="rect">
            <a:avLst/>
          </a:prstGeom>
          <a:noFill/>
        </p:spPr>
        <p:txBody>
          <a:bodyPr wrap="square" lIns="18288" tIns="18288" rIns="18288" bIns="18288" anchor="ctr">
            <a:spAutoFit/>
          </a:bodyPr>
          <a:lstStyle/>
          <a:p>
            <a:pPr algn="l"/>
            <a:r>
              <a:rPr sz="1600" b="0" i="0">
                <a:solidFill>
                  <a:srgbClr val="1D2433"/>
                </a:solidFill>
                <a:latin typeface="Calibri"/>
              </a:rPr>
              <a:t>tests automatisés réussis (moteur, gouvernance, planification)</a:t>
            </a:r>
          </a:p>
        </p:txBody>
      </p:sp>
      <p:sp>
        <p:nvSpPr>
          <p:cNvPr id="29" name="TextBox 28"/>
          <p:cNvSpPr txBox="1"/>
          <p:nvPr/>
        </p:nvSpPr>
        <p:spPr>
          <a:xfrm>
            <a:off x="548640" y="6126480"/>
            <a:ext cx="11094415" cy="274320"/>
          </a:xfrm>
          <a:prstGeom prst="rect">
            <a:avLst/>
          </a:prstGeom>
          <a:noFill/>
        </p:spPr>
        <p:txBody>
          <a:bodyPr wrap="square" lIns="18288" tIns="18288" rIns="18288" bIns="18288" anchor="t">
            <a:spAutoFit/>
          </a:bodyPr>
          <a:lstStyle/>
          <a:p>
            <a:pPr algn="l"/>
            <a:r>
              <a:rPr sz="1200" b="0" i="1">
                <a:solidFill>
                  <a:srgbClr val="5B6475"/>
                </a:solidFill>
                <a:latin typeface="Calibri"/>
              </a:rPr>
              <a:t>Sources CSV synthétiques (graine 42) — aucune donnée réelle.</a:t>
            </a:r>
          </a:p>
        </p:txBody>
      </p:sp>
    </p:spTree>
    <p:extLst>
      <p:ext uri="{BB962C8B-B14F-4D97-AF65-F5344CB8AC3E}">
        <p14:creationId xmlns:p14="http://schemas.microsoft.com/office/powerpoint/2010/main" val="2658253395"/>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16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CAS D'UTILISATION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Évaluation sur vérité terrain : zéro fusion à tort</a:t>
            </a:r>
          </a:p>
        </p:txBody>
      </p:sp>
      <p:graphicFrame>
        <p:nvGraphicFramePr>
          <p:cNvPr id="10" name="Chart 9"/>
          <p:cNvGraphicFramePr>
            <a:graphicFrameLocks noGrp="1"/>
          </p:cNvGraphicFramePr>
          <p:nvPr/>
        </p:nvGraphicFramePr>
        <p:xfrm>
          <a:off x="548640" y="1463040"/>
          <a:ext cx="6949440" cy="4754880"/>
        </p:xfrm>
        <a:graphic>
          <a:graphicData uri="http://schemas.openxmlformats.org/drawingml/2006/chart">
            <c:chart xmlns:c="http://schemas.openxmlformats.org/drawingml/2006/chart" xmlns:r="http://schemas.openxmlformats.org/officeDocument/2006/relationships" r:id="rId7"/>
          </a:graphicData>
        </a:graphic>
      </p:graphicFrame>
      <p:sp>
        <p:nvSpPr>
          <p:cNvPr id="11" name="Rounded Rectangle 10"/>
          <p:cNvSpPr/>
          <p:nvPr/>
        </p:nvSpPr>
        <p:spPr>
          <a:xfrm>
            <a:off x="7863840" y="1554480"/>
            <a:ext cx="3779215" cy="155448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2" name="TextBox 11"/>
          <p:cNvSpPr txBox="1"/>
          <p:nvPr/>
        </p:nvSpPr>
        <p:spPr>
          <a:xfrm>
            <a:off x="7955279" y="1664207"/>
            <a:ext cx="3596335" cy="777240"/>
          </a:xfrm>
          <a:prstGeom prst="rect">
            <a:avLst/>
          </a:prstGeom>
          <a:noFill/>
        </p:spPr>
        <p:txBody>
          <a:bodyPr wrap="square" lIns="18288" tIns="18288" rIns="18288" bIns="18288" anchor="ctr">
            <a:spAutoFit/>
          </a:bodyPr>
          <a:lstStyle/>
          <a:p>
            <a:pPr algn="ctr"/>
            <a:r>
              <a:rPr sz="5400" b="1" i="0">
                <a:solidFill>
                  <a:srgbClr val="FFFFFF"/>
                </a:solidFill>
                <a:latin typeface="Calibri"/>
              </a:rPr>
              <a:t>0</a:t>
            </a:r>
          </a:p>
        </p:txBody>
      </p:sp>
      <p:sp>
        <p:nvSpPr>
          <p:cNvPr id="13" name="TextBox 12"/>
          <p:cNvSpPr txBox="1"/>
          <p:nvPr/>
        </p:nvSpPr>
        <p:spPr>
          <a:xfrm>
            <a:off x="8001000" y="2450591"/>
            <a:ext cx="3504895" cy="594359"/>
          </a:xfrm>
          <a:prstGeom prst="rect">
            <a:avLst/>
          </a:prstGeom>
          <a:noFill/>
        </p:spPr>
        <p:txBody>
          <a:bodyPr wrap="square" lIns="18288" tIns="18288" rIns="18288" bIns="18288" anchor="t">
            <a:spAutoFit/>
          </a:bodyPr>
          <a:lstStyle/>
          <a:p>
            <a:pPr algn="ctr"/>
            <a:r>
              <a:rPr sz="1500" b="0" i="0">
                <a:solidFill>
                  <a:srgbClr val="E2E9F3"/>
                </a:solidFill>
                <a:latin typeface="Calibri"/>
              </a:rPr>
              <a:t>faux positif sur les trois niveaux</a:t>
            </a:r>
          </a:p>
        </p:txBody>
      </p:sp>
      <p:sp>
        <p:nvSpPr>
          <p:cNvPr id="14" name="Rounded Rectangle 13"/>
          <p:cNvSpPr/>
          <p:nvPr/>
        </p:nvSpPr>
        <p:spPr>
          <a:xfrm>
            <a:off x="7863840" y="3291839"/>
            <a:ext cx="3779215" cy="132588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5" name="TextBox 14"/>
          <p:cNvSpPr txBox="1"/>
          <p:nvPr/>
        </p:nvSpPr>
        <p:spPr>
          <a:xfrm>
            <a:off x="8092440" y="3383280"/>
            <a:ext cx="3322015" cy="118872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Parité Pandas = Spark</a:t>
            </a:r>
          </a:p>
          <a:p>
            <a:pPr algn="l">
              <a:spcAft>
                <a:spcPts val="400"/>
              </a:spcAft>
            </a:pPr>
            <a:r>
              <a:rPr sz="1500" b="0" i="0">
                <a:solidFill>
                  <a:srgbClr val="1D2433"/>
                </a:solidFill>
                <a:latin typeface="Calibri"/>
              </a:rPr>
              <a:t>VP 307 · FP 0 · FN 420 dans les deux implémentations</a:t>
            </a:r>
          </a:p>
        </p:txBody>
      </p:sp>
      <p:sp>
        <p:nvSpPr>
          <p:cNvPr id="16" name="Rounded Rectangle 15"/>
          <p:cNvSpPr/>
          <p:nvPr/>
        </p:nvSpPr>
        <p:spPr>
          <a:xfrm>
            <a:off x="7863840" y="4800600"/>
            <a:ext cx="3779215" cy="141732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7" name="TextBox 16"/>
          <p:cNvSpPr txBox="1"/>
          <p:nvPr/>
        </p:nvSpPr>
        <p:spPr>
          <a:xfrm>
            <a:off x="8092440" y="4892040"/>
            <a:ext cx="3322015" cy="1280160"/>
          </a:xfrm>
          <a:prstGeom prst="rect">
            <a:avLst/>
          </a:prstGeom>
          <a:noFill/>
        </p:spPr>
        <p:txBody>
          <a:bodyPr wrap="square" lIns="18288" tIns="18288" rIns="18288" bIns="18288" anchor="t">
            <a:spAutoFit/>
          </a:bodyPr>
          <a:lstStyle/>
          <a:p>
            <a:pPr algn="l">
              <a:spcAft>
                <a:spcPts val="400"/>
              </a:spcAft>
            </a:pPr>
            <a:r>
              <a:rPr sz="1500" b="1" i="0">
                <a:solidFill>
                  <a:srgbClr val="1D2433"/>
                </a:solidFill>
                <a:latin typeface="Calibri"/>
              </a:rPr>
              <a:t>Rappel difficile : 0,287 → 0,422</a:t>
            </a:r>
          </a:p>
          <a:p>
            <a:pPr algn="l">
              <a:spcAft>
                <a:spcPts val="400"/>
              </a:spcAft>
            </a:pPr>
            <a:r>
              <a:rPr sz="1500" b="0" i="0">
                <a:solidFill>
                  <a:srgbClr val="1D2433"/>
                </a:solidFill>
                <a:latin typeface="Calibri"/>
              </a:rPr>
              <a:t>grâce au CIN dans la clé exacte, sans aucun faux positif</a:t>
            </a:r>
          </a:p>
        </p:txBody>
      </p:sp>
    </p:spTree>
    <p:extLst>
      <p:ext uri="{BB962C8B-B14F-4D97-AF65-F5344CB8AC3E}">
        <p14:creationId xmlns:p14="http://schemas.microsoft.com/office/powerpoint/2010/main" val="2361799728"/>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17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DÉMONSTRATION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Démonstration : la chaîne de bout en bout</a:t>
            </a:r>
          </a:p>
        </p:txBody>
      </p:sp>
      <p:sp>
        <p:nvSpPr>
          <p:cNvPr id="10" name="Rounded Rectangle 9"/>
          <p:cNvSpPr/>
          <p:nvPr/>
        </p:nvSpPr>
        <p:spPr>
          <a:xfrm>
            <a:off x="548640" y="1554480"/>
            <a:ext cx="6766560" cy="4480560"/>
          </a:xfrm>
          <a:prstGeom prst="roundRect">
            <a:avLst>
              <a:gd name="adj" fmla="val 8000"/>
            </a:avLst>
          </a:prstGeom>
          <a:solidFill>
            <a:srgbClr val="F1F4F9"/>
          </a:solidFill>
          <a:ln w="15875">
            <a:solidFill>
              <a:srgbClr val="8EAADB"/>
            </a:solidFill>
            <a:prstDash val="dash"/>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3429000" y="2788920"/>
            <a:ext cx="1005840" cy="10058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i="0">
                <a:solidFill>
                  <a:srgbClr val="FFFFFF"/>
                </a:solidFill>
                <a:latin typeface="Calibri"/>
              </a:rPr>
              <a:t>▶</a:t>
            </a:r>
          </a:p>
        </p:txBody>
      </p:sp>
      <p:sp>
        <p:nvSpPr>
          <p:cNvPr id="12" name="TextBox 11"/>
          <p:cNvSpPr txBox="1"/>
          <p:nvPr/>
        </p:nvSpPr>
        <p:spPr>
          <a:xfrm>
            <a:off x="914400" y="4023360"/>
            <a:ext cx="6035040" cy="1463040"/>
          </a:xfrm>
          <a:prstGeom prst="rect">
            <a:avLst/>
          </a:prstGeom>
          <a:noFill/>
        </p:spPr>
        <p:txBody>
          <a:bodyPr wrap="square" lIns="18288" tIns="18288" rIns="18288" bIns="18288" anchor="t">
            <a:spAutoFit/>
          </a:bodyPr>
          <a:lstStyle/>
          <a:p>
            <a:pPr algn="ctr">
              <a:spcAft>
                <a:spcPts val="400"/>
              </a:spcAft>
            </a:pPr>
            <a:r>
              <a:rPr sz="1500" b="1" i="0">
                <a:solidFill>
                  <a:srgbClr val="5B6475"/>
                </a:solidFill>
                <a:latin typeface="Calibri"/>
              </a:rPr>
              <a:t>Vidéo de démonstration — 3 min 30</a:t>
            </a:r>
          </a:p>
          <a:p>
            <a:pPr algn="ctr">
              <a:spcAft>
                <a:spcPts val="400"/>
              </a:spcAft>
            </a:pPr>
            <a:r>
              <a:rPr sz="1500" b="0" i="0">
                <a:solidFill>
                  <a:srgbClr val="5B6475"/>
                </a:solidFill>
                <a:latin typeface="Calibri"/>
              </a:rPr>
              <a:t>Emplacement réservé : insérer la vidéo ici,</a:t>
            </a:r>
          </a:p>
          <a:p>
            <a:pPr algn="ctr">
              <a:spcAft>
                <a:spcPts val="400"/>
              </a:spcAft>
            </a:pPr>
            <a:r>
              <a:rPr sz="1500" b="0" i="0">
                <a:solidFill>
                  <a:srgbClr val="5B6475"/>
                </a:solidFill>
                <a:latin typeface="Calibri"/>
              </a:rPr>
              <a:t>ou déposer documents/captures/C07_pipeline.png</a:t>
            </a:r>
          </a:p>
        </p:txBody>
      </p:sp>
      <p:sp>
        <p:nvSpPr>
          <p:cNvPr id="13" name="Rounded Rectangle 12"/>
          <p:cNvSpPr/>
          <p:nvPr/>
        </p:nvSpPr>
        <p:spPr>
          <a:xfrm>
            <a:off x="7680960" y="1554480"/>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4" name="TextBox 13"/>
          <p:cNvSpPr txBox="1"/>
          <p:nvPr/>
        </p:nvSpPr>
        <p:spPr>
          <a:xfrm>
            <a:off x="8732520" y="1554480"/>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Tests automatisés : 102 / 102</a:t>
            </a:r>
          </a:p>
        </p:txBody>
      </p:sp>
      <p:sp>
        <p:nvSpPr>
          <p:cNvPr id="15" name="Rounded Rectangle 14"/>
          <p:cNvSpPr/>
          <p:nvPr/>
        </p:nvSpPr>
        <p:spPr>
          <a:xfrm>
            <a:off x="7680960" y="2459736"/>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0:45</a:t>
            </a:r>
          </a:p>
        </p:txBody>
      </p:sp>
      <p:sp>
        <p:nvSpPr>
          <p:cNvPr id="16" name="TextBox 15"/>
          <p:cNvSpPr txBox="1"/>
          <p:nvPr/>
        </p:nvSpPr>
        <p:spPr>
          <a:xfrm>
            <a:off x="8732520" y="2459736"/>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Évaluation, jeu difficile : précision 1,000</a:t>
            </a:r>
          </a:p>
        </p:txBody>
      </p:sp>
      <p:sp>
        <p:nvSpPr>
          <p:cNvPr id="17" name="Rounded Rectangle 16"/>
          <p:cNvSpPr/>
          <p:nvPr/>
        </p:nvSpPr>
        <p:spPr>
          <a:xfrm>
            <a:off x="7680960" y="3364991"/>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1:00</a:t>
            </a:r>
          </a:p>
        </p:txBody>
      </p:sp>
      <p:sp>
        <p:nvSpPr>
          <p:cNvPr id="18" name="TextBox 17"/>
          <p:cNvSpPr txBox="1"/>
          <p:nvPr/>
        </p:nvSpPr>
        <p:spPr>
          <a:xfrm>
            <a:off x="8732520" y="3364991"/>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Pipeline RAW → SILVER → GOLD</a:t>
            </a:r>
          </a:p>
        </p:txBody>
      </p:sp>
      <p:sp>
        <p:nvSpPr>
          <p:cNvPr id="19" name="Rounded Rectangle 18"/>
          <p:cNvSpPr/>
          <p:nvPr/>
        </p:nvSpPr>
        <p:spPr>
          <a:xfrm>
            <a:off x="7680960" y="4270248"/>
            <a:ext cx="914400" cy="7315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FFFFFF"/>
                </a:solidFill>
                <a:latin typeface="Calibri"/>
              </a:rPr>
              <a:t>0:30</a:t>
            </a:r>
          </a:p>
        </p:txBody>
      </p:sp>
      <p:sp>
        <p:nvSpPr>
          <p:cNvPr id="20" name="TextBox 19"/>
          <p:cNvSpPr txBox="1"/>
          <p:nvPr/>
        </p:nvSpPr>
        <p:spPr>
          <a:xfrm>
            <a:off x="8732520" y="4270248"/>
            <a:ext cx="2910535" cy="731520"/>
          </a:xfrm>
          <a:prstGeom prst="rect">
            <a:avLst/>
          </a:prstGeom>
          <a:noFill/>
        </p:spPr>
        <p:txBody>
          <a:bodyPr wrap="square" lIns="18288" tIns="18288" rIns="18288" bIns="18288" anchor="ctr">
            <a:spAutoFit/>
          </a:bodyPr>
          <a:lstStyle/>
          <a:p>
            <a:pPr algn="l"/>
            <a:r>
              <a:rPr sz="1500" b="0" i="0">
                <a:solidFill>
                  <a:srgbClr val="1D2433"/>
                </a:solidFill>
                <a:latin typeface="Calibri"/>
              </a:rPr>
              <a:t>Tableau de bord : zones, dernier run, planification</a:t>
            </a:r>
          </a:p>
        </p:txBody>
      </p:sp>
      <p:sp>
        <p:nvSpPr>
          <p:cNvPr id="21" name="Rounded Rectangle 20"/>
          <p:cNvSpPr/>
          <p:nvPr/>
        </p:nvSpPr>
        <p:spPr>
          <a:xfrm>
            <a:off x="7680960" y="5175504"/>
            <a:ext cx="914400" cy="731520"/>
          </a:xfrm>
          <a:prstGeom prst="roundRect">
            <a:avLst>
              <a:gd name="adj" fmla="val 8000"/>
            </a:avLst>
          </a:prstGeom>
          <a:solidFill>
            <a:srgbClr val="E2E9F3"/>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1D2433"/>
                </a:solidFill>
                <a:latin typeface="Calibri"/>
              </a:rPr>
              <a:t>0:30</a:t>
            </a:r>
          </a:p>
        </p:txBody>
      </p:sp>
      <p:sp>
        <p:nvSpPr>
          <p:cNvPr id="22" name="TextBox 21"/>
          <p:cNvSpPr txBox="1"/>
          <p:nvPr/>
        </p:nvSpPr>
        <p:spPr>
          <a:xfrm>
            <a:off x="8732520" y="5175504"/>
            <a:ext cx="2910535" cy="731520"/>
          </a:xfrm>
          <a:prstGeom prst="rect">
            <a:avLst/>
          </a:prstGeom>
          <a:noFill/>
        </p:spPr>
        <p:txBody>
          <a:bodyPr wrap="square" lIns="18288" tIns="18288" rIns="18288" bIns="18288" anchor="ctr">
            <a:spAutoFit/>
          </a:bodyPr>
          <a:lstStyle/>
          <a:p>
            <a:pPr algn="l"/>
            <a:r>
              <a:rPr sz="1500" b="0" i="0">
                <a:solidFill>
                  <a:srgbClr val="5B6475"/>
                </a:solidFill>
                <a:latin typeface="Calibri"/>
              </a:rPr>
              <a:t>Repli : compteurs figés 214 · 145 · 69</a:t>
            </a:r>
          </a:p>
        </p:txBody>
      </p:sp>
    </p:spTree>
    <p:extLst>
      <p:ext uri="{BB962C8B-B14F-4D97-AF65-F5344CB8AC3E}">
        <p14:creationId xmlns:p14="http://schemas.microsoft.com/office/powerpoint/2010/main" val="3895944973"/>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18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PERSPECTIVES</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Limites assumées et suite du projet</a:t>
            </a:r>
          </a:p>
        </p:txBody>
      </p:sp>
      <p:sp>
        <p:nvSpPr>
          <p:cNvPr id="10" name="Rounded Rectangle 9"/>
          <p:cNvSpPr/>
          <p:nvPr/>
        </p:nvSpPr>
        <p:spPr>
          <a:xfrm>
            <a:off x="548640" y="1554480"/>
            <a:ext cx="5364327" cy="3977639"/>
          </a:xfrm>
          <a:prstGeom prst="roundRect">
            <a:avLst>
              <a:gd name="adj" fmla="val 8000"/>
            </a:avLst>
          </a:prstGeom>
          <a:solidFill>
            <a:srgbClr val="FBE7E5"/>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TextBox 10"/>
          <p:cNvSpPr txBox="1"/>
          <p:nvPr/>
        </p:nvSpPr>
        <p:spPr>
          <a:xfrm>
            <a:off x="868680" y="1691640"/>
            <a:ext cx="4724247" cy="411480"/>
          </a:xfrm>
          <a:prstGeom prst="rect">
            <a:avLst/>
          </a:prstGeom>
          <a:noFill/>
        </p:spPr>
        <p:txBody>
          <a:bodyPr wrap="square" lIns="18288" tIns="18288" rIns="18288" bIns="18288" anchor="t">
            <a:spAutoFit/>
          </a:bodyPr>
          <a:lstStyle/>
          <a:p>
            <a:pPr algn="l"/>
            <a:r>
              <a:rPr sz="2100" b="1" i="0">
                <a:solidFill>
                  <a:srgbClr val="B3261E"/>
                </a:solidFill>
                <a:latin typeface="Calibri"/>
              </a:rPr>
              <a:t>Limites assumées</a:t>
            </a:r>
          </a:p>
        </p:txBody>
      </p:sp>
      <p:sp>
        <p:nvSpPr>
          <p:cNvPr id="12" name="TextBox 11"/>
          <p:cNvSpPr txBox="1"/>
          <p:nvPr/>
        </p:nvSpPr>
        <p:spPr>
          <a:xfrm>
            <a:off x="868680"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0" i="0">
                <a:solidFill>
                  <a:srgbClr val="1D2433"/>
                </a:solidFill>
                <a:latin typeface="Calibri"/>
              </a:rPr>
              <a:t>Rappel de </a:t>
            </a:r>
            <a:r>
              <a:rPr sz="1600" b="1" i="0">
                <a:solidFill>
                  <a:srgbClr val="1D2433"/>
                </a:solidFill>
                <a:latin typeface="Calibri"/>
              </a:rPr>
              <a:t>0,422</a:t>
            </a:r>
            <a:r>
              <a:rPr sz="1600" b="0" i="0">
                <a:solidFill>
                  <a:srgbClr val="1D2433"/>
                </a:solidFill>
                <a:latin typeface="Calibri"/>
              </a:rPr>
              <a:t> sur le jeu difficile (seuil prudent)</a:t>
            </a:r>
          </a:p>
          <a:p>
            <a:pPr marL="228600" indent="-201168" algn="l">
              <a:spcAft>
                <a:spcPts val="1000"/>
              </a:spcAft>
              <a:buClr>
                <a:srgbClr val="2E5597"/>
              </a:buClr>
              <a:buChar char="•"/>
            </a:pPr>
            <a:r>
              <a:rPr sz="1600" b="0" i="0">
                <a:solidFill>
                  <a:srgbClr val="1D2433"/>
                </a:solidFill>
                <a:latin typeface="Calibri"/>
              </a:rPr>
              <a:t>Table GOLD des </a:t>
            </a:r>
            <a:r>
              <a:rPr sz="1600" b="1" i="0">
                <a:solidFill>
                  <a:srgbClr val="1D2433"/>
                </a:solidFill>
                <a:latin typeface="Calibri"/>
              </a:rPr>
              <a:t>événements vide</a:t>
            </a:r>
            <a:r>
              <a:rPr sz="1600" b="0" i="0">
                <a:solidFill>
                  <a:srgbClr val="1D2433"/>
                </a:solidFill>
                <a:latin typeface="Calibri"/>
              </a:rPr>
              <a:t> : rattachement FHIR à compléter</a:t>
            </a:r>
          </a:p>
          <a:p>
            <a:pPr marL="228600" indent="-201168" algn="l">
              <a:spcAft>
                <a:spcPts val="1000"/>
              </a:spcAft>
              <a:buClr>
                <a:srgbClr val="2E5597"/>
              </a:buClr>
              <a:buChar char="•"/>
            </a:pPr>
            <a:r>
              <a:rPr sz="1600" b="0" i="0">
                <a:solidFill>
                  <a:srgbClr val="1D2433"/>
                </a:solidFill>
                <a:latin typeface="Calibri"/>
              </a:rPr>
              <a:t>Base de consentements </a:t>
            </a:r>
            <a:r>
              <a:rPr sz="1600" b="1" i="0">
                <a:solidFill>
                  <a:srgbClr val="1D2433"/>
                </a:solidFill>
                <a:latin typeface="Calibri"/>
              </a:rPr>
              <a:t>non peuplée</a:t>
            </a:r>
            <a:r>
              <a:rPr sz="1600" b="0" i="0">
                <a:solidFill>
                  <a:srgbClr val="1D2433"/>
                </a:solidFill>
                <a:latin typeface="Calibri"/>
              </a:rPr>
              <a:t> : mécanique testée, donnée absente</a:t>
            </a:r>
          </a:p>
          <a:p>
            <a:pPr marL="228600" indent="-201168" algn="l">
              <a:spcAft>
                <a:spcPts val="1000"/>
              </a:spcAft>
              <a:buClr>
                <a:srgbClr val="2E5597"/>
              </a:buClr>
              <a:buChar char="•"/>
            </a:pPr>
            <a:r>
              <a:rPr sz="1600" b="0" i="0">
                <a:solidFill>
                  <a:srgbClr val="1D2433"/>
                </a:solidFill>
                <a:latin typeface="Calibri"/>
              </a:rPr>
              <a:t>Plateforme </a:t>
            </a:r>
            <a:r>
              <a:rPr sz="1600" b="1" i="0">
                <a:solidFill>
                  <a:srgbClr val="1D2433"/>
                </a:solidFill>
                <a:latin typeface="Calibri"/>
              </a:rPr>
              <a:t>non déployée</a:t>
            </a:r>
            <a:r>
              <a:rPr sz="1600" b="0" i="0">
                <a:solidFill>
                  <a:srgbClr val="1D2433"/>
                </a:solidFill>
                <a:latin typeface="Calibri"/>
              </a:rPr>
              <a:t> : prototype reproductible sur VM</a:t>
            </a:r>
          </a:p>
        </p:txBody>
      </p:sp>
      <p:sp>
        <p:nvSpPr>
          <p:cNvPr id="13" name="Rounded Rectangle 12"/>
          <p:cNvSpPr/>
          <p:nvPr/>
        </p:nvSpPr>
        <p:spPr>
          <a:xfrm>
            <a:off x="6278727" y="1554480"/>
            <a:ext cx="5364327" cy="3977639"/>
          </a:xfrm>
          <a:prstGeom prst="roundRect">
            <a:avLst>
              <a:gd name="adj" fmla="val 8000"/>
            </a:avLst>
          </a:prstGeom>
          <a:solidFill>
            <a:srgbClr val="E5F3EA"/>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4" name="TextBox 13"/>
          <p:cNvSpPr txBox="1"/>
          <p:nvPr/>
        </p:nvSpPr>
        <p:spPr>
          <a:xfrm>
            <a:off x="6598767" y="1691640"/>
            <a:ext cx="4724247" cy="411480"/>
          </a:xfrm>
          <a:prstGeom prst="rect">
            <a:avLst/>
          </a:prstGeom>
          <a:noFill/>
        </p:spPr>
        <p:txBody>
          <a:bodyPr wrap="square" lIns="18288" tIns="18288" rIns="18288" bIns="18288" anchor="t">
            <a:spAutoFit/>
          </a:bodyPr>
          <a:lstStyle/>
          <a:p>
            <a:pPr algn="l"/>
            <a:r>
              <a:rPr sz="2100" b="1" i="0">
                <a:solidFill>
                  <a:srgbClr val="2E7D4F"/>
                </a:solidFill>
                <a:latin typeface="Calibri"/>
              </a:rPr>
              <a:t>Perspectives</a:t>
            </a:r>
          </a:p>
        </p:txBody>
      </p:sp>
      <p:sp>
        <p:nvSpPr>
          <p:cNvPr id="15" name="TextBox 14"/>
          <p:cNvSpPr txBox="1"/>
          <p:nvPr/>
        </p:nvSpPr>
        <p:spPr>
          <a:xfrm>
            <a:off x="6598767" y="2240280"/>
            <a:ext cx="4724247" cy="3200400"/>
          </a:xfrm>
          <a:prstGeom prst="rect">
            <a:avLst/>
          </a:prstGeom>
          <a:noFill/>
        </p:spPr>
        <p:txBody>
          <a:bodyPr wrap="square" lIns="18288" tIns="18288" rIns="18288" bIns="18288" anchor="t">
            <a:spAutoFit/>
          </a:bodyPr>
          <a:lstStyle/>
          <a:p>
            <a:pPr marL="228600" indent="-201168" algn="l">
              <a:spcAft>
                <a:spcPts val="1000"/>
              </a:spcAft>
              <a:buClr>
                <a:srgbClr val="2E5597"/>
              </a:buClr>
              <a:buChar char="•"/>
            </a:pPr>
            <a:r>
              <a:rPr sz="1600" b="1" i="0">
                <a:solidFill>
                  <a:srgbClr val="1D2433"/>
                </a:solidFill>
                <a:latin typeface="Calibri"/>
              </a:rPr>
              <a:t>Court terme</a:t>
            </a:r>
            <a:r>
              <a:rPr sz="1600" b="0" i="0">
                <a:solidFill>
                  <a:srgbClr val="1D2433"/>
                </a:solidFill>
                <a:latin typeface="Calibri"/>
              </a:rPr>
              <a:t> : mapping FHIR, consentements peuplés, calibrage du seuil</a:t>
            </a:r>
          </a:p>
          <a:p>
            <a:pPr marL="228600" indent="-201168" algn="l">
              <a:spcAft>
                <a:spcPts val="1000"/>
              </a:spcAft>
              <a:buClr>
                <a:srgbClr val="2E5597"/>
              </a:buClr>
              <a:buChar char="•"/>
            </a:pPr>
            <a:r>
              <a:rPr sz="1600" b="1" i="0">
                <a:solidFill>
                  <a:srgbClr val="1D2433"/>
                </a:solidFill>
                <a:latin typeface="Calibri"/>
              </a:rPr>
              <a:t>Moyen terme</a:t>
            </a:r>
            <a:r>
              <a:rPr sz="1600" b="0" i="0">
                <a:solidFill>
                  <a:srgbClr val="1D2433"/>
                </a:solidFill>
                <a:latin typeface="Calibri"/>
              </a:rPr>
              <a:t> : intégration continue, blocking partitionné, volumes réels</a:t>
            </a:r>
          </a:p>
          <a:p>
            <a:pPr marL="228600" indent="-201168" algn="l">
              <a:spcAft>
                <a:spcPts val="1000"/>
              </a:spcAft>
              <a:buClr>
                <a:srgbClr val="2E5597"/>
              </a:buClr>
              <a:buChar char="•"/>
            </a:pPr>
            <a:r>
              <a:rPr sz="1600" b="1" i="0">
                <a:solidFill>
                  <a:srgbClr val="1D2433"/>
                </a:solidFill>
                <a:latin typeface="Calibri"/>
              </a:rPr>
              <a:t>Long terme</a:t>
            </a:r>
            <a:r>
              <a:rPr sz="1600" b="0" i="0">
                <a:solidFill>
                  <a:srgbClr val="1D2433"/>
                </a:solidFill>
                <a:latin typeface="Calibri"/>
              </a:rPr>
              <a:t> : catalogue de métadonnées, autres entités (médecins, médicaments)</a:t>
            </a:r>
          </a:p>
        </p:txBody>
      </p:sp>
      <p:sp>
        <p:nvSpPr>
          <p:cNvPr id="16" name="Rounded Rectangle 15"/>
          <p:cNvSpPr/>
          <p:nvPr/>
        </p:nvSpPr>
        <p:spPr>
          <a:xfrm>
            <a:off x="548640" y="5760720"/>
            <a:ext cx="11094415" cy="54864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0" i="0">
                <a:solidFill>
                  <a:srgbClr val="1D2433"/>
                </a:solidFill>
                <a:latin typeface="Calibri"/>
              </a:rPr>
              <a:t>Avant toute mise en production : vérifier le </a:t>
            </a:r>
            <a:r>
              <a:rPr sz="1600" b="1" i="0">
                <a:solidFill>
                  <a:srgbClr val="1D2433"/>
                </a:solidFill>
                <a:latin typeface="Calibri"/>
              </a:rPr>
              <a:t>droit malgache</a:t>
            </a:r>
            <a:r>
              <a:rPr sz="1600" b="0" i="0">
                <a:solidFill>
                  <a:srgbClr val="1D2433"/>
                </a:solidFill>
                <a:latin typeface="Calibri"/>
              </a:rPr>
              <a:t> des données de santé</a:t>
            </a:r>
          </a:p>
        </p:txBody>
      </p:sp>
    </p:spTree>
    <p:extLst>
      <p:ext uri="{BB962C8B-B14F-4D97-AF65-F5344CB8AC3E}">
        <p14:creationId xmlns:p14="http://schemas.microsoft.com/office/powerpoint/2010/main" val="203674268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ogo-ituniversity.png"/>
          <p:cNvPicPr>
            <a:picLocks noChangeAspect="1"/>
          </p:cNvPicPr>
          <p:nvPr/>
        </p:nvPicPr>
        <p:blipFill>
          <a:blip r:embed="rId3"/>
          <a:stretch>
            <a:fillRect/>
          </a:stretch>
        </p:blipFill>
        <p:spPr>
          <a:xfrm>
            <a:off x="548640" y="256032"/>
            <a:ext cx="1570080" cy="384048"/>
          </a:xfrm>
          <a:prstGeom prst="rect">
            <a:avLst/>
          </a:prstGeom>
        </p:spPr>
      </p:pic>
      <p:pic>
        <p:nvPicPr>
          <p:cNvPr id="3" name="Picture 2" descr="logo-mbds.jpg"/>
          <p:cNvPicPr>
            <a:picLocks noChangeAspect="1"/>
          </p:cNvPicPr>
          <p:nvPr/>
        </p:nvPicPr>
        <p:blipFill>
          <a:blip r:embed="rId4"/>
          <a:stretch>
            <a:fillRect/>
          </a:stretch>
        </p:blipFill>
        <p:spPr>
          <a:xfrm>
            <a:off x="2438760" y="256032"/>
            <a:ext cx="1004777" cy="384048"/>
          </a:xfrm>
          <a:prstGeom prst="rect">
            <a:avLst/>
          </a:prstGeom>
        </p:spPr>
      </p:pic>
      <p:pic>
        <p:nvPicPr>
          <p:cNvPr id="4" name="Picture 3" descr="logo-uca.png"/>
          <p:cNvPicPr>
            <a:picLocks noChangeAspect="1"/>
          </p:cNvPicPr>
          <p:nvPr/>
        </p:nvPicPr>
        <p:blipFill>
          <a:blip r:embed="rId5"/>
          <a:stretch>
            <a:fillRect/>
          </a:stretch>
        </p:blipFill>
        <p:spPr>
          <a:xfrm>
            <a:off x="3763577" y="256032"/>
            <a:ext cx="2451370" cy="384048"/>
          </a:xfrm>
          <a:prstGeom prst="rect">
            <a:avLst/>
          </a:prstGeom>
        </p:spPr>
      </p:pic>
      <p:pic>
        <p:nvPicPr>
          <p:cNvPr id="5" name="Picture 4" descr="mmt-logo.png"/>
          <p:cNvPicPr>
            <a:picLocks noChangeAspect="1"/>
          </p:cNvPicPr>
          <p:nvPr/>
        </p:nvPicPr>
        <p:blipFill>
          <a:blip r:embed="rId6"/>
          <a:stretch>
            <a:fillRect/>
          </a:stretch>
        </p:blipFill>
        <p:spPr>
          <a:xfrm>
            <a:off x="11140135" y="182880"/>
            <a:ext cx="548640" cy="548640"/>
          </a:xfrm>
          <a:prstGeom prst="rect">
            <a:avLst/>
          </a:prstGeom>
        </p:spPr>
      </p:pic>
      <p:sp>
        <p:nvSpPr>
          <p:cNvPr id="6" name="TextBox 5"/>
          <p:cNvSpPr txBox="1"/>
          <p:nvPr/>
        </p:nvSpPr>
        <p:spPr>
          <a:xfrm>
            <a:off x="548640" y="6446520"/>
            <a:ext cx="8686800" cy="274320"/>
          </a:xfrm>
          <a:prstGeom prst="rect">
            <a:avLst/>
          </a:prstGeom>
          <a:noFill/>
        </p:spPr>
        <p:txBody>
          <a:bodyPr wrap="square" lIns="18288" tIns="18288" rIns="18288" bIns="18288" anchor="t">
            <a:spAutoFit/>
          </a:bodyPr>
          <a:lstStyle/>
          <a:p>
            <a:pPr algn="l"/>
            <a:r>
              <a:rPr sz="900" b="0" i="0">
                <a:solidFill>
                  <a:srgbClr val="5B6475"/>
                </a:solidFill>
                <a:latin typeface="Calibri"/>
              </a:rPr>
              <a:t>« Plateforme Big Data de gouvernance des données patients » présenté par RANOMENJANAHARY Manjaka Alpha</a:t>
            </a:r>
          </a:p>
        </p:txBody>
      </p:sp>
      <p:sp>
        <p:nvSpPr>
          <p:cNvPr id="7" name="TextBox 6"/>
          <p:cNvSpPr txBox="1"/>
          <p:nvPr/>
        </p:nvSpPr>
        <p:spPr>
          <a:xfrm>
            <a:off x="8899855" y="6446520"/>
            <a:ext cx="2743200" cy="274320"/>
          </a:xfrm>
          <a:prstGeom prst="rect">
            <a:avLst/>
          </a:prstGeom>
          <a:noFill/>
        </p:spPr>
        <p:txBody>
          <a:bodyPr wrap="square" lIns="18288" tIns="18288" rIns="18288" bIns="18288" anchor="t">
            <a:spAutoFit/>
          </a:bodyPr>
          <a:lstStyle/>
          <a:p>
            <a:pPr algn="r"/>
            <a:r>
              <a:rPr sz="900" b="0" i="0">
                <a:solidFill>
                  <a:srgbClr val="5B6475"/>
                </a:solidFill>
                <a:latin typeface="Calibri"/>
              </a:rPr>
              <a:t>Octobre 2026   ·   19 / 20</a:t>
            </a:r>
          </a:p>
        </p:txBody>
      </p:sp>
      <p:sp>
        <p:nvSpPr>
          <p:cNvPr id="8" name="TextBox 7"/>
          <p:cNvSpPr txBox="1"/>
          <p:nvPr/>
        </p:nvSpPr>
        <p:spPr>
          <a:xfrm>
            <a:off x="548640" y="786384"/>
            <a:ext cx="7315200" cy="274320"/>
          </a:xfrm>
          <a:prstGeom prst="rect">
            <a:avLst/>
          </a:prstGeom>
          <a:noFill/>
        </p:spPr>
        <p:txBody>
          <a:bodyPr wrap="square" lIns="18288" tIns="18288" rIns="18288" bIns="18288" anchor="t">
            <a:spAutoFit/>
          </a:bodyPr>
          <a:lstStyle/>
          <a:p>
            <a:pPr algn="l"/>
            <a:r>
              <a:rPr sz="1200" b="1" i="0">
                <a:solidFill>
                  <a:srgbClr val="C78400"/>
                </a:solidFill>
                <a:latin typeface="Calibri"/>
              </a:rPr>
              <a:t>CONCLUSION</a:t>
            </a:r>
          </a:p>
        </p:txBody>
      </p:sp>
      <p:sp>
        <p:nvSpPr>
          <p:cNvPr id="9" name="TextBox 8"/>
          <p:cNvSpPr txBox="1"/>
          <p:nvPr/>
        </p:nvSpPr>
        <p:spPr>
          <a:xfrm>
            <a:off x="548640" y="987552"/>
            <a:ext cx="11094415" cy="548640"/>
          </a:xfrm>
          <a:prstGeom prst="rect">
            <a:avLst/>
          </a:prstGeom>
          <a:noFill/>
        </p:spPr>
        <p:txBody>
          <a:bodyPr wrap="square" lIns="18288" tIns="18288" rIns="18288" bIns="18288" anchor="t">
            <a:spAutoFit/>
          </a:bodyPr>
          <a:lstStyle/>
          <a:p>
            <a:pPr algn="l"/>
            <a:r>
              <a:rPr sz="2800" b="1" i="0">
                <a:solidFill>
                  <a:srgbClr val="1F3864"/>
                </a:solidFill>
                <a:latin typeface="Calibri"/>
              </a:rPr>
              <a:t>La plateforme répond à la problématique, preuves à l'appui</a:t>
            </a:r>
          </a:p>
        </p:txBody>
      </p:sp>
      <p:sp>
        <p:nvSpPr>
          <p:cNvPr id="10" name="Rounded Rectangle 9"/>
          <p:cNvSpPr/>
          <p:nvPr/>
        </p:nvSpPr>
        <p:spPr>
          <a:xfrm>
            <a:off x="548640"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1" name="Oval 10"/>
          <p:cNvSpPr/>
          <p:nvPr/>
        </p:nvSpPr>
        <p:spPr>
          <a:xfrm>
            <a:off x="1466811"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2" name="TextBox 11"/>
          <p:cNvSpPr txBox="1"/>
          <p:nvPr/>
        </p:nvSpPr>
        <p:spPr>
          <a:xfrm>
            <a:off x="731520"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Centraliser</a:t>
            </a:r>
          </a:p>
        </p:txBody>
      </p:sp>
      <p:sp>
        <p:nvSpPr>
          <p:cNvPr id="13" name="TextBox 12"/>
          <p:cNvSpPr txBox="1"/>
          <p:nvPr/>
        </p:nvSpPr>
        <p:spPr>
          <a:xfrm>
            <a:off x="731520"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lac Medallion RAW → SILVER → GOLD</a:t>
            </a:r>
          </a:p>
        </p:txBody>
      </p:sp>
      <p:sp>
        <p:nvSpPr>
          <p:cNvPr id="14" name="TextBox 13"/>
          <p:cNvSpPr txBox="1"/>
          <p:nvPr/>
        </p:nvSpPr>
        <p:spPr>
          <a:xfrm>
            <a:off x="731520"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214 fiches intégrées</a:t>
            </a:r>
          </a:p>
        </p:txBody>
      </p:sp>
      <p:sp>
        <p:nvSpPr>
          <p:cNvPr id="15" name="Rounded Rectangle 14"/>
          <p:cNvSpPr/>
          <p:nvPr/>
        </p:nvSpPr>
        <p:spPr>
          <a:xfrm>
            <a:off x="3390823"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16" name="Oval 15"/>
          <p:cNvSpPr/>
          <p:nvPr/>
        </p:nvSpPr>
        <p:spPr>
          <a:xfrm>
            <a:off x="4308995"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17" name="TextBox 16"/>
          <p:cNvSpPr txBox="1"/>
          <p:nvPr/>
        </p:nvSpPr>
        <p:spPr>
          <a:xfrm>
            <a:off x="3573703"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Normaliser</a:t>
            </a:r>
          </a:p>
        </p:txBody>
      </p:sp>
      <p:sp>
        <p:nvSpPr>
          <p:cNvPr id="18" name="TextBox 17"/>
          <p:cNvSpPr txBox="1"/>
          <p:nvPr/>
        </p:nvSpPr>
        <p:spPr>
          <a:xfrm>
            <a:off x="3573703"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modèle canonique + pivot FHIR</a:t>
            </a:r>
          </a:p>
        </p:txBody>
      </p:sp>
      <p:sp>
        <p:nvSpPr>
          <p:cNvPr id="19" name="TextBox 18"/>
          <p:cNvSpPr txBox="1"/>
          <p:nvPr/>
        </p:nvSpPr>
        <p:spPr>
          <a:xfrm>
            <a:off x="3573703"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 entités FHIR</a:t>
            </a:r>
          </a:p>
        </p:txBody>
      </p:sp>
      <p:sp>
        <p:nvSpPr>
          <p:cNvPr id="20" name="Rounded Rectangle 19"/>
          <p:cNvSpPr/>
          <p:nvPr/>
        </p:nvSpPr>
        <p:spPr>
          <a:xfrm>
            <a:off x="6233007"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1" name="Oval 20"/>
          <p:cNvSpPr/>
          <p:nvPr/>
        </p:nvSpPr>
        <p:spPr>
          <a:xfrm>
            <a:off x="7151179"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2" name="TextBox 21"/>
          <p:cNvSpPr txBox="1"/>
          <p:nvPr/>
        </p:nvSpPr>
        <p:spPr>
          <a:xfrm>
            <a:off x="6415887"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Dédupliquer</a:t>
            </a:r>
          </a:p>
        </p:txBody>
      </p:sp>
      <p:sp>
        <p:nvSpPr>
          <p:cNvPr id="23" name="TextBox 22"/>
          <p:cNvSpPr txBox="1"/>
          <p:nvPr/>
        </p:nvSpPr>
        <p:spPr>
          <a:xfrm>
            <a:off x="6415887"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exact + probabiliste, explicable</a:t>
            </a:r>
          </a:p>
        </p:txBody>
      </p:sp>
      <p:sp>
        <p:nvSpPr>
          <p:cNvPr id="24" name="TextBox 23"/>
          <p:cNvSpPr txBox="1"/>
          <p:nvPr/>
        </p:nvSpPr>
        <p:spPr>
          <a:xfrm>
            <a:off x="6415887"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précision 1,000</a:t>
            </a:r>
          </a:p>
        </p:txBody>
      </p:sp>
      <p:sp>
        <p:nvSpPr>
          <p:cNvPr id="25" name="Rounded Rectangle 24"/>
          <p:cNvSpPr/>
          <p:nvPr/>
        </p:nvSpPr>
        <p:spPr>
          <a:xfrm>
            <a:off x="9075191" y="1554480"/>
            <a:ext cx="2567863" cy="2971800"/>
          </a:xfrm>
          <a:prstGeom prst="roundRect">
            <a:avLst>
              <a:gd name="adj" fmla="val 8000"/>
            </a:avLst>
          </a:prstGeom>
          <a:solidFill>
            <a:srgbClr val="F1F4F9"/>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26" name="Oval 25"/>
          <p:cNvSpPr/>
          <p:nvPr/>
        </p:nvSpPr>
        <p:spPr>
          <a:xfrm>
            <a:off x="9993363" y="1737360"/>
            <a:ext cx="731520" cy="7315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i="0">
                <a:solidFill>
                  <a:srgbClr val="FFFFFF"/>
                </a:solidFill>
                <a:latin typeface="Calibri"/>
              </a:rPr>
              <a:t>✓</a:t>
            </a:r>
          </a:p>
        </p:txBody>
      </p:sp>
      <p:sp>
        <p:nvSpPr>
          <p:cNvPr id="27" name="TextBox 26"/>
          <p:cNvSpPr txBox="1"/>
          <p:nvPr/>
        </p:nvSpPr>
        <p:spPr>
          <a:xfrm>
            <a:off x="9258071" y="2606040"/>
            <a:ext cx="2202103" cy="457200"/>
          </a:xfrm>
          <a:prstGeom prst="rect">
            <a:avLst/>
          </a:prstGeom>
          <a:noFill/>
        </p:spPr>
        <p:txBody>
          <a:bodyPr wrap="square" lIns="18288" tIns="18288" rIns="18288" bIns="18288" anchor="t">
            <a:spAutoFit/>
          </a:bodyPr>
          <a:lstStyle/>
          <a:p>
            <a:pPr algn="ctr"/>
            <a:r>
              <a:rPr sz="2100" b="1" i="0">
                <a:solidFill>
                  <a:srgbClr val="1F3864"/>
                </a:solidFill>
                <a:latin typeface="Calibri"/>
              </a:rPr>
              <a:t>Gouverner</a:t>
            </a:r>
          </a:p>
        </p:txBody>
      </p:sp>
      <p:sp>
        <p:nvSpPr>
          <p:cNvPr id="28" name="TextBox 27"/>
          <p:cNvSpPr txBox="1"/>
          <p:nvPr/>
        </p:nvSpPr>
        <p:spPr>
          <a:xfrm>
            <a:off x="9258071" y="3108960"/>
            <a:ext cx="2202103" cy="731520"/>
          </a:xfrm>
          <a:prstGeom prst="rect">
            <a:avLst/>
          </a:prstGeom>
          <a:noFill/>
        </p:spPr>
        <p:txBody>
          <a:bodyPr wrap="square" lIns="18288" tIns="18288" rIns="18288" bIns="18288" anchor="t">
            <a:spAutoFit/>
          </a:bodyPr>
          <a:lstStyle/>
          <a:p>
            <a:pPr algn="ctr"/>
            <a:r>
              <a:rPr sz="1400" b="0" i="0">
                <a:solidFill>
                  <a:srgbClr val="1D2433"/>
                </a:solidFill>
                <a:latin typeface="Calibri"/>
              </a:rPr>
              <a:t>rôle · finalité · consentement · audit</a:t>
            </a:r>
          </a:p>
        </p:txBody>
      </p:sp>
      <p:sp>
        <p:nvSpPr>
          <p:cNvPr id="29" name="TextBox 28"/>
          <p:cNvSpPr txBox="1"/>
          <p:nvPr/>
        </p:nvSpPr>
        <p:spPr>
          <a:xfrm>
            <a:off x="9258071" y="3886200"/>
            <a:ext cx="2202103" cy="457200"/>
          </a:xfrm>
          <a:prstGeom prst="rect">
            <a:avLst/>
          </a:prstGeom>
          <a:noFill/>
        </p:spPr>
        <p:txBody>
          <a:bodyPr wrap="square" lIns="18288" tIns="18288" rIns="18288" bIns="18288" anchor="t">
            <a:spAutoFit/>
          </a:bodyPr>
          <a:lstStyle/>
          <a:p>
            <a:pPr algn="ctr"/>
            <a:r>
              <a:rPr sz="1600" b="1" i="0">
                <a:solidFill>
                  <a:srgbClr val="2E5597"/>
                </a:solidFill>
                <a:latin typeface="Calibri"/>
              </a:rPr>
              <a:t>401 · 403 · 422 testés</a:t>
            </a:r>
          </a:p>
        </p:txBody>
      </p:sp>
      <p:sp>
        <p:nvSpPr>
          <p:cNvPr id="30" name="Rounded Rectangle 29"/>
          <p:cNvSpPr/>
          <p:nvPr/>
        </p:nvSpPr>
        <p:spPr>
          <a:xfrm>
            <a:off x="548640" y="4846320"/>
            <a:ext cx="11094415" cy="12344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800" b="0" i="0">
                <a:solidFill>
                  <a:srgbClr val="FFFFFF"/>
                </a:solidFill>
                <a:latin typeface="Calibri"/>
              </a:rPr>
              <a:t>Une démarche progressive — </a:t>
            </a:r>
            <a:r>
              <a:rPr sz="1800" b="1" i="0">
                <a:solidFill>
                  <a:srgbClr val="FFFFFF"/>
                </a:solidFill>
                <a:latin typeface="Calibri"/>
              </a:rPr>
              <a:t>MVP → Spark → Big Data</a:t>
            </a:r>
            <a:r>
              <a:rPr sz="1800" b="0" i="0">
                <a:solidFill>
                  <a:srgbClr val="FFFFFF"/>
                </a:solidFill>
                <a:latin typeface="Calibri"/>
              </a:rPr>
              <a:t> — où chaque technologie répond à un besoin,</a:t>
            </a:r>
          </a:p>
          <a:p>
            <a:pPr algn="ctr"/>
            <a:r>
              <a:rPr sz="1800" b="0" i="0">
                <a:solidFill>
                  <a:srgbClr val="FFFFFF"/>
                </a:solidFill>
                <a:latin typeface="Calibri"/>
              </a:rPr>
              <a:t>et où </a:t>
            </a:r>
            <a:r>
              <a:rPr sz="1800" b="1" i="0">
                <a:solidFill>
                  <a:srgbClr val="FFFFFF"/>
                </a:solidFill>
                <a:latin typeface="Calibri"/>
              </a:rPr>
              <a:t>chaque résultat se vérifie</a:t>
            </a:r>
            <a:r>
              <a:rPr sz="1800" b="0" i="0">
                <a:solidFill>
                  <a:srgbClr val="FFFFFF"/>
                </a:solidFill>
                <a:latin typeface="Calibri"/>
              </a:rPr>
              <a:t> dans le dépôt.</a:t>
            </a:r>
          </a:p>
        </p:txBody>
      </p:sp>
    </p:spTree>
    <p:extLst>
      <p:ext uri="{BB962C8B-B14F-4D97-AF65-F5344CB8AC3E}">
        <p14:creationId xmlns:p14="http://schemas.microsoft.com/office/powerpoint/2010/main" val="3622660527"/>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109728" rIns="109728" rtlCol="0" anchor="ctr"/>
          <a:lstStyle/>
          <a:p>
            <a:pPr algn="ctr"/>
            <a:endParaRPr/>
          </a:p>
        </p:txBody>
      </p:sp>
      <p:sp>
        <p:nvSpPr>
          <p:cNvPr id="3" name="TextBox 2"/>
          <p:cNvSpPr txBox="1"/>
          <p:nvPr/>
        </p:nvSpPr>
        <p:spPr>
          <a:xfrm>
            <a:off x="548640" y="2103120"/>
            <a:ext cx="11094415" cy="1097280"/>
          </a:xfrm>
          <a:prstGeom prst="rect">
            <a:avLst/>
          </a:prstGeom>
          <a:noFill/>
        </p:spPr>
        <p:txBody>
          <a:bodyPr wrap="square" lIns="18288" tIns="18288" rIns="18288" bIns="18288" anchor="t">
            <a:spAutoFit/>
          </a:bodyPr>
          <a:lstStyle/>
          <a:p>
            <a:pPr algn="ctr"/>
            <a:r>
              <a:rPr sz="4800" b="1" i="0">
                <a:solidFill>
                  <a:srgbClr val="FFFFFF"/>
                </a:solidFill>
                <a:latin typeface="Calibri"/>
              </a:rPr>
              <a:t>Merci pour votre attention</a:t>
            </a:r>
          </a:p>
        </p:txBody>
      </p:sp>
      <p:sp>
        <p:nvSpPr>
          <p:cNvPr id="4" name="TextBox 3"/>
          <p:cNvSpPr txBox="1"/>
          <p:nvPr/>
        </p:nvSpPr>
        <p:spPr>
          <a:xfrm>
            <a:off x="548640" y="3246120"/>
            <a:ext cx="11094415" cy="548640"/>
          </a:xfrm>
          <a:prstGeom prst="rect">
            <a:avLst/>
          </a:prstGeom>
          <a:noFill/>
        </p:spPr>
        <p:txBody>
          <a:bodyPr wrap="square" lIns="18288" tIns="18288" rIns="18288" bIns="18288" anchor="t">
            <a:spAutoFit/>
          </a:bodyPr>
          <a:lstStyle/>
          <a:p>
            <a:pPr algn="ctr"/>
            <a:r>
              <a:rPr sz="2400" b="0" i="0">
                <a:solidFill>
                  <a:srgbClr val="8EAADB"/>
                </a:solidFill>
                <a:latin typeface="Calibri"/>
              </a:rPr>
              <a:t>Questions et échanges</a:t>
            </a:r>
          </a:p>
        </p:txBody>
      </p:sp>
      <p:sp>
        <p:nvSpPr>
          <p:cNvPr id="5" name="TextBox 4"/>
          <p:cNvSpPr txBox="1"/>
          <p:nvPr/>
        </p:nvSpPr>
        <p:spPr>
          <a:xfrm>
            <a:off x="548640" y="4754880"/>
            <a:ext cx="11094415" cy="822960"/>
          </a:xfrm>
          <a:prstGeom prst="rect">
            <a:avLst/>
          </a:prstGeom>
          <a:noFill/>
        </p:spPr>
        <p:txBody>
          <a:bodyPr wrap="square" lIns="18288" tIns="18288" rIns="18288" bIns="18288" anchor="t">
            <a:spAutoFit/>
          </a:bodyPr>
          <a:lstStyle/>
          <a:p>
            <a:pPr algn="ctr">
              <a:spcAft>
                <a:spcPts val="300"/>
              </a:spcAft>
            </a:pPr>
            <a:r>
              <a:rPr sz="1600" b="0" i="0">
                <a:solidFill>
                  <a:srgbClr val="E2E9F3"/>
                </a:solidFill>
                <a:latin typeface="Calibri"/>
              </a:rPr>
              <a:t>RANOMENJANAHARY Manjaka Alpha</a:t>
            </a:r>
          </a:p>
          <a:p>
            <a:pPr algn="ctr">
              <a:spcAft>
                <a:spcPts val="300"/>
              </a:spcAft>
            </a:pPr>
            <a:r>
              <a:rPr sz="1600" b="0" i="0">
                <a:solidFill>
                  <a:srgbClr val="E2E9F3"/>
                </a:solidFill>
                <a:latin typeface="Calibri"/>
              </a:rPr>
              <a:t>Master MBDS · Madagascar Medical Technology · Octobre 2026</a:t>
            </a:r>
          </a:p>
        </p:txBody>
      </p:sp>
    </p:spTree>
    <p:extLst>
      <p:ext uri="{BB962C8B-B14F-4D97-AF65-F5344CB8AC3E}">
        <p14:creationId xmlns:p14="http://schemas.microsoft.com/office/powerpoint/2010/main" val="3337475729"/>
      </p:ext>
    </p:extLst>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FD9D61-1221-462B-A022-F9295897E668}">
  <we:reference id="wa200010001" version="1.0.0.1" store="en-US" storeType="OMEX"/>
  <we:alternateReferences>
    <we:reference id="wa200010001" version="1.0.0.1" store="en-US" storeType="OMEX"/>
  </we:alternateReferences>
  <we:properties>
    <we:property name="claude.fileId" value="&quot;2bab8684-40ef-4371-8447-708a5067cc1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3243</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ranomenjanahary alpha</cp:lastModifiedBy>
  <cp:revision>3</cp:revision>
  <dcterms:created xsi:type="dcterms:W3CDTF">2013-01-27T09:14:16Z</dcterms:created>
  <dcterms:modified xsi:type="dcterms:W3CDTF">2026-09-28T19:53:43Z</dcterms:modified>
  <cp:category/>
</cp:coreProperties>
</file>