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413"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c:v>
                </c:pt>
                <c:pt idx="1">
                  <c:v>1</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0,884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0,422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c:v>
                </c:pt>
                <c:pt idx="1">
                  <c:v>0.88400000000000001</c:v>
                </c:pt>
                <c:pt idx="2">
                  <c:v>0.42199999999999999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0,939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0,594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c:v>
                </c:pt>
                <c:pt idx="1">
                  <c:v>0.93899999999999995</c:v>
                </c:pt>
                <c:pt idx="2">
                  <c:v>0.59399999999999997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à toutes et à tous. Je suis Ranomenjanahary Manjaka Alpha, en master MBDS. Je vais vous présenter mon stage chez Madagascar Medical Technology : une plateforme qui rassemble les dossiers d'un même patient dispersés entre plusieurs services, et qui ne laisse lire ces dossiers que si le patient l'a accepté. Toutes les données que je vais montrer sont fictives.</a:t>
            </a:r>
          </a:p>
          <a:p/>
          <a:p>
            <a:r>
              <a:t>→ Quelques mots d'abord sur l'entreprise qui m'a accueilli.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Son métier historique, c'est le matériel biomédical : distribution, maintenance, consommables. Elle est Business Partner de Siemens Healthineers. Depuis 2024, elle a un département Recherche et Développement, qui gère des systèmes d'information médicale : c'est là que j'ai passé quatre mois, de juillet à fin octobre.</a:t>
            </a:r>
          </a:p>
          <a:p/>
          <a:p>
            <a:r>
              <a:t>J'ai choisi ce sujet parce qu'il réunit les trois volets du master : les bases de données, l'intégration de systèmes hétérogènes et le Big Data, que je voulais pratiquer et non plus seulement étudier.</a:t>
            </a:r>
          </a:p>
          <a:p/>
          <a:p>
            <a:r>
              <a:t>→ Voici le problème que j'ai trouvé en arrivant.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Imaginez un patient. Il passe à la pharmacie, puis en consultation, puis à l'imagerie. À chaque étape, on l'enregistre de nouveau. En pharmacie, il s'appelle « Jean Rakoto ». En consultation, « Rakoto Jean ». À l'imagerie, « J. RAKOTO ». Le CIN et la date de naissance sont écrits autrement à chaque fois.</a:t>
            </a:r>
          </a:p>
          <a:p/>
          <a:p>
            <a:r>
              <a:t>Aucun de ces services ne sait que c'est la même personne. Et personne ne lui a demandé ce qu'il accepte que l'on fasse de ses données. Voilà les deux questions de mon stage : comment savoir que c'est lui ? Et qui a le droit de lire son dossier, pour quoi faire ?</a:t>
            </a:r>
          </a:p>
          <a:p/>
          <a:p>
            <a:r>
              <a:t>→ Derrière ce cas, il y a trois problèmes.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c'est la dispersion : le dossier d'un patient est éclaté entre plusieurs bases. Le deuxième, l'hétérogénéité : même le genre s'écrit H/F, male/female ou Homme/femme. Et ces sources ne sont pas figées : un service peut être séparé en plusieurs bases demain. Le troisième, l'absence de gouvernance : rien ne dit qui accède à quoi, ni pourquoi.</a:t>
            </a:r>
          </a:p>
          <a:p/>
          <a:p>
            <a:r>
              <a:t>Ma problématique est donc la suivante : comment centraliser et dédupliquer ces données, tout en gardant la trace des identités et en contrôlant chaque accès par le consentement du patient ?</a:t>
            </a:r>
          </a:p>
          <a:p/>
          <a:p>
            <a:r>
              <a:t>→ Le cahier des charges traduit cela en six objectifs.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objectifs : centraliser, nettoyer, dédupliquer de façon explicable, gouverner les accès, visualiser et évaluer. Et deux contraintes non négociables : les données ne quittent pas l'établissement, et je n'ai travaillé que sur des données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commence par l'état de l'art et l'existant, puis la solution et ses résultats, une démonstration, et je termine par les limites.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structurent tout le projet. L'ELT : on charge la donnée brute d'abord, on la transforme ensuite. Le modèle Medallion : trois zones de qualité croissante, RAW, SILVER et GOLD, qu'on peut rejouer. Le Master Patient Index : l'annuaire qui reconnaît un même patient et lui donne un identifiant unique. Et le consentement par finalité : le patient autorise un usage précis, jamais un accès global. Sans avis de sa part, c'est un refus.</a:t>
            </a:r>
          </a:p>
          <a:p/>
          <a:p>
            <a:r>
              <a:t>→ Existe-t-il déjà un produit qui fasse tout cela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à partir de leur documentation : je ne les ai pas installées. Les plus complètes sur l'identité, comme EMPI ou Talend, sont lourdes et sous licence. Azure est un service cloud, donc exclu par l'hébergement interne. Splink est excellent sur l'algorithme, mais ses poids sont difficiles à expliquer à un gestionnaire de données.</a:t>
            </a:r>
          </a:p>
          <a:p/>
          <a:p>
            <a:r>
              <a:t>Aucune ne coche les six critères. J'ai donc construit une chaîne sur mesure, mais adossée aux standards : Fellegi-Sunter pour la décision, FHIR pour le format, Medallion pour le lac.</a:t>
            </a:r>
          </a:p>
          <a:p/>
          <a:p>
            <a:r>
              <a:t>→ Côté établissement, qu'est-ce qui existait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 MAVIS, sous Odoo, avec 1 260 tables sur le serveur distant ; MMT_DB, sous GNU Health ; et une base clinique en SQLite. Chacune est cohérente avec elle-même : la clinique n'a aucune violation de clé. Le problème n'est donc pas la qualité de chaque base. C'est l'absence de pont entre elles.</a:t>
            </a:r>
          </a:p>
          <a:p/>
          <a:p>
            <a:r>
              <a:t>→ Ce pont manquant se décompose en cinq manques.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Pas d'identifiant commun : le CIN manque pour environ un quart des patients. Pas de format commun. Pas de rapprochement explicable. Pas de gouvernance. Et pas d'espace pour rejouer un traitement. Le premier prototype comptait 24 872 marqueurs de doublon, mais sans jamais dire pourquoi : on détectait, on n'expliquait pas.</a:t>
            </a:r>
          </a:p>
          <a:p/>
          <a:p>
            <a:r>
              <a:t>→ Ma réponse a commencé petit.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prototype simple, en Pandas et PostgreSQL, pour vérifier que le problème métier se résout. Niveau 2 : le même moteur porté en Spark, avec des résultats strictement identiques. Niveau 3 : le lac de données sur HDFS, Hive et Spark.</a:t>
            </a:r>
          </a:p>
          <a:p/>
          <a:p>
            <a:r>
              <a:t>Deux garde-fous : je n'ai changé d'échelle qu'après avoir validé la qualité sur une vérité terrain, et je n'ai ouvert les accès qu'une fois la gouvernance en place. Chaque technologie arrive parce qu'un besoin l'exige.</a:t>
            </a:r>
          </a:p>
          <a:p/>
          <a:p>
            <a:r>
              <a:t>→ Voici le chemin d'une donnée dans l'architecture finale.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sources sont copiées telles quelles dans la zone RAW, sur HDFS. Elles sont ensuite harmonisées au format FHIR dans la zone SILVER, où le moteur rattache chaque fiche à son patient maître. La zone GOLD porte les agrégats et le consentement. PostgreSQL garde l'état de référence : patients maîtres, consentements, journal d'audit. Et l'API de gouvernance est la seule porte d'entrée : chaque appel y est journalisé. Le tout tourne sur une machine virtuelle de 8 Go, avec des outils libres.</a:t>
            </a:r>
          </a:p>
          <a:p/>
          <a:p>
            <a:r>
              <a:t>→ Le cœur de cette architecture, c'est le moteur de déduplication.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 règle tient en une phrase : aucune fusion sans justification.</a:t>
            </a:r>
          </a:p>
          <a:p/>
          <a:p>
            <a:r>
              <a:t>Pour ne pas comparer tout le monde avec tout le monde, le moteur ne compare que des candidats plausibles : même début de nom, même date de naissance ou même CIN. Puis deux passes. D'abord une passe exacte : même nom normalisé, même date, même CIN. Sinon, un score pondéré : le nom compte pour moitié, la date pour 0,3, le CIN et la ville pour 0,1 chacun. Au-dessus de 0,80, on rattache ; en dessous, on crée un nouveau patient.</a:t>
            </a:r>
          </a:p>
          <a:p/>
          <a:p>
            <a:r>
              <a:t>Chaque décision porte sa méthode, son score et son explication. Un gestionnaire peut donc la relire, et la contester.</a:t>
            </a:r>
          </a:p>
          <a:p/>
          <a:p>
            <a:r>
              <a:t>→ Une fois l'identité établie, reste à savoir qui peut la lire.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demande ? La clé d'API donne l'utilisateur et son rôle ; une clé inconnue, c'est 401. Pourquoi ? La finalité est obligatoire ; si le patient ne l'a pas acceptée, c'est 403, même pour un utilisateur autorisé. Et la trace : chaque appel, accepté ou refusé, est journalisé avec son motif.</a:t>
            </a:r>
          </a:p>
          <a:p/>
          <a:p>
            <a:r>
              <a:t>Aujourd'hui, le patient choisit par finalité : consultation via l'API, recherche, statistiques. L'étape suivante, en cours de développement, c'est le choix par type de dossier : accepter qu'on lise ses consultations, mais refuser l'imagerie.</a:t>
            </a:r>
          </a:p>
          <a:p/>
          <a:p>
            <a:r>
              <a:t>→ Qu'est-ce que tout cela donne sur des données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 le jeu difficile, rejoué dans la VM le 29 septembre : 1 057 fiches, 803 patients distincts, 254 doublons rattachés, soit 24 % de doublons. La cohérence se vérifie par une soustraction : 1 057 moins 254, 803. Les cinq étapes réussissent, et les 123 tests passent.</a:t>
            </a:r>
          </a:p>
          <a:p/>
          <a:p>
            <a:r>
              <a:t>→ Mais ces 803 patients sont-ils les bons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le savoir, il faut connaître la vérité. J'ai donc généré 500 patients fictifs, puis trois jeux où 10, 30 ou 50 % des fiches sont abîmées : fautes de frappe, inversions, formats.</a:t>
            </a:r>
          </a:p>
          <a:p/>
          <a:p>
            <a:r>
              <a:t>Résultat principal : zéro fusion à tort, sur les trois niveaux. En santé, c'est la propriété qui compte : confondre deux patients est plus grave que de les laisser séparés. Sa portée a une limite : mon générateur ne crée pas de sosies, deux personnes différentes qui se ressemblent. Ce résultat vaut donc pour les erreurs que j'ai simulées ; face à de vrais homonymes, c'est une estimation optimiste.</a:t>
            </a:r>
          </a:p>
          <a:p/>
          <a:p>
            <a:r>
              <a:t>Le prix de cette prudence, c'est le rappel : 0,422 sur le jeu difficile, après être parti de 0,287. Pandas et Spark donnent exactement les mêmes résultats, et le pipeline complet, mesuré sur la même vérité terrain, aussi : précision 1,000, rappel 0,424.</a:t>
            </a:r>
          </a:p>
          <a:p/>
          <a:p>
            <a:r>
              <a:t>→ Je vous montre maintenant la chaîne en fonctionnement.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vidéo suit l'ordre de construction du projet : les tests, l'évaluation, le pipeline, puis le tableau de bord.</a:t>
            </a:r>
          </a:p>
          <a:p/>
          <a:p>
            <a:r>
              <a:t>123 tests, aucun échec : moteur, gouvernance, pipeline.</a:t>
            </a:r>
          </a:p>
          <a:p/>
          <a:p>
            <a:r>
              <a:t>Précision 1,000, rappel 0,422, mêmes décisions en Pandas et en Spark.</a:t>
            </a:r>
          </a:p>
          <a:p/>
          <a:p>
            <a:r>
              <a:t>Les étapes s'enchaînent jusqu'à la zone GOLD.</a:t>
            </a:r>
          </a:p>
          <a:p/>
          <a:p>
            <a:r>
              <a:t>Les zones, le dernier run et la planification.</a:t>
            </a:r>
          </a:p>
          <a:p/>
          <a:p>
            <a:r>
              <a:t>Les mêmes preuves en chiffres : 1 057, 803, 254.</a:t>
            </a:r>
          </a:p>
          <a:p/>
          <a:p>
            <a:r>
              <a:t>→ Ce que je n'ai pas résolu.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reste à 0,42. La planification automatique n'a pas encore été activée. La base centrale est une base de test, avec des consentements de démonstration. Et la plateforme n'est pas déployée : c'est un prototype reproductible.</a:t>
            </a:r>
          </a:p>
          <a:p/>
          <a:p>
            <a:r>
              <a:t>La suite : terminer le consentement par type de dossier, calibrer le seuil, activer la planification. Et avant toute mise en production, vérifier le droit malgache des données de santé.</a:t>
            </a:r>
          </a:p>
          <a:p/>
          <a:p>
            <a:r>
              <a:t>→ Pour conclure.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plateforme centralise, normalise, déduplique sans jamais fusionner à tort, et contrôle chaque accès par le consentement. Changer d'échelle n'a pas changé la logique. Et derrière chaque chiffre, il y a ce patient du début : reconnu comme une seule personne, et maître de l'usage de ses données.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à votre disposition pour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FHIR normalisé</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exact + probabiliste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jamais de fusion sans justification</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Blocking</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ne comparer que les candidats : préfixe du nom, date, CIN</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exacte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nom normalisé + naissance + CIN identiques → score 1,0</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probabiliste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score pondéré ≥ 0,80 → fusion ; sinon nouveau patient maître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a:t>
            </a:r>
            <a:r>
              <a:rPr sz="1600" b="1" i="0">
                <a:solidFill>
                  <a:srgbClr val="FFFFFF"/>
                </a:solidFill>
                <a:latin typeface="Calibri"/>
              </a:rPr>
              <a:t>méthode · score · explication</a:t>
            </a:r>
          </a:p>
          <a:p>
            <a:pPr algn="ctr"/>
            <a:r>
              <a:rPr sz="1500" b="0" i="0">
                <a:solidFill>
                  <a:srgbClr val="FFFFFF"/>
                </a:solidFill>
                <a:latin typeface="Consolas"/>
              </a:rPr>
              <a:t>exact</a:t>
            </a:r>
            <a:r>
              <a:rPr sz="1600" b="0" i="0">
                <a:solidFill>
                  <a:srgbClr val="FFFFFF"/>
                </a:solidFill>
                <a:latin typeface="Calibri"/>
              </a:rPr>
              <a:t> · </a:t>
            </a:r>
            <a:r>
              <a:rPr sz="1500" b="0" i="0">
                <a:solidFill>
                  <a:srgbClr val="FFFFFF"/>
                </a:solidFill>
                <a:latin typeface="Consolas"/>
              </a:rPr>
              <a:t>probabilistic</a:t>
            </a:r>
            <a:r>
              <a:rPr sz="1600" b="0" i="0">
                <a:solidFill>
                  <a:srgbClr val="FFFFFF"/>
                </a:solidFill>
                <a:latin typeface="Calibri"/>
              </a:rPr>
              <a:t> · </a:t>
            </a:r>
            <a:r>
              <a:rPr sz="1500" b="0" i="0">
                <a:solidFill>
                  <a:srgbClr val="FFFFFF"/>
                </a:solidFill>
                <a:latin typeface="Consolas"/>
              </a:rPr>
              <a:t>new_master</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Composition du score de similarité</a:t>
            </a:r>
          </a:p>
        </p:txBody>
      </p:sp>
      <p:sp>
        <p:nvSpPr>
          <p:cNvPr id="21" name="Rectangle 20"/>
          <p:cNvSpPr/>
          <p:nvPr/>
        </p:nvSpPr>
        <p:spPr>
          <a:xfrm>
            <a:off x="6675120" y="2103120"/>
            <a:ext cx="2483967"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2483967"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Nom</a:t>
            </a:r>
          </a:p>
          <a:p>
            <a:pPr algn="ctr"/>
            <a:r>
              <a:rPr sz="1500" b="1" i="0">
                <a:solidFill>
                  <a:srgbClr val="FFFFFF"/>
                </a:solidFill>
                <a:latin typeface="Calibri"/>
              </a:rPr>
              <a:t>0,5</a:t>
            </a:r>
          </a:p>
        </p:txBody>
      </p:sp>
      <p:sp>
        <p:nvSpPr>
          <p:cNvPr id="23" name="Rectangle 22"/>
          <p:cNvSpPr/>
          <p:nvPr/>
        </p:nvSpPr>
        <p:spPr>
          <a:xfrm>
            <a:off x="9159087" y="2103120"/>
            <a:ext cx="1490380"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9159087" y="2148840"/>
            <a:ext cx="1490380"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Naissance</a:t>
            </a:r>
          </a:p>
          <a:p>
            <a:pPr algn="ctr"/>
            <a:r>
              <a:rPr sz="1500" b="1" i="0">
                <a:solidFill>
                  <a:srgbClr val="FFFFFF"/>
                </a:solidFill>
                <a:latin typeface="Calibri"/>
              </a:rPr>
              <a:t>0,3</a:t>
            </a:r>
          </a:p>
        </p:txBody>
      </p:sp>
      <p:sp>
        <p:nvSpPr>
          <p:cNvPr id="25" name="Rectangle 24"/>
          <p:cNvSpPr/>
          <p:nvPr/>
        </p:nvSpPr>
        <p:spPr>
          <a:xfrm>
            <a:off x="10649468" y="2103120"/>
            <a:ext cx="49679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10649468"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CIN</a:t>
            </a:r>
          </a:p>
          <a:p>
            <a:pPr algn="ctr"/>
            <a:r>
              <a:rPr sz="1300" b="1" i="0">
                <a:solidFill>
                  <a:srgbClr val="1D2433"/>
                </a:solidFill>
                <a:latin typeface="Calibri"/>
              </a:rPr>
              <a:t>0,1</a:t>
            </a:r>
          </a:p>
        </p:txBody>
      </p:sp>
      <p:sp>
        <p:nvSpPr>
          <p:cNvPr id="27" name="Rectangle 26"/>
          <p:cNvSpPr/>
          <p:nvPr/>
        </p:nvSpPr>
        <p:spPr>
          <a:xfrm>
            <a:off x="11146261" y="2103120"/>
            <a:ext cx="49679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1146261"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0,1</a:t>
            </a:r>
          </a:p>
        </p:txBody>
      </p:sp>
      <p:cxnSp>
        <p:nvCxnSpPr>
          <p:cNvPr id="29" name="Connector 28"/>
          <p:cNvCxnSpPr/>
          <p:nvPr/>
        </p:nvCxnSpPr>
        <p:spPr>
          <a:xfrm flipV="1">
            <a:off x="10649468" y="2971800"/>
            <a:ext cx="0" cy="548639"/>
          </a:xfrm>
          <a:prstGeom prst="line">
            <a:avLst/>
          </a:prstGeom>
          <a:ln w="31750">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seuil de fusion :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CAS DE RÉFÉRENCE</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Jean Rakoto</a:t>
            </a:r>
            <a:r>
              <a:rPr sz="1500" b="0" i="0">
                <a:solidFill>
                  <a:srgbClr val="1D2433"/>
                </a:solidFill>
                <a:latin typeface="Calibri"/>
              </a:rPr>
              <a:t> : 3 fiches → </a:t>
            </a:r>
            <a:r>
              <a:rPr sz="1500" b="1" i="0">
                <a:solidFill>
                  <a:srgbClr val="1D2433"/>
                </a:solidFill>
                <a:latin typeface="Calibri"/>
              </a:rPr>
              <a:t>PAT-0102</a:t>
            </a:r>
            <a:r>
              <a:rPr sz="1500" b="0" i="0">
                <a:solidFill>
                  <a:srgbClr val="1D2433"/>
                </a:solidFill>
                <a:latin typeface="Calibri"/>
              </a:rPr>
              <a:t>, méthode </a:t>
            </a:r>
            <a:r>
              <a:rPr sz="1500" b="0" i="1">
                <a:solidFill>
                  <a:srgbClr val="1D2433"/>
                </a:solidFill>
                <a:latin typeface="Calibri"/>
              </a:rPr>
              <a:t>exacte</a:t>
            </a:r>
            <a:r>
              <a:rPr sz="1500" b="0" i="0">
                <a:solidFill>
                  <a:srgbClr val="1D2433"/>
                </a:solidFill>
                <a:latin typeface="Calibri"/>
              </a:rPr>
              <a:t> (CIN identique après normalisation)</a:t>
            </a:r>
          </a:p>
          <a:p>
            <a:pPr algn="l">
              <a:spcAft>
                <a:spcPts val="600"/>
              </a:spcAft>
            </a:pPr>
            <a:r>
              <a:rPr sz="1500" b="1" i="0">
                <a:solidFill>
                  <a:srgbClr val="1D2433"/>
                </a:solidFill>
                <a:latin typeface="Calibri"/>
              </a:rPr>
              <a:t>Nirina</a:t>
            </a:r>
            <a:r>
              <a:rPr sz="1500" b="0" i="0">
                <a:solidFill>
                  <a:srgbClr val="1D2433"/>
                </a:solidFill>
                <a:latin typeface="Calibri"/>
              </a:rPr>
              <a:t> : rattachée par méthode </a:t>
            </a:r>
            <a:r>
              <a:rPr sz="1500" b="0" i="1">
                <a:solidFill>
                  <a:srgbClr val="1D2433"/>
                </a:solidFill>
                <a:latin typeface="Calibri"/>
              </a:rPr>
              <a:t>probabiliste</a:t>
            </a:r>
            <a:r>
              <a:rPr sz="1500" b="0" i="0">
                <a:solidFill>
                  <a:srgbClr val="1D2433"/>
                </a:solidFill>
                <a:latin typeface="Calibri"/>
              </a:rPr>
              <a:t>, score ≥ 0,80</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difficile : 1 057 fiches ramenées à 803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1 057</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(404 + 353 + 300)</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803</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254</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24,03 %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1 057 − 254 = 803</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5 / 5</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29/09/2026)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123 / 123</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pipeline)</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Jeu d'évaluation difficile, données synthétiques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les trois niveaux</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Pandas = Spark</a:t>
            </a:r>
          </a:p>
          <a:p>
            <a:pPr algn="l">
              <a:spcAft>
                <a:spcPts val="400"/>
              </a:spcAft>
            </a:pPr>
            <a:r>
              <a:rPr sz="1500" b="0" i="0">
                <a:solidFill>
                  <a:srgbClr val="1D2433"/>
                </a:solidFill>
                <a:latin typeface="Calibri"/>
              </a:rPr>
              <a:t>VP 307 · FP 0 · FN 420 dans les deux implémentations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0,287 → 0,422</a:t>
            </a:r>
          </a:p>
          <a:p>
            <a:pPr algn="l">
              <a:spcAft>
                <a:spcPts val="400"/>
              </a:spcAft>
            </a:pPr>
            <a:r>
              <a:rPr sz="1500" b="0" i="0">
                <a:solidFill>
                  <a:srgbClr val="1D2433"/>
                </a:solidFill>
                <a:latin typeface="Calibri"/>
              </a:rPr>
              <a:t>grâce au CIN dans la clé exacte, sans aucun faux positif</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123 / 123</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1 057 · 803 · 254</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a:t>
            </a:r>
            <a:r>
              <a:rPr sz="1600" b="1" i="0">
                <a:solidFill>
                  <a:srgbClr val="1D2433"/>
                </a:solidFill>
                <a:latin typeface="Calibri"/>
              </a:rPr>
              <a:t>0,422</a:t>
            </a:r>
            <a:r>
              <a:rPr sz="1600" b="0" i="0">
                <a:solidFill>
                  <a:srgbClr val="1D2433"/>
                </a:solidFill>
                <a:latin typeface="Calibri"/>
              </a:rPr>
              <a:t> sur le jeu difficile (seuil prudent)</a:t>
            </a:r>
          </a:p>
          <a:p>
            <a:pPr marL="228600" indent="-201168" algn="l">
              <a:spcAft>
                <a:spcPts val="1000"/>
              </a:spcAft>
              <a:buClr>
                <a:srgbClr val="2E5597"/>
              </a:buClr>
              <a:buChar char="•"/>
            </a:pPr>
            <a:r>
              <a:rPr sz="1600" b="0" i="0">
                <a:solidFill>
                  <a:srgbClr val="1D2433"/>
                </a:solidFill>
                <a:latin typeface="Calibri"/>
              </a:rPr>
              <a:t>Planification </a:t>
            </a:r>
            <a:r>
              <a:rPr sz="1600" b="1" i="0">
                <a:solidFill>
                  <a:srgbClr val="1D2433"/>
                </a:solidFill>
                <a:latin typeface="Calibri"/>
              </a:rPr>
              <a:t>cron non activée</a:t>
            </a:r>
            <a:r>
              <a:rPr sz="1600" b="0" i="0">
                <a:solidFill>
                  <a:srgbClr val="1D2433"/>
                </a:solidFill>
                <a:latin typeface="Calibri"/>
              </a:rPr>
              <a:t> : logique testée, pas encore observée</a:t>
            </a:r>
          </a:p>
          <a:p>
            <a:pPr marL="228600" indent="-201168" algn="l">
              <a:spcAft>
                <a:spcPts val="1000"/>
              </a:spcAft>
              <a:buClr>
                <a:srgbClr val="2E5597"/>
              </a:buClr>
              <a:buChar char="•"/>
            </a:pPr>
            <a:r>
              <a:rPr sz="1600" b="0" i="0">
                <a:solidFill>
                  <a:srgbClr val="1D2433"/>
                </a:solidFill>
                <a:latin typeface="Calibri"/>
              </a:rPr>
              <a:t>Base centrale </a:t>
            </a:r>
            <a:r>
              <a:rPr sz="1600" b="1" i="0">
                <a:solidFill>
                  <a:srgbClr val="1D2433"/>
                </a:solidFill>
                <a:latin typeface="Calibri"/>
              </a:rPr>
              <a:t>de test</a:t>
            </a:r>
            <a:r>
              <a:rPr sz="1600" b="0" i="0">
                <a:solidFill>
                  <a:srgbClr val="1D2433"/>
                </a:solidFill>
                <a:latin typeface="Calibri"/>
              </a:rPr>
              <a:t> : consentements de démonstration</a:t>
            </a:r>
          </a:p>
          <a:p>
            <a:pPr marL="228600" indent="-201168" algn="l">
              <a:spcAft>
                <a:spcPts val="1000"/>
              </a:spcAft>
              <a:buClr>
                <a:srgbClr val="2E5597"/>
              </a:buClr>
              <a:buChar char="•"/>
            </a:pPr>
            <a:r>
              <a:rPr sz="1600" b="0" i="0">
                <a:solidFill>
                  <a:srgbClr val="1D2433"/>
                </a:solidFill>
                <a:latin typeface="Calibri"/>
              </a:rPr>
              <a:t>Plateforme </a:t>
            </a:r>
            <a:r>
              <a:rPr sz="1600" b="1" i="0">
                <a:solidFill>
                  <a:srgbClr val="1D2433"/>
                </a:solidFill>
                <a:latin typeface="Calibri"/>
              </a:rPr>
              <a:t>non déployée</a:t>
            </a:r>
            <a:r>
              <a:rPr sz="1600" b="0" i="0">
                <a:solidFill>
                  <a:srgbClr val="1D2433"/>
                </a:solidFill>
                <a:latin typeface="Calibri"/>
              </a:rPr>
              <a:t> : prototype reproductible sur VM</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a:t>
            </a:r>
            <a:r>
              <a:rPr sz="1600" b="0" i="0">
                <a:solidFill>
                  <a:srgbClr val="1D2433"/>
                </a:solidFill>
                <a:latin typeface="Calibri"/>
              </a:rPr>
              <a:t> : consentement par type de dossier, calibrage du seuil, activation du cron</a:t>
            </a:r>
          </a:p>
          <a:p>
            <a:pPr marL="228600" indent="-201168" algn="l">
              <a:spcAft>
                <a:spcPts val="1000"/>
              </a:spcAft>
              <a:buClr>
                <a:srgbClr val="2E5597"/>
              </a:buClr>
              <a:buChar char="•"/>
            </a:pPr>
            <a:r>
              <a:rPr sz="1600" b="1" i="0">
                <a:solidFill>
                  <a:srgbClr val="1D2433"/>
                </a:solidFill>
                <a:latin typeface="Calibri"/>
              </a:rPr>
              <a:t>Moyen terme</a:t>
            </a:r>
            <a:r>
              <a:rPr sz="1600" b="0" i="0">
                <a:solidFill>
                  <a:srgbClr val="1D2433"/>
                </a:solidFill>
                <a:latin typeface="Calibri"/>
              </a:rPr>
              <a:t> : intégration continue, blocking partitionné, volumes réels</a:t>
            </a:r>
          </a:p>
          <a:p>
            <a:pPr marL="228600" indent="-201168" algn="l">
              <a:spcAft>
                <a:spcPts val="1000"/>
              </a:spcAft>
              <a:buClr>
                <a:srgbClr val="2E5597"/>
              </a:buClr>
              <a:buChar char="•"/>
            </a:pPr>
            <a:r>
              <a:rPr sz="1600" b="1" i="0">
                <a:solidFill>
                  <a:srgbClr val="1D2433"/>
                </a:solidFill>
                <a:latin typeface="Calibri"/>
              </a:rPr>
              <a:t>Long terme</a:t>
            </a:r>
            <a:r>
              <a:rPr sz="1600" b="0" i="0">
                <a:solidFill>
                  <a:srgbClr val="1D2433"/>
                </a:solidFill>
                <a:latin typeface="Calibri"/>
              </a:rPr>
              <a:t> : catalogue de métadonnées, autres entités (médecins, médicaments)</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1 057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exact + probabiliste,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3243</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3</cp:revision>
  <dcterms:created xsi:type="dcterms:W3CDTF">2013-01-27T09:14:16Z</dcterms:created>
  <dcterms:modified xsi:type="dcterms:W3CDTF">2026-09-28T19:53:43Z</dcterms:modified>
  <cp:category/>
</cp:coreProperties>
</file>