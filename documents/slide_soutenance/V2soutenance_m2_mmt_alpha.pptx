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11480"/>
            <a:ext cx="2616797" cy="64008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877" y="411480"/>
            <a:ext cx="1674627" cy="64008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1785" y="411480"/>
            <a:ext cx="4085617" cy="6400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0" y="365760"/>
            <a:ext cx="685799" cy="731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01168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4400" i="1">
                <a:solidFill>
                  <a:srgbClr val="106D8E"/>
                </a:solidFill>
                <a:latin typeface="Calibri"/>
              </a:rPr>
              <a:t>Plateforme Big Data de gestion et de gouvernance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4400" i="1">
                <a:solidFill>
                  <a:srgbClr val="106D8E"/>
                </a:solidFill>
                <a:latin typeface="Calibri"/>
              </a:rPr>
              <a:t>des données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1280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2200" i="0">
                <a:solidFill>
                  <a:srgbClr val="0B2E4F"/>
                </a:solidFill>
                <a:latin typeface="Calibri"/>
              </a:rPr>
              <a:t>Nettoyage · Déduplication explicable · Contrôle d'accès par consentement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2000" i="1">
                <a:solidFill>
                  <a:srgbClr val="20303C"/>
                </a:solidFill>
                <a:latin typeface="Calibri"/>
              </a:rPr>
              <a:t>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2000" i="0">
                <a:solidFill>
                  <a:srgbClr val="20303C"/>
                </a:solidFill>
                <a:latin typeface="Calibri"/>
              </a:rPr>
              <a:t>Présenté par : </a:t>
            </a:r>
            <a:r>
              <a:rPr b="1" sz="2000" i="0">
                <a:solidFill>
                  <a:srgbClr val="20303C"/>
                </a:solidFill>
                <a:latin typeface="Calibri"/>
              </a:rPr>
              <a:t>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0080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Encadrant professionnel : M. Harena Ny Aina Rabemanoela  ·  Encadrant pédagogique : M. RABENANAHARY Rojo</a:t>
            </a:r>
          </a:p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Madagascar Medical Technology (MMT) — Master MBDS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Présentation de l'entreprise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2651760" cy="10058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Ingénierie biomédicale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828800"/>
            <a:ext cx="2651760" cy="10058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Madagascar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1828800"/>
            <a:ext cx="2011680" cy="10058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2009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3246120"/>
            <a:ext cx="4023360" cy="822960"/>
          </a:xfrm>
          <a:prstGeom prst="roundRect">
            <a:avLst>
              <a:gd name="adj" fmla="val 20000"/>
            </a:avLst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Madagascar Medical Technology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80560"/>
            <a:ext cx="7863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Domaines d'activité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7680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Distribution et maintenance de matériels biomédicaux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Fourniture de consommables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Gestion de stock des établissements partenaires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Business Partner </a:t>
            </a:r>
            <a:r>
              <a:rPr b="1" sz="1600" i="0">
                <a:solidFill>
                  <a:srgbClr val="20303C"/>
                </a:solidFill>
                <a:latin typeface="Calibri"/>
              </a:rPr>
              <a:t>Siemens Healthineers</a:t>
            </a:r>
            <a:r>
              <a:rPr b="0" sz="1600" i="0">
                <a:solidFill>
                  <a:srgbClr val="20303C"/>
                </a:solidFill>
                <a:latin typeface="Calibri"/>
              </a:rPr>
              <a:t> (branche sud-africaine)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83080"/>
            <a:ext cx="480060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1287" y="1965960"/>
            <a:ext cx="2486025" cy="26517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144000" y="5029200"/>
            <a:ext cx="4800600" cy="2148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5248656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Département R&amp;D (depuis 2024)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5806440"/>
            <a:ext cx="43891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Systèmes d'information médicale, infrastructures et réseaux informatiques.</a:t>
            </a:r>
          </a:p>
          <a:p>
            <a:pPr algn="l">
              <a:spcAft>
                <a:spcPts val="400"/>
              </a:spcAft>
            </a:pPr>
            <a:r>
              <a:rPr b="1" sz="1500" i="0">
                <a:solidFill>
                  <a:srgbClr val="20303C"/>
                </a:solidFill>
                <a:latin typeface="Calibri"/>
              </a:rPr>
              <a:t>Lieu du stage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, du 6 juillet à fin octobre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Question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1920240"/>
            <a:ext cx="3840480" cy="7772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Plusieurs systèmes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920240"/>
            <a:ext cx="3840480" cy="7772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Un même patient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63240"/>
            <a:ext cx="13258800" cy="91440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1" sz="2000" i="0">
                <a:solidFill>
                  <a:srgbClr val="0B2E4F"/>
                </a:solidFill>
                <a:latin typeface="Calibri"/>
              </a:rPr>
              <a:t>Comment savoir qu'il s'agit du même patient — et qui a le droit de lire ses données, pour quelle finalité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4434840"/>
            <a:ext cx="10424160" cy="1737360"/>
          </a:xfrm>
          <a:prstGeom prst="roundRect">
            <a:avLst>
              <a:gd name="adj" fmla="val 8000"/>
            </a:avLst>
          </a:prstGeom>
          <a:solidFill>
            <a:srgbClr val="F4F8FA"/>
          </a:solidFill>
          <a:ln w="12700">
            <a:solidFill>
              <a:srgbClr val="D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/>
            <a:r>
              <a:rPr sz="1800">
                <a:solidFill>
                  <a:srgbClr val="20303C"/>
                </a:solidFill>
                <a:latin typeface="Consolas"/>
              </a:rPr>
              <a:t>Pharmacie     →  Jean Rakoto   ·  CIN 101 02404 5  ·  1990-01-10</a:t>
            </a:r>
          </a:p>
          <a:p>
            <a:pPr algn="l"/>
            <a:r>
              <a:rPr sz="1800">
                <a:solidFill>
                  <a:srgbClr val="20303C"/>
                </a:solidFill>
                <a:latin typeface="Consolas"/>
              </a:rPr>
              <a:t>Consultation  →  Rakoto Jean   ·  101024045        ·  10/01/1990</a:t>
            </a:r>
          </a:p>
          <a:p>
            <a:pPr algn="l"/>
            <a:r>
              <a:rPr sz="1800">
                <a:solidFill>
                  <a:srgbClr val="20303C"/>
                </a:solidFill>
                <a:latin typeface="Consolas"/>
              </a:rPr>
              <a:t>Imagerie      →  J. RAKOTO     ·  101024045        ·  1990/01/10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6400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600" i="1">
                <a:solidFill>
                  <a:srgbClr val="5A6B79"/>
                </a:solidFill>
                <a:latin typeface="Calibri"/>
              </a:rPr>
              <a:t>Trois fiches, trois formats… </a:t>
            </a:r>
            <a:r>
              <a:rPr b="1" sz="1600" i="1">
                <a:solidFill>
                  <a:srgbClr val="5A6B79"/>
                </a:solidFill>
                <a:latin typeface="Calibri"/>
              </a:rPr>
              <a:t>une seule personne</a:t>
            </a:r>
            <a:r>
              <a:rPr b="0" sz="1600" i="1">
                <a:solidFill>
                  <a:srgbClr val="5A6B79"/>
                </a:solidFill>
                <a:latin typeface="Calibri"/>
              </a:rPr>
              <a:t> (cas de référence du projet).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Contexte et problématique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8308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00253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Dispersion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Chaque service tient son propre registre, sans identifiant commun.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178308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00253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Hétérogénéité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60320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Genre </a:t>
            </a:r>
            <a:r>
              <a:rPr b="0" sz="1380" i="0">
                <a:solidFill>
                  <a:srgbClr val="20303C"/>
                </a:solidFill>
                <a:latin typeface="Consolas"/>
              </a:rPr>
              <a:t>H/F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, </a:t>
            </a:r>
            <a:r>
              <a:rPr b="0" sz="1380" i="0">
                <a:solidFill>
                  <a:srgbClr val="20303C"/>
                </a:solidFill>
                <a:latin typeface="Consolas"/>
              </a:rPr>
              <a:t>male/female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, </a:t>
            </a:r>
            <a:r>
              <a:rPr b="0" sz="1380" i="0">
                <a:solidFill>
                  <a:srgbClr val="20303C"/>
                </a:solidFill>
                <a:latin typeface="Consolas"/>
              </a:rPr>
              <a:t>Homme/femme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 ; dates et CIN aux formats divergents.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3192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513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Processus manuel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09159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Recoupements lents, erreurs humaines, aucune trace des décisions.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393192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1960" y="41513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Absence de gouvernance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4709159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Ni rôles, ni consentement par finalité, ni audit d'accès.</a:t>
            </a:r>
          </a:p>
        </p:txBody>
      </p:sp>
      <p:pic>
        <p:nvPicPr>
          <p:cNvPr id="23" name="Picture 22" descr="fig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79" y="1974382"/>
            <a:ext cx="6446520" cy="3732195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85800" y="6263640"/>
            <a:ext cx="13258800" cy="1005840"/>
          </a:xfrm>
          <a:prstGeom prst="roundRect">
            <a:avLst>
              <a:gd name="adj" fmla="val 1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Problématique</a:t>
            </a:r>
            <a:r>
              <a:rPr b="0" sz="1600" i="0">
                <a:solidFill>
                  <a:srgbClr val="FFFFFF"/>
                </a:solidFill>
                <a:latin typeface="Calibri"/>
              </a:rPr>
              <a:t> : intégrer, nettoyer, dédupliquer et centraliser ces données, en gardant la traçabilité des identités et en gouvernant l'accès par le consentement du patient.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Objectifs du projet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696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31136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Centraliser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889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Data Lake Medallion : zones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RAW → SILVER → GOLD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sur HDFS / Hive / Spark.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7024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231136"/>
            <a:ext cx="2148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Normaliser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7889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Modèle canonique </a:t>
            </a:r>
            <a:r>
              <a:rPr b="0" sz="1564" i="0">
                <a:solidFill>
                  <a:srgbClr val="20303C"/>
                </a:solidFill>
                <a:latin typeface="Consolas"/>
              </a:rPr>
              <a:t>CanonicalPatient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+ pivot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FHIR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(genre, dates, CIN).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5352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231136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Dédupliquer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7889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Master patient + identity map : chaque fusion justifiée par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score et méthode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3564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3680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58600" y="2231136"/>
            <a:ext cx="2148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Gouverner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27889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Rôles,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consentement par finalité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, audit de chaque accès, clés API hachées.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303520"/>
            <a:ext cx="13258800" cy="86868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0" sz="1800" i="0">
                <a:solidFill>
                  <a:srgbClr val="0B2E4F"/>
                </a:solidFill>
                <a:latin typeface="Calibri"/>
              </a:rPr>
              <a:t>Données </a:t>
            </a:r>
            <a:r>
              <a:rPr b="1" sz="1800" i="0">
                <a:solidFill>
                  <a:srgbClr val="0B2E4F"/>
                </a:solidFill>
                <a:latin typeface="Calibri"/>
              </a:rPr>
              <a:t>exclusivement synthétiques</a:t>
            </a:r>
            <a:r>
              <a:rPr b="0" sz="1800" i="0">
                <a:solidFill>
                  <a:srgbClr val="0B2E4F"/>
                </a:solidFill>
                <a:latin typeface="Calibri"/>
              </a:rPr>
              <a:t> — aucune donnée réelle de patient n'est manipulée.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Plan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Oval 10"/>
          <p:cNvSpPr/>
          <p:nvPr/>
        </p:nvSpPr>
        <p:spPr>
          <a:xfrm>
            <a:off x="3840480" y="1828800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847088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2200" i="0">
                <a:solidFill>
                  <a:srgbClr val="0B2E4F"/>
                </a:solidFill>
                <a:latin typeface="Calibri"/>
              </a:rPr>
              <a:t>État de l'art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26771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notions, critères, solutions du domaine</a:t>
            </a:r>
          </a:p>
        </p:txBody>
      </p:sp>
      <p:sp>
        <p:nvSpPr>
          <p:cNvPr id="14" name="Oval 13"/>
          <p:cNvSpPr/>
          <p:nvPr/>
        </p:nvSpPr>
        <p:spPr>
          <a:xfrm>
            <a:off x="3840480" y="2907791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926079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2200" i="0">
                <a:solidFill>
                  <a:srgbClr val="0B2E4F"/>
                </a:solidFill>
                <a:latin typeface="Calibri"/>
              </a:rPr>
              <a:t>Étude de l'existant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346703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les systèmes de MMT : points forts, limites</a:t>
            </a:r>
          </a:p>
        </p:txBody>
      </p:sp>
      <p:sp>
        <p:nvSpPr>
          <p:cNvPr id="17" name="Oval 16"/>
          <p:cNvSpPr/>
          <p:nvPr/>
        </p:nvSpPr>
        <p:spPr>
          <a:xfrm>
            <a:off x="3840480" y="3986783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4005071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2200" i="0">
                <a:solidFill>
                  <a:srgbClr val="0B2E4F"/>
                </a:solidFill>
                <a:latin typeface="Calibri"/>
              </a:rPr>
              <a:t>Solution proposée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425696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architecture Medallion + moteur de déduplication + gouvernance</a:t>
            </a:r>
          </a:p>
        </p:txBody>
      </p:sp>
      <p:sp>
        <p:nvSpPr>
          <p:cNvPr id="20" name="Oval 19"/>
          <p:cNvSpPr/>
          <p:nvPr/>
        </p:nvSpPr>
        <p:spPr>
          <a:xfrm>
            <a:off x="3840480" y="5065776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084064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2200" i="0">
                <a:solidFill>
                  <a:srgbClr val="0B2E4F"/>
                </a:solidFill>
                <a:latin typeface="Calibri"/>
              </a:rPr>
              <a:t>Fonctionnalités principales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5046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cas d'utilisation et résultats mesurés</a:t>
            </a:r>
          </a:p>
        </p:txBody>
      </p:sp>
      <p:sp>
        <p:nvSpPr>
          <p:cNvPr id="23" name="Oval 22"/>
          <p:cNvSpPr/>
          <p:nvPr/>
        </p:nvSpPr>
        <p:spPr>
          <a:xfrm>
            <a:off x="3840480" y="6144768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200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6163055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2200" i="0">
                <a:solidFill>
                  <a:srgbClr val="0B2E4F"/>
                </a:solidFill>
                <a:latin typeface="Calibri"/>
              </a:rPr>
              <a:t>Démonstration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6583679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500" i="0">
                <a:solidFill>
                  <a:srgbClr val="5A6B79"/>
                </a:solidFill>
                <a:latin typeface="Calibri"/>
              </a:rPr>
              <a:t>tests, évaluation ground-truth, pipeline de bout en 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État de l'art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Six solutions du domaine, étudiées sur documentation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85800" y="2194560"/>
          <a:ext cx="132588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4114800"/>
                <a:gridCol w="38404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Famille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Points forts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Limites ici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InterSystems EMPI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MPI santé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identité déterministe + probabiliste, PIX/PDQ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propriétaire, référentiel externe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Talend MDM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MDM / ETL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match &amp; survivorship, golden record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suite lourde, pas de FHIR natif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Azure Health Data Services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Cloud santé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FHIR managé, dé-identification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cloud : contraire à l'hébergement interne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HAPI FHIR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serveur FHIR de référence, </a:t>
                      </a:r>
                      <a:r>
                        <a:rPr b="0" sz="1288" i="0">
                          <a:solidFill>
                            <a:srgbClr val="20303C"/>
                          </a:solidFill>
                          <a:latin typeface="Consolas"/>
                        </a:rPr>
                        <a:t>$match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ni rapprochement, ni gouvernance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Splink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Fellegi–Sunter à l'échelle (EM, Spark)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poids EM peu lisibles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b="1" sz="1400" i="0">
                          <a:solidFill>
                            <a:srgbClr val="20303C"/>
                          </a:solidFill>
                          <a:latin typeface="Calibri"/>
                        </a:rPr>
                        <a:t>Apache Atlas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catalogue, lineage, classification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 i="0">
                          <a:solidFill>
                            <a:srgbClr val="20303C"/>
                          </a:solidFill>
                          <a:latin typeface="Calibri"/>
                        </a:rPr>
                        <a:t>métadonnées, pas de contrôle d'accès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85800" y="6629400"/>
            <a:ext cx="1325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1">
                <a:solidFill>
                  <a:srgbClr val="5A6B79"/>
                </a:solidFill>
                <a:latin typeface="Calibri"/>
              </a:rPr>
              <a:t>Capacités </a:t>
            </a:r>
            <a:r>
              <a:rPr b="1" sz="1400" i="1">
                <a:solidFill>
                  <a:srgbClr val="5A6B79"/>
                </a:solidFill>
                <a:latin typeface="Calibri"/>
              </a:rPr>
              <a:t>annoncées</a:t>
            </a:r>
            <a:r>
              <a:rPr b="0" sz="1400" i="1">
                <a:solidFill>
                  <a:srgbClr val="5A6B79"/>
                </a:solidFill>
                <a:latin typeface="Calibri"/>
              </a:rPr>
              <a:t> par la documentation : aucun produit n'a été installé ni mesuré.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État de l'art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Critères de comparaison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85800" y="2148840"/>
          <a:ext cx="13258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Critère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EMPI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Talend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HAPI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Splink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i="0">
                          <a:solidFill>
                            <a:srgbClr val="FFFFFF"/>
                          </a:solidFill>
                          <a:latin typeface="Calibri"/>
                        </a:rPr>
                        <a:t>Projet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Déduplication explicable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Interopérabilité FHIR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Gouvernance rôle + consentement + audit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Montée en charge Big Data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Hébergement interne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500" i="0">
                          <a:solidFill>
                            <a:srgbClr val="20303C"/>
                          </a:solidFill>
                          <a:latin typeface="Calibri"/>
                        </a:rPr>
                        <a:t>Faisabilité VM 8 Go / Python 3.8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85800" y="6263640"/>
            <a:ext cx="13258800" cy="822960"/>
          </a:xfrm>
          <a:prstGeom prst="roundRect">
            <a:avLst>
              <a:gd name="adj" fmla="val 1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Aucun produit ne coche les six cases</a:t>
            </a:r>
            <a:r>
              <a:rPr b="0" sz="1700" i="0">
                <a:solidFill>
                  <a:srgbClr val="FFFFFF"/>
                </a:solidFill>
                <a:latin typeface="Calibri"/>
              </a:rPr>
              <a:t> dans les contraintes du stage → une chaîne sur mesure, adossée aux standards.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État de l'art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Trois briques retenues, chacune introduite par un besoin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0280"/>
            <a:ext cx="420624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4414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459736"/>
            <a:ext cx="320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Apache Spark · HDFS · Hive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17520"/>
            <a:ext cx="3794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Stockage et traitement répartis ; Data Lake Medallion RAW → SILVER → GOLD. Il vient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après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le besoin.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60" y="2240280"/>
            <a:ext cx="420624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67528" y="24414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459736"/>
            <a:ext cx="320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Entity Resolution · RapidFuzz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017520"/>
            <a:ext cx="3794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Fellegi–Sunter : passe exacte puis probabiliste, score pondéré lisible, seuil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0,80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2240280"/>
            <a:ext cx="420624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8088" y="24414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60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459736"/>
            <a:ext cx="320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 i="0">
                <a:solidFill>
                  <a:srgbClr val="0B2E4F"/>
                </a:solidFill>
                <a:latin typeface="Calibri"/>
              </a:rPr>
              <a:t>FHIR · FastAPI · PostgreSQL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017520"/>
            <a:ext cx="3794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Pivot d'échange standard ; API qui applique rôle, finalité et consentement ; base de référence.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94960"/>
            <a:ext cx="13258800" cy="109728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Choix technologique</a:t>
            </a:r>
            <a:r>
              <a:rPr b="0" sz="1600" i="0">
                <a:solidFill>
                  <a:srgbClr val="0B2E4F"/>
                </a:solidFill>
                <a:latin typeface="Calibri"/>
              </a:rPr>
              <a:t> : RapidFuzz plutôt qu'un NLP lourd (crash sous Python 3.8), score explicable plutôt qu'EM, et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parité Pandas = Spark</a:t>
            </a:r>
            <a:r>
              <a:rPr b="0" sz="1600" i="0">
                <a:solidFill>
                  <a:srgbClr val="0B2E4F"/>
                </a:solidFill>
                <a:latin typeface="Calibri"/>
              </a:rPr>
              <a:t> vérifiée.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Étude de l'existant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Les systèmes d'information en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14015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MAVIS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Odoo + module de gestion hospitalière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PostgreSQL </a:t>
            </a:r>
            <a:r>
              <a:rPr b="1" sz="1600" i="0">
                <a:solidFill>
                  <a:srgbClr val="20303C"/>
                </a:solidFill>
                <a:latin typeface="Calibri"/>
              </a:rPr>
              <a:t>distant</a:t>
            </a:r>
            <a:r>
              <a:rPr b="0" sz="1600" i="0">
                <a:solidFill>
                  <a:srgbClr val="20303C"/>
                </a:solidFill>
                <a:latin typeface="Calibri"/>
              </a:rPr>
              <a:t> (tunnel SSH)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1 260 tables détectées, </a:t>
            </a:r>
            <a:r>
              <a:rPr b="1" sz="1600" i="0">
                <a:solidFill>
                  <a:srgbClr val="20303C"/>
                </a:solidFill>
                <a:latin typeface="Calibri"/>
              </a:rPr>
              <a:t>11 retenues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réplique locale : 73 090 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414015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MMT_DB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97180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GNU Health (dossier médical)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PostgreSQL local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9 tables, </a:t>
            </a:r>
            <a:r>
              <a:rPr b="1" sz="1600" i="0">
                <a:solidFill>
                  <a:srgbClr val="20303C"/>
                </a:solidFill>
                <a:latin typeface="Calibri"/>
              </a:rPr>
              <a:t>60 271 lignes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3 tables extraites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2414015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CLINIQUE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97180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Base SQLite d'une clinique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patients, visites, diagnostics, observations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1" sz="1600" i="0">
                <a:solidFill>
                  <a:srgbClr val="20303C"/>
                </a:solidFill>
                <a:latin typeface="Calibri"/>
              </a:rPr>
              <a:t>54 582 lignes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déjà alignée sur FHIR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83564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0" y="2414015"/>
            <a:ext cx="2743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Sources de démonstration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297180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pharmacy · consultation · imaging (CSV)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générateur synthétique, graine 42</a:t>
            </a:r>
          </a:p>
          <a:p>
            <a:pPr algn="l" marL="223520" indent="-223520">
              <a:spcAft>
                <a:spcPts val="400"/>
              </a:spcAft>
              <a:buChar char="•"/>
            </a:pPr>
            <a:r>
              <a:rPr b="1" sz="1600" i="0">
                <a:solidFill>
                  <a:srgbClr val="20303C"/>
                </a:solidFill>
                <a:latin typeface="Calibri"/>
              </a:rPr>
              <a:t>76 / 76 / 62</a:t>
            </a:r>
            <a:r>
              <a:rPr b="0" sz="1600" i="0">
                <a:solidFill>
                  <a:srgbClr val="20303C"/>
                </a:solidFill>
                <a:latin typeface="Calibri"/>
              </a:rPr>
              <a:t> au run de référence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85216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600" i="0">
                <a:solidFill>
                  <a:srgbClr val="5A6B79"/>
                </a:solidFill>
                <a:latin typeface="Calibri"/>
              </a:rPr>
              <a:t>Chaque logiciel est </a:t>
            </a:r>
            <a:r>
              <a:rPr b="1" sz="1600" i="0">
                <a:solidFill>
                  <a:srgbClr val="5A6B79"/>
                </a:solidFill>
                <a:latin typeface="Calibri"/>
              </a:rPr>
              <a:t>complet dans son périmètre</a:t>
            </a:r>
            <a:r>
              <a:rPr b="0" sz="1600" i="0">
                <a:solidFill>
                  <a:srgbClr val="5A6B79"/>
                </a:solidFill>
                <a:latin typeface="Calibri"/>
              </a:rPr>
              <a:t> — aucun n'est conçu pour être le référentiel d'identité de l'établissement.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Étude de l'existant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Points forts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028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400" i="0">
                <a:solidFill>
                  <a:srgbClr val="106D8E"/>
                </a:solidFill>
                <a:latin typeface="Calibri"/>
              </a:rPr>
              <a:t>9 791 / 9 791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11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jointure </a:t>
            </a:r>
            <a:r>
              <a:rPr b="0" sz="1380" i="0">
                <a:solidFill>
                  <a:srgbClr val="20303C"/>
                </a:solidFill>
                <a:latin typeface="Consolas"/>
              </a:rPr>
              <a:t>hms_patient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 ↔ </a:t>
            </a:r>
            <a:r>
              <a:rPr b="0" sz="1380" i="0">
                <a:solidFill>
                  <a:srgbClr val="20303C"/>
                </a:solidFill>
                <a:latin typeface="Consolas"/>
              </a:rPr>
              <a:t>res_partner</a:t>
            </a:r>
            <a:r>
              <a:rPr b="0" sz="1500" i="0">
                <a:solidFill>
                  <a:srgbClr val="20303C"/>
                </a:solidFill>
                <a:latin typeface="Calibri"/>
              </a:rPr>
              <a:t> vérifiée ligne à ligne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60" y="224028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251460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400" i="0">
                <a:solidFill>
                  <a:srgbClr val="106D8E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611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violation de clé étrangère dans CLINIQUE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224028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251460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400" i="0">
                <a:solidFill>
                  <a:srgbClr val="106D8E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3611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clés étrangères GNU Health découvertes automatiquement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0640"/>
            <a:ext cx="13258800" cy="109728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0" sz="1800" i="0">
                <a:solidFill>
                  <a:srgbClr val="0B2E4F"/>
                </a:solidFill>
                <a:latin typeface="Calibri"/>
              </a:rPr>
              <a:t>Chaque base est </a:t>
            </a:r>
            <a:r>
              <a:rPr b="1" sz="1800" i="0">
                <a:solidFill>
                  <a:srgbClr val="0B2E4F"/>
                </a:solidFill>
                <a:latin typeface="Calibri"/>
              </a:rPr>
              <a:t>intègre avec elle-même</a:t>
            </a:r>
            <a:r>
              <a:rPr b="0" sz="1800" i="0">
                <a:solidFill>
                  <a:srgbClr val="0B2E4F"/>
                </a:solidFill>
                <a:latin typeface="Calibri"/>
              </a:rPr>
              <a:t> : le défi n'est pas la qualité d'une base, c'est l'</a:t>
            </a:r>
            <a:r>
              <a:rPr b="1" sz="1800" i="0">
                <a:solidFill>
                  <a:srgbClr val="0B2E4F"/>
                </a:solidFill>
                <a:latin typeface="Calibri"/>
              </a:rPr>
              <a:t>absence de pont entre elles</a:t>
            </a:r>
            <a:r>
              <a:rPr b="0" sz="1800" i="0">
                <a:solidFill>
                  <a:srgbClr val="0B2E4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Étude de l'existant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Limitations identifiées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8600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Aucun identifiant patient transversal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228600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Aucune normalisation commune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044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Aucun rapprochement d'identité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352044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Aucune gouvernance des accès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8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Aucun espace de rejeu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75488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800" i="0">
                <a:solidFill>
                  <a:srgbClr val="0B2E4F"/>
                </a:solidFill>
                <a:latin typeface="Calibri"/>
              </a:rPr>
              <a:t>Recoupements entièrement manuels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172200"/>
            <a:ext cx="1325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600" i="1">
                <a:solidFill>
                  <a:srgbClr val="5A6B79"/>
                </a:solidFill>
                <a:latin typeface="Calibri"/>
              </a:rPr>
              <a:t>Mesure du problème : le PoC d'origine comptait </a:t>
            </a:r>
            <a:r>
              <a:rPr b="1" sz="1600" i="1">
                <a:solidFill>
                  <a:srgbClr val="5A6B79"/>
                </a:solidFill>
                <a:latin typeface="Calibri"/>
              </a:rPr>
              <a:t>24 872 marqueurs de doublon</a:t>
            </a:r>
            <a:r>
              <a:rPr b="0" sz="1600" i="1">
                <a:solidFill>
                  <a:srgbClr val="5A6B79"/>
                </a:solidFill>
                <a:latin typeface="Calibri"/>
              </a:rPr>
              <a:t> sans référentiel patient ni fusion justifiée.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Solution proposée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Architecture du système — trois niveaux, une logique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267712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19456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HDFS · Hive · Spark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578608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Data Lake Medallion RAW → SILVER → GOLD (VM 8 Go)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200400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127248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Moteur </a:t>
            </a:r>
            <a:r>
              <a:rPr b="1" sz="1656" i="0">
                <a:solidFill>
                  <a:srgbClr val="0B2E4F"/>
                </a:solidFill>
                <a:latin typeface="Consolas"/>
              </a:rPr>
              <a:t>engine/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511296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déduplication Pandas + Spark, parité stricte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133087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59935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PostgreSQL central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443983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masters, identity map, consentements, audit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065776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992624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API FastAPI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376672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rôle + finalité + consentement, refus 403 journalisé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5998464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925312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 i="0">
                <a:solidFill>
                  <a:srgbClr val="0B2E4F"/>
                </a:solidFill>
                <a:latin typeface="Calibri"/>
              </a:rPr>
              <a:t>Flask · Next.js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630936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indicateurs et interface de pilotage (optionnelle)</a:t>
            </a:r>
          </a:p>
        </p:txBody>
      </p:sp>
      <p:pic>
        <p:nvPicPr>
          <p:cNvPr id="27" name="Picture 26" descr="fig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2125424"/>
            <a:ext cx="7269480" cy="49845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Fonctionnalités principales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83080"/>
            <a:ext cx="4297680" cy="24231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00253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Centralisation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3886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Les sources arrivent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telles quelles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dans RAW (parquet HDFS, tables Hive).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60" y="1783080"/>
            <a:ext cx="4297680" cy="24231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200253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Normalisation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560320"/>
            <a:ext cx="3886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Un champ → un format : genre </a:t>
            </a:r>
            <a:r>
              <a:rPr b="0" sz="1564" i="0">
                <a:solidFill>
                  <a:srgbClr val="20303C"/>
                </a:solidFill>
                <a:latin typeface="Consolas"/>
              </a:rPr>
              <a:t>M/F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, dates ISO, CIN ; aucune valeur devinée.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783080"/>
            <a:ext cx="4297680" cy="24231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002536"/>
            <a:ext cx="3886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Déduplication explicable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3886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564" i="0">
                <a:solidFill>
                  <a:srgbClr val="20303C"/>
                </a:solidFill>
                <a:latin typeface="Consolas"/>
              </a:rPr>
              <a:t>master_patient_id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+ méthode + score + explication.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434840"/>
            <a:ext cx="4297680" cy="24231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65429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Consentement par finalité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5212079"/>
            <a:ext cx="3886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Finalité obligatoire ; non consentie → </a:t>
            </a:r>
            <a:r>
              <a:rPr b="1" sz="1700" i="0">
                <a:solidFill>
                  <a:srgbClr val="20303C"/>
                </a:solidFill>
                <a:latin typeface="Calibri"/>
              </a:rPr>
              <a:t>403</a:t>
            </a:r>
            <a:r>
              <a:rPr b="0" sz="1700" i="0">
                <a:solidFill>
                  <a:srgbClr val="20303C"/>
                </a:solidFill>
                <a:latin typeface="Calibri"/>
              </a:rPr>
              <a:t> + motif en audit.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4434840"/>
            <a:ext cx="4297680" cy="24231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465429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900" i="0">
                <a:solidFill>
                  <a:srgbClr val="0B2E4F"/>
                </a:solidFill>
                <a:latin typeface="Calibri"/>
              </a:rPr>
              <a:t>Pilotage du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5212079"/>
            <a:ext cx="3886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b="0" sz="1700" i="0">
                <a:solidFill>
                  <a:srgbClr val="20303C"/>
                </a:solidFill>
                <a:latin typeface="Calibri"/>
              </a:rPr>
              <a:t>Reprise après échec, ingestion incrémentale, planification cron.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Cas d'utilisation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Quatre étapes, huit cas d'utilisation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000" i="0">
                <a:solidFill>
                  <a:srgbClr val="0B2E4F"/>
                </a:solidFill>
                <a:latin typeface="Calibri"/>
              </a:rPr>
              <a:t>Intégrer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CU1 ingérer</a:t>
            </a:r>
          </a:p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CU2 normaliser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584448" y="3200400"/>
            <a:ext cx="457200" cy="411480"/>
          </a:xfrm>
          <a:prstGeom prst="rightArrow">
            <a:avLst/>
          </a:prstGeom>
          <a:solidFill>
            <a:srgbClr val="2FA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14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57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6060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000" i="0">
                <a:solidFill>
                  <a:srgbClr val="0B2E4F"/>
                </a:solidFill>
                <a:latin typeface="Calibri"/>
              </a:rPr>
              <a:t>Dédupliquer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200400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CU3 décider qui est</a:t>
            </a:r>
          </a:p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le même patient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13448" y="3200400"/>
            <a:ext cx="457200" cy="411480"/>
          </a:xfrm>
          <a:prstGeom prst="rightArrow">
            <a:avLst/>
          </a:prstGeom>
          <a:solidFill>
            <a:srgbClr val="2FA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43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6060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000" i="0">
                <a:solidFill>
                  <a:srgbClr val="0B2E4F"/>
                </a:solidFill>
                <a:latin typeface="Calibri"/>
              </a:rPr>
              <a:t>Gouverner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200400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CU4 consentement en GOLD</a:t>
            </a:r>
          </a:p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CU5 interroger l'API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442448" y="3200400"/>
            <a:ext cx="457200" cy="411480"/>
          </a:xfrm>
          <a:prstGeom prst="rightArrow">
            <a:avLst/>
          </a:prstGeom>
          <a:solidFill>
            <a:srgbClr val="2FA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972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115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70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26060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000" i="0">
                <a:solidFill>
                  <a:srgbClr val="0B2E4F"/>
                </a:solidFill>
                <a:latin typeface="Calibri"/>
              </a:rPr>
              <a:t>Exploiter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3200400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CU6 vues · CU7 planifier</a:t>
            </a:r>
          </a:p>
          <a:p>
            <a:pPr algn="ctr">
              <a:spcAft>
                <a:spcPts val="2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CU8 dossier patient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120640"/>
            <a:ext cx="13258800" cy="91440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0" sz="1600" i="0">
                <a:solidFill>
                  <a:srgbClr val="0B2E4F"/>
                </a:solidFill>
                <a:latin typeface="Calibri"/>
              </a:rPr>
              <a:t>Cas limite : un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refus de consentement</a:t>
            </a:r>
            <a:r>
              <a:rPr b="0" sz="1600" i="0">
                <a:solidFill>
                  <a:srgbClr val="0B2E4F"/>
                </a:solidFill>
                <a:latin typeface="Calibri"/>
              </a:rPr>
              <a:t> n'est jamais silencieux — il renvoie un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403</a:t>
            </a:r>
            <a:r>
              <a:rPr b="0" sz="1600" i="0">
                <a:solidFill>
                  <a:srgbClr val="0B2E4F"/>
                </a:solidFill>
                <a:latin typeface="Calibri"/>
              </a:rPr>
              <a:t> et reste consultable dans le journal d'audit.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26364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500" i="1">
                <a:solidFill>
                  <a:srgbClr val="5A6B79"/>
                </a:solidFill>
                <a:latin typeface="Calibri"/>
              </a:rPr>
              <a:t>Évaluation transverse : générateur synthétique + vérité terrain jamais fournie à l'algorithme.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Cas d'utilisation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Résultats mesurés au run de référence (07/09/2026)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688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800" i="0">
                <a:solidFill>
                  <a:srgbClr val="106D8E"/>
                </a:solidFill>
                <a:latin typeface="Calibri"/>
              </a:rPr>
              <a:t>214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lignes SILVER</a:t>
            </a:r>
          </a:p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76 + 76 + 62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24688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800" i="0">
                <a:solidFill>
                  <a:srgbClr val="106D8E"/>
                </a:solidFill>
                <a:latin typeface="Calibri"/>
              </a:rPr>
              <a:t>145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5661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patients maîtres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4688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800" i="0">
                <a:solidFill>
                  <a:srgbClr val="106D8E"/>
                </a:solidFill>
                <a:latin typeface="Calibri"/>
              </a:rPr>
              <a:t>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5661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doublons liés</a:t>
            </a:r>
          </a:p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214 − 69 = 145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83564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35640" y="24688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4800" i="0">
                <a:solidFill>
                  <a:srgbClr val="106D8E"/>
                </a:solidFill>
                <a:latin typeface="Calibri"/>
              </a:rPr>
              <a:t>32,24 %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18520" y="35661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b="0" sz="1500" i="0">
                <a:solidFill>
                  <a:srgbClr val="20303C"/>
                </a:solidFill>
                <a:latin typeface="Calibri"/>
              </a:rPr>
              <a:t>taux de doublons</a:t>
            </a:r>
          </a:p>
          <a:p>
            <a:pPr algn="ctr">
              <a:spcAft>
                <a:spcPts val="200"/>
              </a:spcAft>
            </a:pPr>
            <a:r>
              <a:rPr b="0" sz="1380" i="0">
                <a:solidFill>
                  <a:srgbClr val="20303C"/>
                </a:solidFill>
                <a:latin typeface="Consolas"/>
              </a:rPr>
              <a:t>mocked: false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03520"/>
            <a:ext cx="4206240" cy="82296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Pipeline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5 étapes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 · run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4/4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2080" y="5303520"/>
            <a:ext cx="4206240" cy="82296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Tests :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102/102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5303520"/>
            <a:ext cx="4206240" cy="82296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600" i="0">
                <a:solidFill>
                  <a:srgbClr val="0B2E4F"/>
                </a:solidFill>
                <a:latin typeface="Calibri"/>
              </a:rPr>
              <a:t>API d'indicateurs :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3/3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00800"/>
            <a:ext cx="1325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400" i="1">
                <a:solidFill>
                  <a:srgbClr val="5A6B79"/>
                </a:solidFill>
                <a:latin typeface="Calibri"/>
              </a:rPr>
              <a:t>Sources CSV synthétiques ; GOLD certifie l'identité, pas encore les événements de soin (</a:t>
            </a:r>
            <a:r>
              <a:rPr b="0" sz="1288" i="1">
                <a:solidFill>
                  <a:srgbClr val="5A6B79"/>
                </a:solidFill>
                <a:latin typeface="Consolas"/>
              </a:rPr>
              <a:t>patient_events_gold</a:t>
            </a:r>
            <a:r>
              <a:rPr b="0" sz="1400" i="1">
                <a:solidFill>
                  <a:srgbClr val="5A6B79"/>
                </a:solidFill>
                <a:latin typeface="Calibri"/>
              </a:rPr>
              <a:t> vide).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Cas d'utilisation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Avant / après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56692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200" i="0">
                <a:solidFill>
                  <a:srgbClr val="C0392B"/>
                </a:solidFill>
                <a:latin typeface="Calibri"/>
              </a:rPr>
              <a:t>Avant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Recoupement manuel entre services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Erreurs humaines, décisions sans trace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Accès sans finalité ni audit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83680" y="3200400"/>
            <a:ext cx="1463040" cy="640080"/>
          </a:xfrm>
          <a:prstGeom prst="rightArrow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75320" y="2194560"/>
            <a:ext cx="56692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37744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2200" i="0">
                <a:solidFill>
                  <a:srgbClr val="2E8B57"/>
                </a:solidFill>
                <a:latin typeface="Calibri"/>
              </a:rPr>
              <a:t>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97180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Pipeline automatisé de bout en bout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Chaque fusion expliquée (score, méthode)</a:t>
            </a:r>
          </a:p>
          <a:p>
            <a:pPr algn="l" marL="223520" indent="-223520">
              <a:spcAft>
                <a:spcPts val="600"/>
              </a:spcAft>
              <a:buChar char="•"/>
            </a:pPr>
            <a:r>
              <a:rPr b="0" sz="1600" i="0">
                <a:solidFill>
                  <a:srgbClr val="20303C"/>
                </a:solidFill>
                <a:latin typeface="Calibri"/>
              </a:rPr>
              <a:t>Chaque accès contrôlé et audité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166360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3600" i="0">
                <a:solidFill>
                  <a:srgbClr val="106D8E"/>
                </a:solidFill>
                <a:latin typeface="Calibri"/>
              </a:rPr>
              <a:t>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précision · 0 faux positif</a:t>
            </a:r>
          </a:p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easy · medium · hard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5166360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3600" i="0">
                <a:solidFill>
                  <a:srgbClr val="106D8E"/>
                </a:solidFill>
                <a:latin typeface="Calibri"/>
              </a:rPr>
              <a:t>0,422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58978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rappel sur le jeu « hard »</a:t>
            </a:r>
          </a:p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(0,287 avant la clé CIN)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5166360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1" sz="3600" i="0">
                <a:solidFill>
                  <a:srgbClr val="106D8E"/>
                </a:solidFill>
                <a:latin typeface="Calibri"/>
              </a:rPr>
              <a:t>TP = 307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58978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décisions identiques</a:t>
            </a:r>
          </a:p>
          <a:p>
            <a:pPr algn="ctr">
              <a:spcAft>
                <a:spcPts val="100"/>
              </a:spcAft>
            </a:pPr>
            <a:r>
              <a:rPr b="0" sz="1400" i="0">
                <a:solidFill>
                  <a:srgbClr val="20303C"/>
                </a:solidFill>
                <a:latin typeface="Calibri"/>
              </a:rPr>
              <a:t>Pandas = Spark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Démonstration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 i="0">
                <a:solidFill>
                  <a:srgbClr val="5A6B79"/>
                </a:solidFill>
                <a:latin typeface="Calibri"/>
              </a:rPr>
              <a:t>Vidéo enregistrée (3 min 30) — aucun point de défaillance le jour J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28800" y="228600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832104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600" i="0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600" i="0">
                          <a:solidFill>
                            <a:srgbClr val="FFFFFF"/>
                          </a:solidFill>
                          <a:latin typeface="Calibri"/>
                        </a:rPr>
                        <a:t>Contenu filmé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600" i="0">
                          <a:solidFill>
                            <a:srgbClr val="FFFFFF"/>
                          </a:solidFill>
                          <a:latin typeface="Calibri"/>
                        </a:rPr>
                        <a:t>Durée</a:t>
                      </a:r>
                    </a:p>
                  </a:txBody>
                  <a:tcPr marL="91440" marR="91440" marT="45720" marB="45720" anchor="ctr">
                    <a:solidFill>
                      <a:srgbClr val="106D8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72" i="0">
                          <a:solidFill>
                            <a:srgbClr val="20303C"/>
                          </a:solidFill>
                          <a:latin typeface="Consolas"/>
                        </a:rPr>
                        <a:t>pytest projet/code-source/tests</a:t>
                      </a:r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 — moteur, gouvernance, planification </a:t>
                      </a:r>
                      <a:r>
                        <a:rPr b="1" sz="1600" i="0">
                          <a:solidFill>
                            <a:srgbClr val="20303C"/>
                          </a:solidFill>
                          <a:latin typeface="Calibri"/>
                        </a:rPr>
                        <a:t>102/102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Évaluation « hard » : précision / rappel / F1 (précision 1,000)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72" i="0">
                          <a:solidFill>
                            <a:srgbClr val="20303C"/>
                          </a:solidFill>
                          <a:latin typeface="Consolas"/>
                        </a:rPr>
                        <a:t>run_pipeline.sh</a:t>
                      </a:r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 de bout en bout : RAW → SILVER → GOLD (5 étapes)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Tableau de bord </a:t>
                      </a:r>
                      <a:r>
                        <a:rPr b="0" sz="1472" i="0">
                          <a:solidFill>
                            <a:srgbClr val="20303C"/>
                          </a:solidFill>
                          <a:latin typeface="Consolas"/>
                        </a:rPr>
                        <a:t>/dashboard</a:t>
                      </a:r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 : zones Medallion, planification cron, fraîcheur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91440" marR="91440" marT="45720" marB="45720" anchor="ctr">
                    <a:solidFill>
                      <a:srgbClr val="F1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Repli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Compteurs figés : 214 · 145 · 69 · 32,24 %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00" i="0">
                          <a:solidFill>
                            <a:srgbClr val="20303C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82880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1500" i="1">
                <a:solidFill>
                  <a:srgbClr val="5A6B79"/>
                </a:solidFill>
                <a:latin typeface="Calibri"/>
              </a:rPr>
              <a:t>Données synthétiques, graine fixe : la démonstration est rejouable à l'identique.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Perspectives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Enrichir le mapping FHIR → </a:t>
            </a:r>
            <a:r>
              <a:rPr b="1" sz="1564" i="0">
                <a:solidFill>
                  <a:srgbClr val="0B2E4F"/>
                </a:solidFill>
                <a:latin typeface="Consolas"/>
              </a:rPr>
              <a:t>patient_events_gold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Peupler le consentement en base centrale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Calibrer seuil et poids sur la vérité terrain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Générateur de « faux jumeaux » (cas adversarial)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7200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Tests déployés et intégration continue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457200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Passage à l'échelle sur les volumes réels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989320"/>
            <a:ext cx="13258800" cy="82296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0" sz="1600" i="0">
                <a:solidFill>
                  <a:srgbClr val="0B2E4F"/>
                </a:solidFill>
                <a:latin typeface="Calibri"/>
              </a:rPr>
              <a:t>Et avant toute mise en production : vérifier le </a:t>
            </a:r>
            <a:r>
              <a:rPr b="1" sz="1600" i="0">
                <a:solidFill>
                  <a:srgbClr val="0B2E4F"/>
                </a:solidFill>
                <a:latin typeface="Calibri"/>
              </a:rPr>
              <a:t>droit malgache</a:t>
            </a:r>
            <a:r>
              <a:rPr b="0" sz="1600" i="0">
                <a:solidFill>
                  <a:srgbClr val="0B2E4F"/>
                </a:solidFill>
                <a:latin typeface="Calibri"/>
              </a:rPr>
              <a:t> des données de santé.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200" i="0">
                <a:solidFill>
                  <a:srgbClr val="106D8E"/>
                </a:solidFill>
                <a:latin typeface="Calibri"/>
              </a:rPr>
              <a:t>Conclusion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Centraliser</a:t>
            </a:r>
            <a:r>
              <a:rPr b="0" sz="1700" i="0">
                <a:solidFill>
                  <a:srgbClr val="0B2E4F"/>
                </a:solidFill>
                <a:latin typeface="Calibri"/>
              </a:rPr>
              <a:t> un patient dispersé entre plusieurs systèmes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Normaliser</a:t>
            </a:r>
            <a:r>
              <a:rPr b="0" sz="1700" i="0">
                <a:solidFill>
                  <a:srgbClr val="0B2E4F"/>
                </a:solidFill>
                <a:latin typeface="Calibri"/>
              </a:rPr>
              <a:t> vers un modèle canonique + pivot FHIR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Dédupliquer</a:t>
            </a:r>
            <a:r>
              <a:rPr b="0" sz="1700" i="0">
                <a:solidFill>
                  <a:srgbClr val="0B2E4F"/>
                </a:solidFill>
                <a:latin typeface="Calibri"/>
              </a:rPr>
              <a:t> sans jamais fusionner à tort (précision 1,000)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700" i="0">
                <a:solidFill>
                  <a:srgbClr val="0B2E4F"/>
                </a:solidFill>
                <a:latin typeface="Calibri"/>
              </a:rPr>
              <a:t>Gouverner</a:t>
            </a:r>
            <a:r>
              <a:rPr b="0" sz="1700" i="0">
                <a:solidFill>
                  <a:srgbClr val="0B2E4F"/>
                </a:solidFill>
                <a:latin typeface="Calibri"/>
              </a:rPr>
              <a:t> par consentement : finalité, refus 403, audit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846320"/>
            <a:ext cx="13258800" cy="1188720"/>
          </a:xfrm>
          <a:prstGeom prst="roundRect">
            <a:avLst>
              <a:gd name="adj" fmla="val 1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b="0" sz="1800" i="0">
                <a:solidFill>
                  <a:srgbClr val="FFFFFF"/>
                </a:solidFill>
                <a:latin typeface="Calibri"/>
              </a:rPr>
              <a:t>Une démarche progressive — </a:t>
            </a:r>
            <a:r>
              <a:rPr b="1" sz="1800" i="0">
                <a:solidFill>
                  <a:srgbClr val="FFFFFF"/>
                </a:solidFill>
                <a:latin typeface="Calibri"/>
              </a:rPr>
              <a:t>MVP → Spark → Big Data</a:t>
            </a:r>
            <a:r>
              <a:rPr b="0" sz="1800" i="0">
                <a:solidFill>
                  <a:srgbClr val="FFFFFF"/>
                </a:solidFill>
                <a:latin typeface="Calibri"/>
              </a:rPr>
              <a:t> — où chaque technologie répond à un besoin, et chaque résultat se vérifie dans le dépôt.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b="0" sz="110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3291840"/>
            <a:ext cx="1463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5400" i="0">
                <a:solidFill>
                  <a:srgbClr val="106D8E"/>
                </a:solidFill>
                <a:latin typeface="Calibri"/>
              </a:rPr>
              <a:t>Merci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343400"/>
            <a:ext cx="1463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b="0" sz="2200" i="1">
                <a:solidFill>
                  <a:srgbClr val="5A6B79"/>
                </a:solidFill>
                <a:latin typeface="Calibri"/>
              </a:rPr>
              <a:t>Vos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