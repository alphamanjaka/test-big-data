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7" r:id="rId8"/>
    <p:sldId id="278" r:id="rId9"/>
    <p:sldId id="279" r:id="rId10"/>
    <p:sldId id="280" r:id="rId11"/>
    <p:sldId id="281" r:id="rId12"/>
    <p:sldId id="295" r:id="rId13"/>
    <p:sldId id="288" r:id="rId14"/>
    <p:sldId id="294" r:id="rId15"/>
    <p:sldId id="284" r:id="rId16"/>
    <p:sldId id="285" r:id="rId17"/>
    <p:sldId id="286" r:id="rId18"/>
    <p:sldId id="273" r:id="rId19"/>
    <p:sldId id="274" r:id="rId20"/>
    <p:sldId id="275" r:id="rId21"/>
    <p:sldId id="276" r:id="rId2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96" y="2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2.jp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4.png"/><Relationship Id="rId10" Type="http://schemas.openxmlformats.org/officeDocument/2006/relationships/image" Target="../media/image11.svg"/><Relationship Id="rId4" Type="http://schemas.openxmlformats.org/officeDocument/2006/relationships/image" Target="../media/image3.png"/><Relationship Id="rId9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11480"/>
            <a:ext cx="2616797" cy="64008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877" y="411480"/>
            <a:ext cx="1674627" cy="64008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1785" y="411480"/>
            <a:ext cx="4085617" cy="6400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0" y="365760"/>
            <a:ext cx="685799" cy="731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01168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0" i="1">
                <a:solidFill>
                  <a:srgbClr val="106D8E"/>
                </a:solidFill>
                <a:latin typeface="Calibri"/>
              </a:rPr>
              <a:t>Plateforme Big Data de gestion et de gouvernance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2801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0" i="1">
                <a:solidFill>
                  <a:srgbClr val="106D8E"/>
                </a:solidFill>
                <a:latin typeface="Calibri"/>
              </a:rPr>
              <a:t>des données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280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0B2E4F"/>
                </a:solidFill>
                <a:latin typeface="Calibri"/>
              </a:rPr>
              <a:t>Nettoyage · Déduplication explicable · Contrôle d'accès par consentement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2801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1">
                <a:solidFill>
                  <a:srgbClr val="20303C"/>
                </a:solidFill>
                <a:latin typeface="Calibri"/>
              </a:rPr>
              <a:t>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2801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0303C"/>
                </a:solidFill>
                <a:latin typeface="Calibri"/>
              </a:rPr>
              <a:t>Présenté par : </a:t>
            </a:r>
            <a:r>
              <a:rPr sz="2000" b="1" i="0">
                <a:solidFill>
                  <a:srgbClr val="20303C"/>
                </a:solidFill>
                <a:latin typeface="Calibri"/>
              </a:rPr>
              <a:t>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00800"/>
            <a:ext cx="12801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Encadrant professionnel : M. Harena Ny Aina Rabemanoela  ·  Encadrant pédagogique : M. RABENANAHARY Rojo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Madagascar Medical Technology (MMT) — Master MBDS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Présentation de l'entreprise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265176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 i="0">
                <a:solidFill>
                  <a:srgbClr val="0B2E4F"/>
                </a:solidFill>
                <a:latin typeface="Calibri"/>
              </a:rPr>
              <a:t>Ingénierie biomédicale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828800"/>
            <a:ext cx="265176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 i="0">
                <a:solidFill>
                  <a:srgbClr val="0B2E4F"/>
                </a:solidFill>
                <a:latin typeface="Calibri"/>
              </a:rPr>
              <a:t>Madagascar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1828800"/>
            <a:ext cx="2011680" cy="10058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>
                <a:solidFill>
                  <a:srgbClr val="0B2E4F"/>
                </a:solidFill>
                <a:latin typeface="Calibri"/>
              </a:rPr>
              <a:t>2009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3246120"/>
            <a:ext cx="4023360" cy="822960"/>
          </a:xfrm>
          <a:prstGeom prst="roundRect">
            <a:avLst>
              <a:gd name="adj" fmla="val 20000"/>
            </a:avLst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Madagascar Medical Technology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Domaines d'activité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76809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Distribution et maintenance de matériels biomédicaux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Fourniture de consommables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Gestion de stock des établissements partenaires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Business Partner </a:t>
            </a:r>
            <a:r>
              <a:rPr sz="1600" b="1" i="0">
                <a:solidFill>
                  <a:srgbClr val="20303C"/>
                </a:solidFill>
                <a:latin typeface="Calibri"/>
              </a:rPr>
              <a:t>Siemens Healthineers</a:t>
            </a:r>
            <a:r>
              <a:rPr sz="1600" b="0" i="0">
                <a:solidFill>
                  <a:srgbClr val="20303C"/>
                </a:solidFill>
                <a:latin typeface="Calibri"/>
              </a:rPr>
              <a:t> (branche sud-africaine)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83080"/>
            <a:ext cx="480060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287" y="1965960"/>
            <a:ext cx="2486025" cy="26517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144000" y="5029200"/>
            <a:ext cx="4800600" cy="2148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72600" y="5248656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Département R&amp;D (depuis 2024)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5806440"/>
            <a:ext cx="43891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Systèmes d'information médicale, infrastructures et réseaux informatiques.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0303C"/>
                </a:solidFill>
                <a:latin typeface="Calibri"/>
              </a:rPr>
              <a:t>Lieu du stage</a:t>
            </a:r>
            <a:r>
              <a:rPr sz="1500" b="0" i="0">
                <a:solidFill>
                  <a:srgbClr val="20303C"/>
                </a:solidFill>
                <a:latin typeface="Calibri"/>
              </a:rPr>
              <a:t>, du 6 juillet à fin octobre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Question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920240"/>
            <a:ext cx="3840480" cy="7772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Plusieurs systèmes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920240"/>
            <a:ext cx="3840480" cy="77724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Un même patient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63240"/>
            <a:ext cx="13258800" cy="91440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2000" b="1" i="0">
                <a:solidFill>
                  <a:srgbClr val="0B2E4F"/>
                </a:solidFill>
                <a:latin typeface="Calibri"/>
              </a:rPr>
              <a:t>Comment savoir qu'il s'agit du même patient — et qui a le droit de lire ses données, pour quelle finalité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4434840"/>
            <a:ext cx="10424160" cy="1737360"/>
          </a:xfrm>
          <a:prstGeom prst="roundRect">
            <a:avLst>
              <a:gd name="adj" fmla="val 8000"/>
            </a:avLst>
          </a:prstGeom>
          <a:solidFill>
            <a:srgbClr val="F4F8FA"/>
          </a:solidFill>
          <a:ln w="12700">
            <a:solidFill>
              <a:srgbClr val="D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Pharmacie     →  Jean Rakoto   ·  CIN 101 02404 5  ·  1990-01-10</a:t>
            </a:r>
          </a:p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Consultation  →  Rakoto Jean   ·  101024045        ·  10/01/1990</a:t>
            </a:r>
          </a:p>
          <a:p>
            <a:pPr algn="l"/>
            <a:r>
              <a:rPr sz="1800">
                <a:solidFill>
                  <a:srgbClr val="20303C"/>
                </a:solidFill>
                <a:latin typeface="Consolas"/>
              </a:rPr>
              <a:t>Imagerie      →  J. RAKOTO     ·  101024045        ·  1990/01/10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640080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A6B79"/>
                </a:solidFill>
                <a:latin typeface="Calibri"/>
              </a:rPr>
              <a:t>Trois fiches, trois formats… </a:t>
            </a:r>
            <a:r>
              <a:rPr sz="1600" b="1" i="1">
                <a:solidFill>
                  <a:srgbClr val="5A6B79"/>
                </a:solidFill>
                <a:latin typeface="Calibri"/>
              </a:rPr>
              <a:t>une seule personne</a:t>
            </a:r>
            <a:r>
              <a:rPr sz="1600" b="0" i="1">
                <a:solidFill>
                  <a:srgbClr val="5A6B79"/>
                </a:solidFill>
                <a:latin typeface="Calibri"/>
              </a:rPr>
              <a:t> (cas de référence du projet).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Contexte et problématique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8308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00253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Dispersion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2743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Chaque service tient son propre registre, sans identifiant commun.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178308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51960" y="200253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Hétérogénéité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560320"/>
            <a:ext cx="2743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Genre </a:t>
            </a:r>
            <a:r>
              <a:rPr sz="1380" b="0" i="0">
                <a:solidFill>
                  <a:srgbClr val="20303C"/>
                </a:solidFill>
                <a:latin typeface="Consolas"/>
              </a:rPr>
              <a:t>H/F</a:t>
            </a:r>
            <a:r>
              <a:rPr sz="1500" b="0" i="0">
                <a:solidFill>
                  <a:srgbClr val="20303C"/>
                </a:solidFill>
                <a:latin typeface="Calibri"/>
              </a:rPr>
              <a:t>, </a:t>
            </a:r>
            <a:r>
              <a:rPr sz="1380" b="0" i="0">
                <a:solidFill>
                  <a:srgbClr val="20303C"/>
                </a:solidFill>
                <a:latin typeface="Consolas"/>
              </a:rPr>
              <a:t>male/female</a:t>
            </a:r>
            <a:r>
              <a:rPr sz="1500" b="0" i="0">
                <a:solidFill>
                  <a:srgbClr val="20303C"/>
                </a:solidFill>
                <a:latin typeface="Calibri"/>
              </a:rPr>
              <a:t>, </a:t>
            </a:r>
            <a:r>
              <a:rPr sz="1380" b="0" i="0">
                <a:solidFill>
                  <a:srgbClr val="20303C"/>
                </a:solidFill>
                <a:latin typeface="Consolas"/>
              </a:rPr>
              <a:t>Homme/femme</a:t>
            </a:r>
            <a:r>
              <a:rPr sz="1500" b="0" i="0">
                <a:solidFill>
                  <a:srgbClr val="20303C"/>
                </a:solidFill>
                <a:latin typeface="Calibri"/>
              </a:rPr>
              <a:t> ; dates et CIN aux formats divergents.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15137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Processus manuel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59"/>
            <a:ext cx="2743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Recoupements lents, erreurs humaines, aucune trace des décisions.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931920"/>
            <a:ext cx="3154680" cy="19659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51960" y="415137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Absence de gouvernance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4709159"/>
            <a:ext cx="2743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Ni rôles, ni consentement par finalité, ni audit d'accès.</a:t>
            </a:r>
          </a:p>
        </p:txBody>
      </p:sp>
      <p:pic>
        <p:nvPicPr>
          <p:cNvPr id="23" name="Picture 22" descr="fi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79" y="1974382"/>
            <a:ext cx="6446520" cy="373219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" y="6263640"/>
            <a:ext cx="13258800" cy="100584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Problématique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: intégrer, nettoyer, dédupliquer et centraliser ces données, en gardant la traçabilité des identités et en gouvernant l'accès par le consentement du patient.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Objectifs du projet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8696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31136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Centraliser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88920"/>
            <a:ext cx="2743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Data Lake Medallion : zones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RAW → SILVER → GOLD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sur HDFS / Hive / Spark.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27024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231136"/>
            <a:ext cx="214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Normaliser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88920"/>
            <a:ext cx="2743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Modèle canonique </a:t>
            </a:r>
            <a:r>
              <a:rPr sz="1564" b="0" i="0">
                <a:solidFill>
                  <a:srgbClr val="20303C"/>
                </a:solidFill>
                <a:latin typeface="Consolas"/>
              </a:rPr>
              <a:t>CanonicalPatient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+ pivot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FHIR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(genre, dates, CIN).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65352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231136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Dédupliquer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788920"/>
            <a:ext cx="2743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Master patient + identity map : chaque fusion justifiée par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score et méthode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5640" y="20116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1036808" y="22128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0" y="2231136"/>
            <a:ext cx="214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Gouverner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2788920"/>
            <a:ext cx="2743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Rôles,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consentement par finalité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, audit de chaque accès, clés API hachées.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303520"/>
            <a:ext cx="13258800" cy="8686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800" b="0" i="0">
                <a:solidFill>
                  <a:srgbClr val="0B2E4F"/>
                </a:solidFill>
                <a:latin typeface="Calibri"/>
              </a:rPr>
              <a:t>Données </a:t>
            </a:r>
            <a:r>
              <a:rPr sz="1800" b="1" i="0">
                <a:solidFill>
                  <a:srgbClr val="0B2E4F"/>
                </a:solidFill>
                <a:latin typeface="Calibri"/>
              </a:rPr>
              <a:t>exclusivement synthétiques</a:t>
            </a:r>
            <a:r>
              <a:rPr sz="1800" b="0" i="0">
                <a:solidFill>
                  <a:srgbClr val="0B2E4F"/>
                </a:solidFill>
                <a:latin typeface="Calibri"/>
              </a:rPr>
              <a:t> — aucune donnée réelle de patient n'est manipulée.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Plan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Oval 10"/>
          <p:cNvSpPr/>
          <p:nvPr/>
        </p:nvSpPr>
        <p:spPr>
          <a:xfrm>
            <a:off x="3840480" y="1828800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84708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B2E4F"/>
                </a:solidFill>
                <a:latin typeface="Calibri"/>
              </a:rPr>
              <a:t>État de l'art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6771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notions, critères, solutions du domaine</a:t>
            </a:r>
          </a:p>
        </p:txBody>
      </p:sp>
      <p:sp>
        <p:nvSpPr>
          <p:cNvPr id="14" name="Oval 13"/>
          <p:cNvSpPr/>
          <p:nvPr/>
        </p:nvSpPr>
        <p:spPr>
          <a:xfrm>
            <a:off x="3840480" y="2907791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926079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B2E4F"/>
                </a:solidFill>
                <a:latin typeface="Calibri"/>
              </a:rPr>
              <a:t>Étude de l'existant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34670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les systèmes de MMT : points forts, limites</a:t>
            </a:r>
          </a:p>
        </p:txBody>
      </p:sp>
      <p:sp>
        <p:nvSpPr>
          <p:cNvPr id="17" name="Oval 16"/>
          <p:cNvSpPr/>
          <p:nvPr/>
        </p:nvSpPr>
        <p:spPr>
          <a:xfrm>
            <a:off x="3840480" y="3986783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005071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B2E4F"/>
                </a:solidFill>
                <a:latin typeface="Calibri"/>
              </a:rPr>
              <a:t>Solution proposée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425696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architecture Medallion + moteur de déduplication + gouvernance</a:t>
            </a:r>
          </a:p>
        </p:txBody>
      </p:sp>
      <p:sp>
        <p:nvSpPr>
          <p:cNvPr id="20" name="Oval 19"/>
          <p:cNvSpPr/>
          <p:nvPr/>
        </p:nvSpPr>
        <p:spPr>
          <a:xfrm>
            <a:off x="3840480" y="5065776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084064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B2E4F"/>
                </a:solidFill>
                <a:latin typeface="Calibri"/>
              </a:rPr>
              <a:t>Fonctionnalités principales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50468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cas d'utilisation et résultats mesurés</a:t>
            </a:r>
          </a:p>
        </p:txBody>
      </p:sp>
      <p:sp>
        <p:nvSpPr>
          <p:cNvPr id="23" name="Oval 22"/>
          <p:cNvSpPr/>
          <p:nvPr/>
        </p:nvSpPr>
        <p:spPr>
          <a:xfrm>
            <a:off x="3840480" y="6144768"/>
            <a:ext cx="685800" cy="6858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6163055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B2E4F"/>
                </a:solidFill>
                <a:latin typeface="Calibri"/>
              </a:rPr>
              <a:t>Démonstration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6583679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6B79"/>
                </a:solidFill>
                <a:latin typeface="Calibri"/>
              </a:rPr>
              <a:t>tests, évaluation ground-truth, pipeline de bout en 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Six solutions du domaine couvrent chacune une partie du besoin, aucune ne le couvre en entier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81194"/>
              </p:ext>
            </p:extLst>
          </p:nvPr>
        </p:nvGraphicFramePr>
        <p:xfrm>
          <a:off x="685800" y="2194560"/>
          <a:ext cx="132588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Famille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Points forts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Limites ici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0303C"/>
                          </a:solidFill>
                          <a:latin typeface="Calibri"/>
                        </a:rPr>
                        <a:t>InterSystems EMPI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MPI santé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identité déterministe + probabiliste, PIX/PDQ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propriétaire, référentiel externe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0303C"/>
                          </a:solidFill>
                          <a:latin typeface="Calibri"/>
                        </a:rPr>
                        <a:t>Talend MDM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MDM / ETL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match &amp; survivorship, golden record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suite lourde, pas de FHIR natif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0303C"/>
                          </a:solidFill>
                          <a:latin typeface="Calibri"/>
                        </a:rPr>
                        <a:t>Azure Health Data Services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Cloud santé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FHIR managé, dé-identification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cloud : contraire à l'hébergement interne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0303C"/>
                          </a:solidFill>
                          <a:latin typeface="Calibri"/>
                        </a:rPr>
                        <a:t>HAPI FHIR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serveur FHIR de référence, </a:t>
                      </a:r>
                      <a:r>
                        <a:rPr sz="1288" b="0" i="0">
                          <a:solidFill>
                            <a:srgbClr val="20303C"/>
                          </a:solidFill>
                          <a:latin typeface="Consolas"/>
                        </a:rPr>
                        <a:t>$match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ni rapprochement, ni gouvernance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0303C"/>
                          </a:solidFill>
                          <a:latin typeface="Calibri"/>
                        </a:rPr>
                        <a:t>Splink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Fellegi–Sunter à l'échelle (EM, Spark)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poids EM peu lisibles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0303C"/>
                          </a:solidFill>
                          <a:latin typeface="Calibri"/>
                        </a:rPr>
                        <a:t>Apache Atlas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catalogue, lineage, classification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0303C"/>
                          </a:solidFill>
                          <a:latin typeface="Calibri"/>
                        </a:rPr>
                        <a:t>métadonnées, pas de contrôle d'accès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85800" y="6629400"/>
            <a:ext cx="1325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B79"/>
                </a:solidFill>
                <a:latin typeface="Calibri"/>
              </a:rPr>
              <a:t>Capacités </a:t>
            </a:r>
            <a:r>
              <a:rPr sz="1400" b="1" i="1">
                <a:solidFill>
                  <a:srgbClr val="5A6B79"/>
                </a:solidFill>
                <a:latin typeface="Calibri"/>
              </a:rPr>
              <a:t>annoncées</a:t>
            </a:r>
            <a:r>
              <a:rPr sz="1400" b="0" i="1">
                <a:solidFill>
                  <a:srgbClr val="5A6B79"/>
                </a:solidFill>
                <a:latin typeface="Calibri"/>
              </a:rPr>
              <a:t> par la documentation : aucun produit n'a été installé ni mesuré.</a:t>
            </a:r>
          </a:p>
        </p:txBody>
      </p:sp>
    </p:spTree>
    <p:extLst>
      <p:ext uri="{BB962C8B-B14F-4D97-AF65-F5344CB8AC3E}">
        <p14:creationId xmlns:p14="http://schemas.microsoft.com/office/powerpoint/2010/main" val="27334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Aucune solution existante ne tient pleinement sur une VM 8 Go sous Python 3.8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" y="2148840"/>
          <a:ext cx="13258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EMPI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Talend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HAPI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Splink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Projet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0303C"/>
                          </a:solidFill>
                          <a:latin typeface="Calibri"/>
                        </a:rPr>
                        <a:t>Déduplication explicable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0303C"/>
                          </a:solidFill>
                          <a:latin typeface="Calibri"/>
                        </a:rPr>
                        <a:t>Interopérabilité FHIR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0303C"/>
                          </a:solidFill>
                          <a:latin typeface="Calibri"/>
                        </a:rPr>
                        <a:t>Gouvernance rôle + consentement +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0303C"/>
                          </a:solidFill>
                          <a:latin typeface="Calibri"/>
                        </a:rPr>
                        <a:t>Montée en charge Big Data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0303C"/>
                          </a:solidFill>
                          <a:latin typeface="Calibri"/>
                        </a:rPr>
                        <a:t>Hébergement interne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0303C"/>
                          </a:solidFill>
                          <a:latin typeface="Calibri"/>
                        </a:rPr>
                        <a:t>Faisabilité VM 8 Go / Python 3.8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E8A82E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i="0">
                          <a:solidFill>
                            <a:srgbClr val="2E8B5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85800" y="6263640"/>
            <a:ext cx="13258800" cy="82296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Aucun produit ne coche les six cases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dans les contraintes du stage → une chaîne sur mesure, adossée aux standards.</a:t>
            </a:r>
          </a:p>
        </p:txBody>
      </p:sp>
    </p:spTree>
    <p:extLst>
      <p:ext uri="{BB962C8B-B14F-4D97-AF65-F5344CB8AC3E}">
        <p14:creationId xmlns:p14="http://schemas.microsoft.com/office/powerpoint/2010/main" val="2821228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État de l'art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Trois briques retenues : stockage réparti, rapprochement explicable, échange standardisé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459736"/>
            <a:ext cx="3200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Apache Spark · HDFS · Hive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17520"/>
            <a:ext cx="379475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Stockage et traitement répartis ; Data Lake Medallion RAW → SILVER → GOLD. Il vient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après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le besoin.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6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36752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459736"/>
            <a:ext cx="3200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Entity Resolution · RapidFuzz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017520"/>
            <a:ext cx="379475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Fellegi–Sunter : passe exacte puis probabiliste, score pondéré lisible, seuil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0,80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2240280"/>
            <a:ext cx="420624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848088" y="2441448"/>
            <a:ext cx="457200" cy="45720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59736"/>
            <a:ext cx="3200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2E4F"/>
                </a:solidFill>
                <a:latin typeface="Calibri"/>
              </a:rPr>
              <a:t>FHIR · FastAPI · 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017520"/>
            <a:ext cx="379475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Pivot d'échange standard ; API qui applique rôle, finalité et consentement ; base de référence.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94960"/>
            <a:ext cx="13258800" cy="10972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600" b="1" i="0">
                <a:solidFill>
                  <a:srgbClr val="0B2E4F"/>
                </a:solidFill>
                <a:latin typeface="Calibri"/>
              </a:rPr>
              <a:t>Choix technologique</a:t>
            </a:r>
            <a:r>
              <a:rPr sz="1600" b="0" i="0">
                <a:solidFill>
                  <a:srgbClr val="0B2E4F"/>
                </a:solidFill>
                <a:latin typeface="Calibri"/>
              </a:rPr>
              <a:t> : RapidFuzz plutôt qu'un NLP lourd (crash sous Python 3.8), score explicable plutôt qu'EM, et </a:t>
            </a:r>
            <a:r>
              <a:rPr sz="1600" b="1" i="0">
                <a:solidFill>
                  <a:srgbClr val="0B2E4F"/>
                </a:solidFill>
                <a:latin typeface="Calibri"/>
              </a:rPr>
              <a:t>parité Pandas = Spark</a:t>
            </a:r>
            <a:r>
              <a:rPr sz="1600" b="0" i="0">
                <a:solidFill>
                  <a:srgbClr val="0B2E4F"/>
                </a:solidFill>
                <a:latin typeface="Calibri"/>
              </a:rPr>
              <a:t> vérifiée.</a:t>
            </a:r>
          </a:p>
        </p:txBody>
      </p:sp>
    </p:spTree>
    <p:extLst>
      <p:ext uri="{BB962C8B-B14F-4D97-AF65-F5344CB8AC3E}">
        <p14:creationId xmlns:p14="http://schemas.microsoft.com/office/powerpoint/2010/main" val="4006792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Quatre sources de données, aucun référentiel patient commun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414015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MAVIS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27432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Odoo + module de gestion hospitalière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PostgreSQL </a:t>
            </a:r>
            <a:r>
              <a:rPr sz="1600" b="1" i="0">
                <a:solidFill>
                  <a:srgbClr val="20303C"/>
                </a:solidFill>
                <a:latin typeface="Calibri"/>
              </a:rPr>
              <a:t>distant</a:t>
            </a:r>
            <a:r>
              <a:rPr sz="1600" b="0" i="0">
                <a:solidFill>
                  <a:srgbClr val="20303C"/>
                </a:solidFill>
                <a:latin typeface="Calibri"/>
              </a:rPr>
              <a:t> (tunnel SSH)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1 260 tables détectées, </a:t>
            </a:r>
            <a:r>
              <a:rPr sz="1600" b="1" i="0">
                <a:solidFill>
                  <a:srgbClr val="20303C"/>
                </a:solidFill>
                <a:latin typeface="Calibri"/>
              </a:rPr>
              <a:t>11 retenues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réplique locale : 73 090 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2414015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MMT_DB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971800"/>
            <a:ext cx="27432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GNU Health (dossier médical)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PostgreSQL local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9 tables, </a:t>
            </a:r>
            <a:r>
              <a:rPr sz="1600" b="1" i="0">
                <a:solidFill>
                  <a:srgbClr val="20303C"/>
                </a:solidFill>
                <a:latin typeface="Calibri"/>
              </a:rPr>
              <a:t>60 271 lignes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3 tables extraites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2414015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CLINIQUE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971800"/>
            <a:ext cx="27432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Base SQLite d'une clinique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patients, visites, diagnostics, observations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1" i="0">
                <a:solidFill>
                  <a:srgbClr val="20303C"/>
                </a:solidFill>
                <a:latin typeface="Calibri"/>
              </a:rPr>
              <a:t>54 582 lignes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déjà alignée sur FHIR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35640" y="2194560"/>
            <a:ext cx="3154680" cy="32918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064240" y="2414015"/>
            <a:ext cx="27431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Sources de démonstration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2971800"/>
            <a:ext cx="27432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pharmacy · consultation · imaging (CSV)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générateur synthétique, graine 42</a:t>
            </a:r>
          </a:p>
          <a:p>
            <a:pPr marL="223520" indent="-223520" algn="l">
              <a:spcAft>
                <a:spcPts val="400"/>
              </a:spcAft>
              <a:buChar char="•"/>
            </a:pPr>
            <a:r>
              <a:rPr sz="1600" b="1" i="0">
                <a:solidFill>
                  <a:srgbClr val="20303C"/>
                </a:solidFill>
                <a:latin typeface="Calibri"/>
              </a:rPr>
              <a:t>76 / 76 / 62</a:t>
            </a:r>
            <a:r>
              <a:rPr sz="1600" b="0" i="0">
                <a:solidFill>
                  <a:srgbClr val="20303C"/>
                </a:solidFill>
                <a:latin typeface="Calibri"/>
              </a:rPr>
              <a:t> au run de référence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52160"/>
            <a:ext cx="1325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A6B79"/>
                </a:solidFill>
                <a:latin typeface="Calibri"/>
              </a:rPr>
              <a:t>Chaque logiciel est </a:t>
            </a:r>
            <a:r>
              <a:rPr sz="1600" b="1" i="0">
                <a:solidFill>
                  <a:srgbClr val="5A6B79"/>
                </a:solidFill>
                <a:latin typeface="Calibri"/>
              </a:rPr>
              <a:t>complet dans son périmètre</a:t>
            </a:r>
            <a:r>
              <a:rPr sz="1600" b="0" i="0">
                <a:solidFill>
                  <a:srgbClr val="5A6B79"/>
                </a:solidFill>
                <a:latin typeface="Calibri"/>
              </a:rPr>
              <a:t> — aucun n'est conçu pour être le référentiel d'identité de l'établissement.</a:t>
            </a:r>
          </a:p>
        </p:txBody>
      </p:sp>
    </p:spTree>
    <p:extLst>
      <p:ext uri="{BB962C8B-B14F-4D97-AF65-F5344CB8AC3E}">
        <p14:creationId xmlns:p14="http://schemas.microsoft.com/office/powerpoint/2010/main" val="3255553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Chaque base est intègre ; il manque le pont entre elles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106D8E"/>
                </a:solidFill>
                <a:latin typeface="Calibri"/>
              </a:rPr>
              <a:t>9 791 / 9 791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1188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jointure </a:t>
            </a:r>
            <a:r>
              <a:rPr sz="1380" b="0" i="0">
                <a:solidFill>
                  <a:srgbClr val="20303C"/>
                </a:solidFill>
                <a:latin typeface="Consolas"/>
              </a:rPr>
              <a:t>hms_patient</a:t>
            </a:r>
            <a:r>
              <a:rPr sz="1500" b="0" i="0">
                <a:solidFill>
                  <a:srgbClr val="20303C"/>
                </a:solidFill>
                <a:latin typeface="Calibri"/>
              </a:rPr>
              <a:t> ↔ </a:t>
            </a:r>
            <a:r>
              <a:rPr sz="1380" b="0" i="0">
                <a:solidFill>
                  <a:srgbClr val="20303C"/>
                </a:solidFill>
                <a:latin typeface="Consolas"/>
              </a:rPr>
              <a:t>res_partner</a:t>
            </a:r>
            <a:r>
              <a:rPr sz="1500" b="0" i="0">
                <a:solidFill>
                  <a:srgbClr val="20303C"/>
                </a:solidFill>
                <a:latin typeface="Calibri"/>
              </a:rPr>
              <a:t> vérifiée ligne à ligne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6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66360" y="2514600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106D8E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61188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violation de clé étrangère dans CLINIQUE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224028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46920" y="2514600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106D8E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361188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clés étrangères GNU Health découvertes automatiquement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3258800" cy="109728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800" b="0" i="0">
                <a:solidFill>
                  <a:srgbClr val="0B2E4F"/>
                </a:solidFill>
                <a:latin typeface="Calibri"/>
              </a:rPr>
              <a:t>Chaque base est </a:t>
            </a:r>
            <a:r>
              <a:rPr sz="1800" b="1" i="0">
                <a:solidFill>
                  <a:srgbClr val="0B2E4F"/>
                </a:solidFill>
                <a:latin typeface="Calibri"/>
              </a:rPr>
              <a:t>intègre avec elle-même</a:t>
            </a:r>
            <a:r>
              <a:rPr sz="1800" b="0" i="0">
                <a:solidFill>
                  <a:srgbClr val="0B2E4F"/>
                </a:solidFill>
                <a:latin typeface="Calibri"/>
              </a:rPr>
              <a:t> : le défi n'est pas la qualité d'une base, c'est l'</a:t>
            </a:r>
            <a:r>
              <a:rPr sz="1800" b="1" i="0">
                <a:solidFill>
                  <a:srgbClr val="0B2E4F"/>
                </a:solidFill>
                <a:latin typeface="Calibri"/>
              </a:rPr>
              <a:t>absence de pont entre elles</a:t>
            </a:r>
            <a:r>
              <a:rPr sz="1800" b="0" i="0">
                <a:solidFill>
                  <a:srgbClr val="0B2E4F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18590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Étude de l'existant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Six manques empêchent de reconnaître un même patient d'un système à l'autre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8600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>
                <a:solidFill>
                  <a:srgbClr val="0B2E4F"/>
                </a:solidFill>
                <a:latin typeface="Calibri"/>
              </a:rPr>
              <a:t>Aucun identifiant patient transversal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228600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>
                <a:solidFill>
                  <a:srgbClr val="0B2E4F"/>
                </a:solidFill>
                <a:latin typeface="Calibri"/>
              </a:rPr>
              <a:t>Aucune normalisation commune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044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 dirty="0" err="1">
                <a:solidFill>
                  <a:srgbClr val="0B2E4F"/>
                </a:solidFill>
                <a:latin typeface="Calibri"/>
              </a:rPr>
              <a:t>Aucun</a:t>
            </a:r>
            <a:r>
              <a:rPr sz="1800" b="1" i="0" dirty="0">
                <a:solidFill>
                  <a:srgbClr val="0B2E4F"/>
                </a:solidFill>
                <a:latin typeface="Calibri"/>
              </a:rPr>
              <a:t> rapprochement </a:t>
            </a:r>
            <a:r>
              <a:rPr sz="1800" b="1" i="0" dirty="0" err="1">
                <a:solidFill>
                  <a:srgbClr val="0B2E4F"/>
                </a:solidFill>
                <a:latin typeface="Calibri"/>
              </a:rPr>
              <a:t>d'identité</a:t>
            </a:r>
            <a:endParaRPr sz="1800" b="1" i="0" dirty="0">
              <a:solidFill>
                <a:srgbClr val="0B2E4F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406640" y="352044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>
                <a:solidFill>
                  <a:srgbClr val="0B2E4F"/>
                </a:solidFill>
                <a:latin typeface="Calibri"/>
              </a:rPr>
              <a:t>Aucune gouvernance des accès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8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>
                <a:solidFill>
                  <a:srgbClr val="0B2E4F"/>
                </a:solidFill>
                <a:latin typeface="Calibri"/>
              </a:rPr>
              <a:t>Aucun espace de rejeu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754880"/>
            <a:ext cx="6537960" cy="91440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800" b="1" i="0">
                <a:solidFill>
                  <a:srgbClr val="0B2E4F"/>
                </a:solidFill>
                <a:latin typeface="Calibri"/>
              </a:rPr>
              <a:t>Recoupements entièrement manuels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72200"/>
            <a:ext cx="13258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A6B79"/>
                </a:solidFill>
                <a:latin typeface="Calibri"/>
              </a:rPr>
              <a:t>Mesure du problème : le PoC d'origine comptait </a:t>
            </a:r>
            <a:r>
              <a:rPr sz="1600" b="1" i="1">
                <a:solidFill>
                  <a:srgbClr val="5A6B79"/>
                </a:solidFill>
                <a:latin typeface="Calibri"/>
              </a:rPr>
              <a:t>24 872 marqueurs de doublon</a:t>
            </a:r>
            <a:r>
              <a:rPr sz="1600" b="0" i="1">
                <a:solidFill>
                  <a:srgbClr val="5A6B79"/>
                </a:solidFill>
                <a:latin typeface="Calibri"/>
              </a:rPr>
              <a:t> sans référentiel patient ni fusion justifiée.</a:t>
            </a:r>
          </a:p>
        </p:txBody>
      </p:sp>
    </p:spTree>
    <p:extLst>
      <p:ext uri="{BB962C8B-B14F-4D97-AF65-F5344CB8AC3E}">
        <p14:creationId xmlns:p14="http://schemas.microsoft.com/office/powerpoint/2010/main" val="2006164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Solution proposée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Trois niveaux, du MVP au Big Data, portent le même moteur de déduplication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860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35200"/>
            <a:ext cx="42164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HDFS · Hive · 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90800"/>
            <a:ext cx="4216400" cy="5588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Data Lake Medallion RAW → SILVER → GOLD (VM 8 Go)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3528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302000"/>
            <a:ext cx="42164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Moteur de déduplication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57600"/>
            <a:ext cx="4216400" cy="5588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Pandas et Spark, parité stricte entre les deux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4196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68800"/>
            <a:ext cx="42164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PostgreSQL central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24400"/>
            <a:ext cx="4216400" cy="5588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masters, identity map, consentements, audit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4864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435600"/>
            <a:ext cx="42164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API FastAPI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791200"/>
            <a:ext cx="4216400" cy="5588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rôle + finalité + consentement, refus 403 journalisé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6553200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6502400"/>
            <a:ext cx="42164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2E4F"/>
                </a:solidFill>
                <a:latin typeface="Calibri"/>
              </a:rPr>
              <a:t>Flask · Next.js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6858000"/>
            <a:ext cx="4216400" cy="5588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indicateurs et interface de pilotage (optionnelle)</a:t>
            </a:r>
          </a:p>
        </p:txBody>
      </p:sp>
      <p:pic>
        <p:nvPicPr>
          <p:cNvPr id="27" name="Picture 26" descr="fig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2082800"/>
            <a:ext cx="8153400" cy="55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92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Fonctionnalités principales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35200"/>
            <a:ext cx="2514600" cy="3251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3600" y="3175000"/>
            <a:ext cx="2159000" cy="7112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Centralisation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3962400"/>
            <a:ext cx="2159000" cy="1397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Les sources arrivent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telles quelles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dans RAW (parquet HDFS, tables Hive).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235200"/>
            <a:ext cx="2514600" cy="3251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9650" y="3175000"/>
            <a:ext cx="2159000" cy="7112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Normalisation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9650" y="3962400"/>
            <a:ext cx="2159000" cy="1397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Un champ → un format : genre </a:t>
            </a:r>
            <a:r>
              <a:rPr sz="1564" b="0" i="0">
                <a:solidFill>
                  <a:srgbClr val="20303C"/>
                </a:solidFill>
                <a:latin typeface="Consolas"/>
              </a:rPr>
              <a:t>M/F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, dates ISO, CIN ; aucune valeur devinée.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57900" y="2235200"/>
            <a:ext cx="2514600" cy="3251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5700" y="3175000"/>
            <a:ext cx="2159000" cy="7112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Déduplication explicable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5700" y="3962400"/>
            <a:ext cx="2159000" cy="1397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400"/>
              </a:spcAft>
            </a:pPr>
            <a:r>
              <a:rPr sz="1564" b="0" i="0">
                <a:solidFill>
                  <a:srgbClr val="20303C"/>
                </a:solidFill>
                <a:latin typeface="Consolas"/>
              </a:rPr>
              <a:t>master_patient_id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+ méthode + score + explication.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43950" y="2235200"/>
            <a:ext cx="2514600" cy="3251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21750" y="3175000"/>
            <a:ext cx="2159000" cy="7112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Consentement par finalité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1750" y="3962400"/>
            <a:ext cx="2159000" cy="1397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Finalité obligatoire ; non consentie → </a:t>
            </a:r>
            <a:r>
              <a:rPr sz="1700" b="1" i="0">
                <a:solidFill>
                  <a:srgbClr val="20303C"/>
                </a:solidFill>
                <a:latin typeface="Calibri"/>
              </a:rPr>
              <a:t>403</a:t>
            </a:r>
            <a:r>
              <a:rPr sz="1700" b="0" i="0">
                <a:solidFill>
                  <a:srgbClr val="20303C"/>
                </a:solidFill>
                <a:latin typeface="Calibri"/>
              </a:rPr>
              <a:t> + motif en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235200"/>
            <a:ext cx="2514600" cy="325120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07800" y="3175000"/>
            <a:ext cx="2159000" cy="7112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Pilotage du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07800" y="3962400"/>
            <a:ext cx="2159000" cy="1397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0303C"/>
                </a:solidFill>
                <a:latin typeface="Calibri"/>
              </a:rPr>
              <a:t>Reprise après échec, ingestion incrémentale, planification cron.</a:t>
            </a:r>
          </a:p>
        </p:txBody>
      </p:sp>
      <p:pic>
        <p:nvPicPr>
          <p:cNvPr id="26" name="Graphic 26" descr="Centralis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3600" y="2463800"/>
            <a:ext cx="533400" cy="533400"/>
          </a:xfrm>
          <a:prstGeom prst="rect">
            <a:avLst/>
          </a:prstGeom>
        </p:spPr>
      </p:pic>
      <p:pic>
        <p:nvPicPr>
          <p:cNvPr id="27" name="Graphic 27" descr="Normalis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49650" y="2463800"/>
            <a:ext cx="533400" cy="533400"/>
          </a:xfrm>
          <a:prstGeom prst="rect">
            <a:avLst/>
          </a:prstGeom>
        </p:spPr>
      </p:pic>
      <p:pic>
        <p:nvPicPr>
          <p:cNvPr id="28" name="Graphic 28" descr="Déduplication explicab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35700" y="2463800"/>
            <a:ext cx="533400" cy="533400"/>
          </a:xfrm>
          <a:prstGeom prst="rect">
            <a:avLst/>
          </a:prstGeom>
        </p:spPr>
      </p:pic>
      <p:pic>
        <p:nvPicPr>
          <p:cNvPr id="29" name="Graphic 29" descr="Consentement par finalité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21750" y="2463800"/>
            <a:ext cx="533400" cy="533400"/>
          </a:xfrm>
          <a:prstGeom prst="rect">
            <a:avLst/>
          </a:prstGeom>
        </p:spPr>
      </p:pic>
      <p:pic>
        <p:nvPicPr>
          <p:cNvPr id="30" name="Graphic 30" descr="Pilotage du pipeli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07800" y="2463800"/>
            <a:ext cx="533400" cy="533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" y="1554480"/>
            <a:ext cx="13258800" cy="3073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2000" b="0" i="0" dirty="0">
                <a:solidFill>
                  <a:srgbClr val="5A6B79"/>
                </a:solidFill>
                <a:latin typeface="Calibri"/>
              </a:rPr>
              <a:t>Cinq fonctions couvrent le cycle de la donnée, de l'arrivée brute au pilotage</a:t>
            </a:r>
          </a:p>
        </p:txBody>
      </p:sp>
    </p:spTree>
    <p:extLst>
      <p:ext uri="{BB962C8B-B14F-4D97-AF65-F5344CB8AC3E}">
        <p14:creationId xmlns:p14="http://schemas.microsoft.com/office/powerpoint/2010/main" val="1301920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Huit cas d'utilisation, de l'intégration des sources à leur exploitation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828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B2E4F"/>
                </a:solidFill>
                <a:latin typeface="Calibri"/>
              </a:rPr>
              <a:t>Intégrer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2560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CU1 ingérer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CU2 normaliser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84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114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257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6060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B2E4F"/>
                </a:solidFill>
                <a:latin typeface="Calibri"/>
              </a:rPr>
              <a:t>Dédupliquer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200400"/>
            <a:ext cx="2560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CU3 décider qui est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le même patient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13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543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686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6060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B2E4F"/>
                </a:solidFill>
                <a:latin typeface="Calibri"/>
              </a:rPr>
              <a:t>Gouverner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200400"/>
            <a:ext cx="2560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CU4 consentement en GOLD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CU5 interroger l'API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442448" y="3200400"/>
            <a:ext cx="457200" cy="411480"/>
          </a:xfrm>
          <a:prstGeom prst="rightArrow">
            <a:avLst/>
          </a:prstGeom>
          <a:solidFill>
            <a:srgbClr val="2FA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972800" y="2240280"/>
            <a:ext cx="2834640" cy="237744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2115800" y="1874519"/>
            <a:ext cx="548640" cy="548640"/>
          </a:xfrm>
          <a:prstGeom prst="ellipse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26060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B2E4F"/>
                </a:solidFill>
                <a:latin typeface="Calibri"/>
              </a:rPr>
              <a:t>Exploiter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3200400"/>
            <a:ext cx="2560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CU6 vues · CU7 planifier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CU8 dossier patient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120640"/>
            <a:ext cx="13258800" cy="91440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600" b="0" i="0">
                <a:solidFill>
                  <a:srgbClr val="0B2E4F"/>
                </a:solidFill>
                <a:latin typeface="Calibri"/>
              </a:rPr>
              <a:t>Cas limite : un </a:t>
            </a:r>
            <a:r>
              <a:rPr sz="1600" b="1" i="0">
                <a:solidFill>
                  <a:srgbClr val="0B2E4F"/>
                </a:solidFill>
                <a:latin typeface="Calibri"/>
              </a:rPr>
              <a:t>refus de consentement</a:t>
            </a:r>
            <a:r>
              <a:rPr sz="1600" b="0" i="0">
                <a:solidFill>
                  <a:srgbClr val="0B2E4F"/>
                </a:solidFill>
                <a:latin typeface="Calibri"/>
              </a:rPr>
              <a:t> n'est jamais silencieux — il renvoie un </a:t>
            </a:r>
            <a:r>
              <a:rPr sz="1600" b="1" i="0">
                <a:solidFill>
                  <a:srgbClr val="0B2E4F"/>
                </a:solidFill>
                <a:latin typeface="Calibri"/>
              </a:rPr>
              <a:t>403</a:t>
            </a:r>
            <a:r>
              <a:rPr sz="1600" b="0" i="0">
                <a:solidFill>
                  <a:srgbClr val="0B2E4F"/>
                </a:solidFill>
                <a:latin typeface="Calibri"/>
              </a:rPr>
              <a:t> et reste consultable dans le journal d'audit.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63640"/>
            <a:ext cx="1325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5A6B79"/>
                </a:solidFill>
                <a:latin typeface="Calibri"/>
              </a:rPr>
              <a:t>Évaluation transverse : générateur synthétique + vérité terrain jamais fournie à l'algorithme.</a:t>
            </a:r>
          </a:p>
        </p:txBody>
      </p:sp>
    </p:spTree>
    <p:extLst>
      <p:ext uri="{BB962C8B-B14F-4D97-AF65-F5344CB8AC3E}">
        <p14:creationId xmlns:p14="http://schemas.microsoft.com/office/powerpoint/2010/main" val="3306679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Run du 07/09/2026 : 214 lignes sources ramenées à 145 patients maîtres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468880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 i="0">
                <a:solidFill>
                  <a:srgbClr val="106D8E"/>
                </a:solidFill>
                <a:latin typeface="Calibri"/>
              </a:rPr>
              <a:t>214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27889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lignes SILVER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76 + 76 + 62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80" y="2468880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 i="0">
                <a:solidFill>
                  <a:srgbClr val="106D8E"/>
                </a:solidFill>
                <a:latin typeface="Calibri"/>
              </a:rPr>
              <a:t>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566160"/>
            <a:ext cx="27889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patients maîtres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60" y="2468880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 i="0">
                <a:solidFill>
                  <a:srgbClr val="106D8E"/>
                </a:solidFill>
                <a:latin typeface="Calibri"/>
              </a:rPr>
              <a:t>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566160"/>
            <a:ext cx="27889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doublons liés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214 − 69 = 145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35640" y="2194560"/>
            <a:ext cx="31546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35640" y="2468880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 i="0">
                <a:solidFill>
                  <a:srgbClr val="106D8E"/>
                </a:solidFill>
                <a:latin typeface="Calibri"/>
              </a:rPr>
              <a:t>32,24 %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3566160"/>
            <a:ext cx="27889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20303C"/>
                </a:solidFill>
                <a:latin typeface="Calibri"/>
              </a:rPr>
              <a:t>taux de doublons</a:t>
            </a:r>
          </a:p>
          <a:p>
            <a:pPr algn="ctr">
              <a:spcAft>
                <a:spcPts val="200"/>
              </a:spcAft>
            </a:pPr>
            <a:r>
              <a:rPr sz="1380" b="0" i="0">
                <a:solidFill>
                  <a:srgbClr val="20303C"/>
                </a:solidFill>
                <a:latin typeface="Consolas"/>
              </a:rPr>
              <a:t>mocked: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 i="0">
                <a:solidFill>
                  <a:srgbClr val="0B2E4F"/>
                </a:solidFill>
                <a:latin typeface="Calibri"/>
              </a:rPr>
              <a:t>Pipeline RAW → SILVER → GOLD :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 i="0">
                <a:solidFill>
                  <a:srgbClr val="0B2E4F"/>
                </a:solidFill>
                <a:latin typeface="Calibri"/>
              </a:rPr>
              <a:t>Tests : 102/102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5303520"/>
            <a:ext cx="4206240" cy="822960"/>
          </a:xfrm>
          <a:prstGeom prst="roundRect">
            <a:avLst>
              <a:gd name="adj" fmla="val 20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 i="0">
                <a:solidFill>
                  <a:srgbClr val="0B2E4F"/>
                </a:solidFill>
                <a:latin typeface="Calibri"/>
              </a:rPr>
              <a:t>API d'indicateurs : 3/3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00800"/>
            <a:ext cx="1325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5A6B79"/>
                </a:solidFill>
                <a:latin typeface="Calibri"/>
              </a:rPr>
              <a:t>Sources CSV synthétiques ; GOLD certifie l'identité, pas encore les événements de soin (</a:t>
            </a:r>
            <a:r>
              <a:rPr sz="1288" b="0" i="1">
                <a:solidFill>
                  <a:srgbClr val="5A6B79"/>
                </a:solidFill>
                <a:latin typeface="Consolas"/>
              </a:rPr>
              <a:t>patient_events_gold</a:t>
            </a:r>
            <a:r>
              <a:rPr sz="1400" b="0" i="1">
                <a:solidFill>
                  <a:srgbClr val="5A6B79"/>
                </a:solidFill>
                <a:latin typeface="Calibri"/>
              </a:rPr>
              <a:t> vide).</a:t>
            </a:r>
          </a:p>
        </p:txBody>
      </p:sp>
    </p:spTree>
    <p:extLst>
      <p:ext uri="{BB962C8B-B14F-4D97-AF65-F5344CB8AC3E}">
        <p14:creationId xmlns:p14="http://schemas.microsoft.com/office/powerpoint/2010/main" val="2628575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Cas d'utilisation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Du recoupement manuel à un pipeline tracé et audité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56692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Avant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Recoupement manuel entre services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Erreurs humaines, décisions sans trace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Accès sans finalité ni audit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83680" y="3200400"/>
            <a:ext cx="1463040" cy="640080"/>
          </a:xfrm>
          <a:prstGeom prst="rightArrow">
            <a:avLst/>
          </a:prstGeom>
          <a:solidFill>
            <a:srgbClr val="106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75320" y="2194560"/>
            <a:ext cx="5669280" cy="2651760"/>
          </a:xfrm>
          <a:prstGeom prst="roundRect">
            <a:avLst>
              <a:gd name="adj" fmla="val 8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E8B57"/>
                </a:solidFill>
                <a:latin typeface="Calibri"/>
              </a:rPr>
              <a:t>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97180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Pipeline automatisé de bout en bout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Chaque fusion expliquée (score, méthode)</a:t>
            </a:r>
          </a:p>
          <a:p>
            <a:pPr marL="223520" indent="-223520" algn="l">
              <a:spcAft>
                <a:spcPts val="600"/>
              </a:spcAft>
              <a:buChar char="•"/>
            </a:pPr>
            <a:r>
              <a:rPr sz="1600" b="0" i="0">
                <a:solidFill>
                  <a:srgbClr val="20303C"/>
                </a:solidFill>
                <a:latin typeface="Calibri"/>
              </a:rPr>
              <a:t>Chaque accès contrôlé et audité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6636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106D8E"/>
                </a:solidFill>
                <a:latin typeface="Calibri"/>
              </a:rP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précision · 0 faux positif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easy · medium · hard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16636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106D8E"/>
                </a:solidFill>
                <a:latin typeface="Calibri"/>
              </a:rPr>
              <a:t>0,422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589788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rappel sur le jeu « hard »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(0,287 avant la clé CIN)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516636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106D8E"/>
                </a:solidFill>
                <a:latin typeface="Calibri"/>
              </a:rPr>
              <a:t>TP = 307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589788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décisions identiques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20303C"/>
                </a:solidFill>
                <a:latin typeface="Calibri"/>
              </a:rPr>
              <a:t>Pandas = Spark</a:t>
            </a:r>
          </a:p>
        </p:txBody>
      </p:sp>
    </p:spTree>
    <p:extLst>
      <p:ext uri="{BB962C8B-B14F-4D97-AF65-F5344CB8AC3E}">
        <p14:creationId xmlns:p14="http://schemas.microsoft.com/office/powerpoint/2010/main" val="2672862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Démonstration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325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5A6B79"/>
                </a:solidFill>
                <a:latin typeface="Calibri"/>
              </a:rPr>
              <a:t>Vidéo enregistrée (3 min 30) — aucun point de défaillance le jour J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28800" y="237744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Contenu filmé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Durée</a:t>
                      </a:r>
                    </a:p>
                  </a:txBody>
                  <a:tcPr anchor="ctr">
                    <a:solidFill>
                      <a:srgbClr val="106D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72" b="0" i="0">
                          <a:solidFill>
                            <a:srgbClr val="20303C"/>
                          </a:solidFill>
                          <a:latin typeface="Consolas"/>
                        </a:rPr>
                        <a:t>pytest projet/code-source/tests</a:t>
                      </a:r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 — moteur, gouvernance, planification </a:t>
                      </a:r>
                      <a:r>
                        <a:rPr sz="1600" b="1" i="0">
                          <a:solidFill>
                            <a:srgbClr val="20303C"/>
                          </a:solidFill>
                          <a:latin typeface="Calibri"/>
                        </a:rPr>
                        <a:t>102/102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Évaluation « hard » : précision / rappel / F1 (précision 1,000)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72" b="0" i="0">
                          <a:solidFill>
                            <a:srgbClr val="20303C"/>
                          </a:solidFill>
                          <a:latin typeface="Consolas"/>
                        </a:rPr>
                        <a:t>run_pipeline.sh</a:t>
                      </a:r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 de bout en bout : RAW → SILVER → GOLD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1:30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Repli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Compteurs figés : 214 · 145 · 69 · 32,24 %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20303C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anchor="ctr">
                    <a:solidFill>
                      <a:srgbClr val="F1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82880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5A6B79"/>
                </a:solidFill>
                <a:latin typeface="Calibri"/>
              </a:rPr>
              <a:t>Données synthétiques, graine fixe : la démonstration est rejouable à l'identique.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Perspectives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Enrichir le mapping FHIR → </a:t>
            </a:r>
            <a:r>
              <a:rPr sz="1564" b="1" i="0">
                <a:solidFill>
                  <a:srgbClr val="0B2E4F"/>
                </a:solidFill>
                <a:latin typeface="Consolas"/>
              </a:rPr>
              <a:t>patient_events_gold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Peupler le consentement en base centrale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Calibrer seuil et poids sur la vérité terrain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Générateur de « faux jumeaux » (cas adversarial)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7200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Tests déployés et intégration continue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457200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Passage à l'échelle sur les volumes réels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989320"/>
            <a:ext cx="13258800" cy="822960"/>
          </a:xfrm>
          <a:prstGeom prst="roundRect">
            <a:avLst>
              <a:gd name="adj" fmla="val 12000"/>
            </a:avLst>
          </a:prstGeom>
          <a:solidFill>
            <a:srgbClr val="D3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600" b="0" i="0">
                <a:solidFill>
                  <a:srgbClr val="0B2E4F"/>
                </a:solidFill>
                <a:latin typeface="Calibri"/>
              </a:rPr>
              <a:t>Et avant toute mise en production : vérifier le </a:t>
            </a:r>
            <a:r>
              <a:rPr sz="1600" b="1" i="0">
                <a:solidFill>
                  <a:srgbClr val="0B2E4F"/>
                </a:solidFill>
                <a:latin typeface="Calibri"/>
              </a:rPr>
              <a:t>droit malgache</a:t>
            </a:r>
            <a:r>
              <a:rPr sz="1600" b="0" i="0">
                <a:solidFill>
                  <a:srgbClr val="0B2E4F"/>
                </a:solidFill>
                <a:latin typeface="Calibri"/>
              </a:rPr>
              <a:t> des données de santé.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868680"/>
            <a:ext cx="1325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06D8E"/>
                </a:solidFill>
                <a:latin typeface="Calibri"/>
              </a:rPr>
              <a:t>Conclusion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Centraliser</a:t>
            </a:r>
            <a:r>
              <a:rPr sz="1700" b="0" i="0">
                <a:solidFill>
                  <a:srgbClr val="0B2E4F"/>
                </a:solidFill>
                <a:latin typeface="Calibri"/>
              </a:rPr>
              <a:t> un patient dispersé entre plusieurs systèmes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01168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Normaliser</a:t>
            </a:r>
            <a:r>
              <a:rPr sz="1700" b="0" i="0">
                <a:solidFill>
                  <a:srgbClr val="0B2E4F"/>
                </a:solidFill>
                <a:latin typeface="Calibri"/>
              </a:rPr>
              <a:t> vers un modèle canonique + pivot FHIR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Dédupliquer</a:t>
            </a:r>
            <a:r>
              <a:rPr sz="1700" b="0" i="0">
                <a:solidFill>
                  <a:srgbClr val="0B2E4F"/>
                </a:solidFill>
                <a:latin typeface="Calibri"/>
              </a:rPr>
              <a:t> sans jamais fusionner à tort (précision 1,000)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291840"/>
            <a:ext cx="6537960" cy="960120"/>
          </a:xfrm>
          <a:prstGeom prst="roundRect">
            <a:avLst>
              <a:gd name="adj" fmla="val 20000"/>
            </a:avLst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700" b="1" i="0">
                <a:solidFill>
                  <a:srgbClr val="0B2E4F"/>
                </a:solidFill>
                <a:latin typeface="Calibri"/>
              </a:rPr>
              <a:t>Gouverner</a:t>
            </a:r>
            <a:r>
              <a:rPr sz="1700" b="0" i="0">
                <a:solidFill>
                  <a:srgbClr val="0B2E4F"/>
                </a:solidFill>
                <a:latin typeface="Calibri"/>
              </a:rPr>
              <a:t> par consentement : finalité, refus 403, audit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846320"/>
            <a:ext cx="13258800" cy="1188720"/>
          </a:xfrm>
          <a:prstGeom prst="roundRect">
            <a:avLst>
              <a:gd name="adj" fmla="val 1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Une démarche progressive —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MVP → Spark → Big Data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 — où chaque technologie répond à un besoin, et chaque résultat se vérifie dans le dépôt.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it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"/>
            <a:ext cx="1869141" cy="457200"/>
          </a:xfrm>
          <a:prstGeom prst="rect">
            <a:avLst/>
          </a:prstGeom>
        </p:spPr>
      </p:pic>
      <p:pic>
        <p:nvPicPr>
          <p:cNvPr id="3" name="Picture 2" descr="logo-mb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901" y="109728"/>
            <a:ext cx="1196162" cy="457200"/>
          </a:xfrm>
          <a:prstGeom prst="rect">
            <a:avLst/>
          </a:prstGeom>
        </p:spPr>
      </p:pic>
      <p:pic>
        <p:nvPicPr>
          <p:cNvPr id="4" name="Picture 3" descr="logo-u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3" y="109728"/>
            <a:ext cx="2918297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0250" y="64007"/>
            <a:ext cx="514350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713232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7726679"/>
            <a:ext cx="14630400" cy="0"/>
          </a:xfrm>
          <a:prstGeom prst="line">
            <a:avLst/>
          </a:prstGeom>
          <a:ln w="12700">
            <a:solidFill>
              <a:srgbClr val="106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" y="78181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« Plateforme Big Data de gouvernance des données patients » présenté par RANOMENJANAHARY Manjaka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7818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106D8E"/>
                </a:solidFill>
                <a:latin typeface="Calibri"/>
              </a:rPr>
              <a:t>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291840"/>
            <a:ext cx="1463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0" i="0">
                <a:solidFill>
                  <a:srgbClr val="106D8E"/>
                </a:solidFill>
                <a:latin typeface="Calibri"/>
              </a:rPr>
              <a:t>Merci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343400"/>
            <a:ext cx="1463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1">
                <a:solidFill>
                  <a:srgbClr val="5A6B79"/>
                </a:solidFill>
                <a:latin typeface="Calibri"/>
              </a:rPr>
              <a:t>Vos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A15943-5C73-44B3-97EF-8676D8F01F1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9873076-59fe-498b-872b-34def1a11f4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2014</Words>
  <Application>Microsoft Office PowerPoint</Application>
  <PresentationFormat>Custom</PresentationFormat>
  <Paragraphs>369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ranomenjanahary alpha</cp:lastModifiedBy>
  <cp:revision>2</cp:revision>
  <dcterms:created xsi:type="dcterms:W3CDTF">2013-01-27T09:14:16Z</dcterms:created>
  <dcterms:modified xsi:type="dcterms:W3CDTF">2026-09-28T13:03:45Z</dcterms:modified>
  <cp:category/>
</cp:coreProperties>
</file>