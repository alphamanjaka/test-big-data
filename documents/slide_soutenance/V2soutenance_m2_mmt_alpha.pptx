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4630400" cy="128016"/>
          </a:xfrm>
          <a:prstGeom prst="rect">
            <a:avLst/>
          </a:prstGeom>
          <a:solidFill>
            <a:srgbClr val="106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14630400" cy="4572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868680" cy="384048"/>
          </a:xfrm>
          <a:prstGeom prst="roundRect">
            <a:avLst>
              <a:gd name="adj" fmla="val 25000"/>
            </a:avLst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53035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B79"/>
                </a:solidFill>
                <a:latin typeface="Calibri"/>
              </a:rPr>
              <a:t>Madagascar Medical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A8B5"/>
                </a:solidFill>
                <a:latin typeface="Calibri"/>
              </a:rPr>
              <a:t>M2 MBDS — Stage · Plateforme Big Data de gestion et de gouvernance des données patients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0B2E4F"/>
                </a:solidFill>
                <a:latin typeface="Calibri"/>
              </a:rPr>
              <a:t>Concevoir une plateforme Big Data de gestion et de gouvernance des données 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20303C"/>
                </a:solidFill>
                <a:latin typeface="Calibri"/>
              </a:rPr>
              <a:t>Nettoyage · Déduplication explicable · Contrôle d'accès par consentement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6B79"/>
                </a:solidFill>
                <a:latin typeface="Calibri"/>
              </a:rPr>
              <a:t>Données exclusivement synthétiques — la confidentialité est un actif de démonstration.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0303C"/>
                </a:solidFill>
                <a:latin typeface="Calibri"/>
              </a:rPr>
              <a:t>Présenté par : RANOMENJANAHARY M. Alpha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A6B79"/>
                </a:solidFill>
                <a:latin typeface="Calibri"/>
              </a:rPr>
              <a:t>Madagascar Medical Technology —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CONTEXTE DU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Trois systèmes d'information médicaux indépendants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MMT</a:t>
            </a:r>
            <a:r>
              <a:rPr sz="1500">
                <a:solidFill>
                  <a:srgbClr val="20303C"/>
                </a:solidFill>
                <a:latin typeface="Calibri"/>
              </a:rPr>
              <a:t> exploite trois SI conçus séparément : **MAVIS** (Odoo/HMS), **MMT_DB** (GNU Health) et **CLINIQUE** (SQLite).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MAVIS</a:t>
            </a:r>
            <a:r>
              <a:rPr sz="1500">
                <a:solidFill>
                  <a:srgbClr val="20303C"/>
                </a:solidFill>
                <a:latin typeface="Calibri"/>
              </a:rPr>
              <a:t> : 1 260 tables détectées sur le nœud distant ; réplique locale de **73 090 lignes** (jointure patient `partner_id` **9 791 / 9 791**).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MMT_DB</a:t>
            </a:r>
            <a:r>
              <a:rPr sz="1500">
                <a:solidFill>
                  <a:srgbClr val="20303C"/>
                </a:solidFill>
                <a:latin typeface="Calibri"/>
              </a:rPr>
              <a:t> : 9 tables extraites (60 271 lignes) ; **CLINIQUE** : 4 tables (54 582 lignes) — FK découvertes automatiquement.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Chaque base est **intègre avec elle-même** : le défi n'est pas la qualité, c'est l'absence d'équivalent **entre** les bases.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Jeu de démonstration reproductible : générateur synthétique à **3 sources** (pharmacy, consultation, imaging), seed 42.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Un même patient, plusieurs systèmes, trois identités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Trois services, trois formats, trois identifiants — et **trois colonnes pour le même champ**.</a:t>
            </a:r>
          </a:p>
          <a:p>
            <a:pPr lvl="1"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–  `sexe` (pharmacy) · `genre` (consultation) · `sex` (imagerie)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00400"/>
            <a:ext cx="6309360" cy="1417320"/>
          </a:xfrm>
          <a:prstGeom prst="roundRect">
            <a:avLst>
              <a:gd name="adj" fmla="val 6000"/>
            </a:avLst>
          </a:prstGeom>
          <a:solidFill>
            <a:srgbClr val="E4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ctr">
              <a:spcAft>
                <a:spcPts val="0"/>
              </a:spcAft>
            </a:pPr>
            <a:r>
              <a:rPr sz="1400">
                <a:solidFill>
                  <a:srgbClr val="20303C"/>
                </a:solidFill>
                <a:latin typeface="Consolas"/>
              </a:rPr>
              <a:t>Pharmacie     → Jean Rakoto  · CIN 101 02404 5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0303C"/>
                </a:solidFill>
                <a:latin typeface="Consolas"/>
              </a:rPr>
              <a:t>Consultation  → Rakoto Jean  · CIN 101024045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0303C"/>
                </a:solidFill>
                <a:latin typeface="Consolas"/>
              </a:rPr>
              <a:t>Imagerie      → J. RAKOTO    · CIN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6309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Résultat : **dossier éclaté**, **agrégats faux**, **accès non maîtrisés**.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Qui a accès à quel champ, pour quelle finalité, et qui l'a réellement lu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5943600"/>
            <a:ext cx="868680" cy="384048"/>
          </a:xfrm>
          <a:prstGeom prst="roundRect">
            <a:avLst>
              <a:gd name="adj" fmla="val 25000"/>
            </a:avLst>
          </a:prstGeom>
          <a:solidFill>
            <a:srgbClr val="106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6768" y="5971032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A6B79"/>
                </a:solidFill>
                <a:latin typeface="Calibri"/>
              </a:rPr>
              <a:t>Madagascar Medical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Des données sensibles, dispersées et non gouvernées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Dispersion</a:t>
            </a:r>
            <a:r>
              <a:rPr sz="1500">
                <a:solidFill>
                  <a:srgbClr val="20303C"/>
                </a:solidFill>
                <a:latin typeface="Calibri"/>
              </a:rPr>
              <a:t> : chaque service tient son propre registre, sans identifiant commun.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Hétérogénéité</a:t>
            </a:r>
            <a:r>
              <a:rPr sz="1500">
                <a:solidFill>
                  <a:srgbClr val="20303C"/>
                </a:solidFill>
                <a:latin typeface="Calibri"/>
              </a:rPr>
              <a:t> : genres (`H/F`, homme/femme, `sex`), dates (`DD/MM/YYYY`, `YYYY-MM-DD`), CIN espacé ou compact.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Processus manuel</a:t>
            </a:r>
            <a:r>
              <a:rPr sz="1500">
                <a:solidFill>
                  <a:srgbClr val="20303C"/>
                </a:solidFill>
                <a:latin typeface="Calibri"/>
              </a:rPr>
              <a:t> : recoupements lents, erreurs humaines, aucune trace.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Absence de gouvernance</a:t>
            </a:r>
            <a:r>
              <a:rPr sz="1500">
                <a:solidFill>
                  <a:srgbClr val="20303C"/>
                </a:solidFill>
                <a:latin typeface="Calibri"/>
              </a:rPr>
              <a:t> : pas de consentement par finalité, pas d'audit d'accès.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Enjeu sécurité : les données de santé imposent **traçabilité** et **refus possible**.</a:t>
            </a:r>
          </a:p>
        </p:txBody>
      </p:sp>
      <p:pic>
        <p:nvPicPr>
          <p:cNvPr id="6" name="Picture 5" descr="fi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6791498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Centraliser, dédupliquer, gouverner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Centraliser</a:t>
            </a:r>
            <a:r>
              <a:rPr sz="1500">
                <a:solidFill>
                  <a:srgbClr val="20303C"/>
                </a:solidFill>
                <a:latin typeface="Calibri"/>
              </a:rPr>
              <a:t> dans un Data Lake (zones RAW → SILVER → GOLD, Medallion).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Normaliser</a:t>
            </a:r>
            <a:r>
              <a:rPr sz="1500">
                <a:solidFill>
                  <a:srgbClr val="20303C"/>
                </a:solidFill>
                <a:latin typeface="Calibri"/>
              </a:rPr>
              <a:t> vers un modèle canonique + pivot FHIR (genre, dates, CIN).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Dédupliquer de façon explicable</a:t>
            </a:r>
            <a:r>
              <a:rPr sz="1500">
                <a:solidFill>
                  <a:srgbClr val="20303C"/>
                </a:solidFill>
                <a:latin typeface="Calibri"/>
              </a:rPr>
              <a:t> : chaque fusion justifiée par un score (master patient + identity map).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Gouverner les accès</a:t>
            </a:r>
            <a:r>
              <a:rPr sz="1500">
                <a:solidFill>
                  <a:srgbClr val="20303C"/>
                </a:solidFill>
                <a:latin typeface="Calibri"/>
              </a:rPr>
              <a:t> par **consentement purpose-by-purpose** + audit d'accès, rôles et clés API.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Données **exclusivement synthétiques** — la confidentialité est un actif de démonstration.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Cinq parties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6035040" cy="713232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ctr"/>
            <a:r>
              <a:rPr sz="1500" b="1">
                <a:solidFill>
                  <a:srgbClr val="0B2E4F"/>
                </a:solidFill>
                <a:latin typeface="Calibri"/>
              </a:rPr>
              <a:t>1. État de l'art</a:t>
            </a:r>
          </a:p>
          <a:p>
            <a:pPr>
              <a:spcBef>
                <a:spcPts val="0"/>
              </a:spcBef>
            </a:pPr>
            <a:r>
              <a:rPr sz="1250">
                <a:solidFill>
                  <a:srgbClr val="20303C"/>
                </a:solidFill>
                <a:latin typeface="Calibri"/>
              </a:rPr>
              <a:t>solutions du domaine : MPI, MDM, Data Lake santé, Entity Resolution, FHIR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88920"/>
            <a:ext cx="6035040" cy="713232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ctr"/>
            <a:r>
              <a:rPr sz="1500" b="1">
                <a:solidFill>
                  <a:srgbClr val="0B2E4F"/>
                </a:solidFill>
                <a:latin typeface="Calibri"/>
              </a:rPr>
              <a:t>2. Étude de l'existant</a:t>
            </a:r>
          </a:p>
          <a:p>
            <a:pPr>
              <a:spcBef>
                <a:spcPts val="0"/>
              </a:spcBef>
            </a:pPr>
            <a:r>
              <a:rPr sz="1250">
                <a:solidFill>
                  <a:srgbClr val="20303C"/>
                </a:solidFill>
                <a:latin typeface="Calibri"/>
              </a:rPr>
              <a:t>les SI de MMT : points forts, limites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6035040" cy="713232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ctr"/>
            <a:r>
              <a:rPr sz="1500" b="1">
                <a:solidFill>
                  <a:srgbClr val="0B2E4F"/>
                </a:solidFill>
                <a:latin typeface="Calibri"/>
              </a:rPr>
              <a:t>3. Solution proposée</a:t>
            </a:r>
          </a:p>
          <a:p>
            <a:pPr>
              <a:spcBef>
                <a:spcPts val="0"/>
              </a:spcBef>
            </a:pPr>
            <a:r>
              <a:rPr sz="1250">
                <a:solidFill>
                  <a:srgbClr val="20303C"/>
                </a:solidFill>
                <a:latin typeface="Calibri"/>
              </a:rPr>
              <a:t>architecture Medallion + moteur de déduplication + gouvernance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6035040" cy="713232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ctr"/>
            <a:r>
              <a:rPr sz="1500" b="1">
                <a:solidFill>
                  <a:srgbClr val="0B2E4F"/>
                </a:solidFill>
                <a:latin typeface="Calibri"/>
              </a:rPr>
              <a:t>4. Fonctionnalités principales</a:t>
            </a:r>
          </a:p>
          <a:p>
            <a:pPr>
              <a:spcBef>
                <a:spcPts val="0"/>
              </a:spcBef>
            </a:pPr>
            <a:r>
              <a:rPr sz="1250">
                <a:solidFill>
                  <a:srgbClr val="20303C"/>
                </a:solidFill>
                <a:latin typeface="Calibri"/>
              </a:rPr>
              <a:t>centraliser · normaliser · dédupliquer · consentir · auditer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94960"/>
            <a:ext cx="6035040" cy="713232"/>
          </a:xfrm>
          <a:prstGeom prst="roundRect">
            <a:avLst>
              <a:gd name="adj" fmla="val 5000"/>
            </a:avLst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73152"/>
          <a:lstStyle/>
          <a:p>
            <a:pPr algn="ctr"/>
            <a:r>
              <a:rPr sz="1500" b="1">
                <a:solidFill>
                  <a:srgbClr val="0B2E4F"/>
                </a:solidFill>
                <a:latin typeface="Calibri"/>
              </a:rPr>
              <a:t>5. Démonstration</a:t>
            </a:r>
          </a:p>
          <a:p>
            <a:pPr>
              <a:spcBef>
                <a:spcPts val="0"/>
              </a:spcBef>
            </a:pPr>
            <a:r>
              <a:rPr sz="1250">
                <a:solidFill>
                  <a:srgbClr val="20303C"/>
                </a:solidFill>
                <a:latin typeface="Calibri"/>
              </a:rPr>
              <a:t>tests, évaluation ground-truth, pipeline bout en bout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Points forts et limites des solutions du domaine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Points forts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Limites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MPI / DMP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référentiel d'identité maître, vue unique du patient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ne reconstruit pas l'identité partagée absente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MDM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gouvernance des données de référence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coûteux, rigide face au changement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Data Lake santé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RAW → SILVER → GOLD, schéma-on-read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sans curation = marécage de données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Fellegi–Sunter (1969)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cadre probabiliste éprouvé de l'Entity Resolution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seuils et pondérations à calibrer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FHIR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schéma pivot d'échange standard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lourd si sources très hétérogènes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Critères de comparaison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Normalisation</a:t>
            </a:r>
            <a:r>
              <a:rPr sz="1500">
                <a:solidFill>
                  <a:srgbClr val="20303C"/>
                </a:solidFill>
                <a:latin typeface="Calibri"/>
              </a:rPr>
              <a:t> : un champ vers un format canonique, quelle que soit la source.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Identité partagée</a:t>
            </a:r>
            <a:r>
              <a:rPr sz="1500">
                <a:solidFill>
                  <a:srgbClr val="20303C"/>
                </a:solidFill>
                <a:latin typeface="Calibri"/>
              </a:rPr>
              <a:t> : reconstruire un master patient absent des sources.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Explicabilité</a:t>
            </a:r>
            <a:r>
              <a:rPr sz="1500">
                <a:solidFill>
                  <a:srgbClr val="20303C"/>
                </a:solidFill>
                <a:latin typeface="Calibri"/>
              </a:rPr>
              <a:t> : chaque décision de fusion justifiée et traçable (exigence santé).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Scalabilité</a:t>
            </a:r>
            <a:r>
              <a:rPr sz="1500">
                <a:solidFill>
                  <a:srgbClr val="20303C"/>
                </a:solidFill>
                <a:latin typeface="Calibri"/>
              </a:rPr>
              <a:t> : passage du MVP (Pandas) à Spark sans changer la logique.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Gouvernance</a:t>
            </a:r>
            <a:r>
              <a:rPr sz="1500">
                <a:solidFill>
                  <a:srgbClr val="20303C"/>
                </a:solidFill>
                <a:latin typeface="Calibri"/>
              </a:rPr>
              <a:t> : consentement par finalité, audit d'accès, rôles et clés API.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Coût</a:t>
            </a:r>
            <a:r>
              <a:rPr sz="1500">
                <a:solidFill>
                  <a:srgbClr val="20303C"/>
                </a:solidFill>
                <a:latin typeface="Calibri"/>
              </a:rPr>
              <a:t> : 100 % open source (Hadoop, Spark, Hive, PostgreSQL).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ÉTAT DE L'ART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Choix technologique : une combinaison synergique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Apache Spark</a:t>
            </a:r>
            <a:r>
              <a:rPr sz="1500">
                <a:solidFill>
                  <a:srgbClr val="20303C"/>
                </a:solidFill>
                <a:latin typeface="Calibri"/>
              </a:rPr>
              <a:t> — traitement distribué Medallion (RAW → SILVER → GOLD) sur HDFS/Hive ; il vient **après** le besoin, pas « Big Data pour le Big Data ».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Entity Resolution</a:t>
            </a:r>
            <a:r>
              <a:rPr sz="1500">
                <a:solidFill>
                  <a:srgbClr val="20303C"/>
                </a:solidFill>
                <a:latin typeface="Calibri"/>
              </a:rPr>
              <a:t> (Fellegi–Sunter + RapidFuzz) — déduplication exacte **et** probabiliste, explicable, seuil 0,80 déclaré en YAML ; **parité Pandas = Spark**.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FHIR</a:t>
            </a:r>
            <a:r>
              <a:rPr sz="1500">
                <a:solidFill>
                  <a:srgbClr val="20303C"/>
                </a:solidFill>
                <a:latin typeface="Calibri"/>
              </a:rPr>
              <a:t> — schéma pivot pour normaliser des sources aux formats divergents.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Le ground-truth sert de **validation** (vérité terrain jamais fournie à l'algorithme).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ÉTUDE DE L'EXISTANT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Modules de la plateforme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Ingestion / Medallion</a:t>
            </a:r>
            <a:r>
              <a:rPr sz="1500">
                <a:solidFill>
                  <a:srgbClr val="20303C"/>
                </a:solidFill>
                <a:latin typeface="Calibri"/>
              </a:rPr>
              <a:t> : RAW → SILVER → GOLD, 4 étapes idempotentes.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Normalisation</a:t>
            </a:r>
            <a:r>
              <a:rPr sz="1500">
                <a:solidFill>
                  <a:srgbClr val="20303C"/>
                </a:solidFill>
                <a:latin typeface="Calibri"/>
              </a:rPr>
              <a:t> : modèle canonique `CanonicalPatient` + écriture FHIR.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Déduplication</a:t>
            </a:r>
            <a:r>
              <a:rPr sz="1500">
                <a:solidFill>
                  <a:srgbClr val="20303C"/>
                </a:solidFill>
                <a:latin typeface="Calibri"/>
              </a:rPr>
              <a:t> : blocage → exact → probabiliste → fusion (identity map).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Gouvernance</a:t>
            </a:r>
            <a:r>
              <a:rPr sz="1500">
                <a:solidFill>
                  <a:srgbClr val="20303C"/>
                </a:solidFill>
                <a:latin typeface="Calibri"/>
              </a:rPr>
              <a:t> : consentements par finalité (`api_access`, `research`, `analytics`) et audit d'accès, refus fail-closed.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Exposition</a:t>
            </a:r>
            <a:r>
              <a:rPr sz="1500">
                <a:solidFill>
                  <a:srgbClr val="20303C"/>
                </a:solidFill>
                <a:latin typeface="Calibri"/>
              </a:rPr>
              <a:t> : API REST gouvernance + API FastAPI à contrôle de consentement, rôles et clés API hachées.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ÉTUDE DE L'EXISTANT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Points forts des systèmes en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Base **intègre avec elle-même** : jointure MAVIS `partner_id` **9 791 / 9 791**.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Volume réel significatif : **1 260 tables**, réplique **73 090 lignes**.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Schéma riche à dériver : 5 FK MMT_DB découvertes automatiquement ; `PRAGMA foreign_key_check` = 0 violation côté CLINIQUE.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Une **vérité terrain** (`identity_mapping.csv`) existe côté générateur : elle sert à **évaluer** la déduplication, jamais à la piloter.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ÉTUDE DE L'EXISTANT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Limitations identifiées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Bases multiples et non uniformes</a:t>
            </a:r>
            <a:r>
              <a:rPr sz="1500">
                <a:solidFill>
                  <a:srgbClr val="20303C"/>
                </a:solidFill>
                <a:latin typeface="Calibri"/>
              </a:rPr>
              <a:t> : trois SI sans identifiant commun.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Formats hétérogènes</a:t>
            </a:r>
            <a:r>
              <a:rPr sz="1500">
                <a:solidFill>
                  <a:srgbClr val="20303C"/>
                </a:solidFill>
                <a:latin typeface="Calibri"/>
              </a:rPr>
              <a:t> : genres, dates, CIN divergents entre les tables.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Processus entièrement manuel</a:t>
            </a:r>
            <a:r>
              <a:rPr sz="1500">
                <a:solidFill>
                  <a:srgbClr val="20303C"/>
                </a:solidFill>
                <a:latin typeface="Calibri"/>
              </a:rPr>
              <a:t> : import et recoupement, erreurs humaines, temps longs.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Aucune gouvernance des accès</a:t>
            </a:r>
            <a:r>
              <a:rPr sz="1500">
                <a:solidFill>
                  <a:srgbClr val="20303C"/>
                </a:solidFill>
                <a:latin typeface="Calibri"/>
              </a:rPr>
              <a:t> : impossible de dire qui a lu quoi, et pour quelle finalité.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Le problème n'est pas la qualité d'une base, c'est **l'absence de pont entre elles**.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SOLUTION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Architecture du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Medallion</a:t>
            </a:r>
            <a:r>
              <a:rPr sz="1500">
                <a:solidFill>
                  <a:srgbClr val="20303C"/>
                </a:solidFill>
                <a:latin typeface="Calibri"/>
              </a:rPr>
              <a:t> RAW → SILVER → GOLD sur **HDFS/Hive/Spark** (VM 8 Go).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Moteur de déduplication</a:t>
            </a:r>
            <a:r>
              <a:rPr sz="1500">
                <a:solidFill>
                  <a:srgbClr val="20303C"/>
                </a:solidFill>
                <a:latin typeface="Calibri"/>
              </a:rPr>
              <a:t> `engine/` (Pandas + Spark) branché en SILVER : master patient + identity map.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PostgreSQL central</a:t>
            </a:r>
            <a:r>
              <a:rPr sz="1500">
                <a:solidFill>
                  <a:srgbClr val="20303C"/>
                </a:solidFill>
                <a:latin typeface="Calibri"/>
              </a:rPr>
              <a:t> : masters, consentements, audit, clés API — contrôlé par l'API FastAPI (finalité obligatoire).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API de reporting</a:t>
            </a:r>
            <a:r>
              <a:rPr sz="1500">
                <a:solidFill>
                  <a:srgbClr val="20303C"/>
                </a:solidFill>
                <a:latin typeface="Calibri"/>
              </a:rPr>
              <a:t> Flask `/api/governance/*` (déduplication, consentement) ; frontend DataViz optionnel.</a:t>
            </a:r>
          </a:p>
        </p:txBody>
      </p:sp>
      <p:pic>
        <p:nvPicPr>
          <p:cNvPr id="6" name="Picture 5" descr="fig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37360"/>
            <a:ext cx="5734273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FONCTIONNALITÉS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Du fichier source au consentement vérifié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Centralisation multi-sources</a:t>
            </a:r>
            <a:r>
              <a:rPr sz="1500">
                <a:solidFill>
                  <a:srgbClr val="20303C"/>
                </a:solidFill>
                <a:latin typeface="Calibri"/>
              </a:rPr>
              <a:t> : les données arrivent telles quelles dans RAW.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Normalisation automatique</a:t>
            </a:r>
            <a:r>
              <a:rPr sz="1500">
                <a:solidFill>
                  <a:srgbClr val="20303C"/>
                </a:solidFill>
                <a:latin typeface="Calibri"/>
              </a:rPr>
              <a:t> : un champ → un format (genre `M/F`, dates ISO, CIN).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Déduplication explicable</a:t>
            </a:r>
            <a:r>
              <a:rPr sz="1500">
                <a:solidFill>
                  <a:srgbClr val="20303C"/>
                </a:solidFill>
                <a:latin typeface="Calibri"/>
              </a:rPr>
              <a:t> : `master_patient_id` + `match_method` + `match_score` + explication — jamais de fusion arbitraire.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Consentement purpose-by-purpose</a:t>
            </a:r>
            <a:r>
              <a:rPr sz="1500">
                <a:solidFill>
                  <a:srgbClr val="20303C"/>
                </a:solidFill>
                <a:latin typeface="Calibri"/>
              </a:rPr>
              <a:t> : finalité non consentie → **403** + `refusal_reason` journalisé.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Audit d'accès</a:t>
            </a:r>
            <a:r>
              <a:rPr sz="1500">
                <a:solidFill>
                  <a:srgbClr val="20303C"/>
                </a:solidFill>
                <a:latin typeface="Calibri"/>
              </a:rPr>
              <a:t> et rôles (admin / analyst / viewer) + clés API hachées.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CAS D'UTILISATION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CU1 → CU3 : le parcours d'une donnée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CU1 — Ingérer</a:t>
            </a:r>
            <a:r>
              <a:rPr sz="1500">
                <a:solidFill>
                  <a:srgbClr val="20303C"/>
                </a:solidFill>
                <a:latin typeface="Calibri"/>
              </a:rPr>
              <a:t> : les lignes sources arrivent **telles quelles** dans RAW (schéma-on-read) ; aucune transformation à l'écriture.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CU2 — Normaliser</a:t>
            </a:r>
            <a:r>
              <a:rPr sz="1500">
                <a:solidFill>
                  <a:srgbClr val="20303C"/>
                </a:solidFill>
                <a:latin typeface="Calibri"/>
              </a:rPr>
              <a:t> : genre, dates et CIN ramenés à un modèle canonique ; un champ douteux reste **vide**, il ne corrompt pas une clé exacte.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CU3 — Dédupliquer</a:t>
            </a:r>
            <a:r>
              <a:rPr sz="1500">
                <a:solidFill>
                  <a:srgbClr val="20303C"/>
                </a:solidFill>
                <a:latin typeface="Calibri"/>
              </a:rPr>
              <a:t> : 3 index de blocage (préfixe de nom, naissance, CIN) → exact puis probabiliste → fusion justifiée.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Cas limite : un **refus de consentement** est journalisé (fail-closed) — on ne sert jamais ce qu'on n'a pas le droit de lire.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CAS D'UTILISATION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Résultats mesurés au run de référence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4940"/>
                <a:gridCol w="523494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Mesure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Valeur vérifiée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RAW → SILVER → GOLD **4/4 vert**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SILVER `patient_fhir`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214 lignes (76 + 76 + 62)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Masters / doublons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0303C"/>
                          </a:solidFill>
                          <a:latin typeface="Calibri"/>
                        </a:rPr>
                        <a:t>145</a:t>
                      </a:r>
                      <a:r>
                        <a:rPr sz="1200">
                          <a:solidFill>
                            <a:srgbClr val="20303C"/>
                          </a:solidFill>
                          <a:latin typeface="Calibri"/>
                        </a:rPr>
                        <a:t> masters · **69** doublons · `match_method=exact`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Taux de doublons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0303C"/>
                          </a:solidFill>
                          <a:latin typeface="Calibri"/>
                        </a:rPr>
                        <a:t>32,24 %</a:t>
                      </a:r>
                      <a:r>
                        <a:rPr sz="1200">
                          <a:solidFill>
                            <a:srgbClr val="20303C"/>
                          </a:solidFill>
                          <a:latin typeface="Calibri"/>
                        </a:rPr>
                        <a:t> (`mocked: false`, données réelles Hive)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API gouvernance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`test_api.py` **3/3 PASS** sur données réelles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CAS D'UTILISATION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Avant / après : de l'humain au moteur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Avant</a:t>
            </a:r>
            <a:r>
              <a:rPr sz="1500">
                <a:solidFill>
                  <a:srgbClr val="20303C"/>
                </a:solidFill>
                <a:latin typeface="Calibri"/>
              </a:rPr>
              <a:t> : recoupement manuel entre services — lent, erreurs humaines, **aucune explication conservée**.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Après</a:t>
            </a:r>
            <a:r>
              <a:rPr sz="1500">
                <a:solidFill>
                  <a:srgbClr val="20303C"/>
                </a:solidFill>
                <a:latin typeface="Calibri"/>
              </a:rPr>
              <a:t> : pipeline automatisé bout en bout, décisions **expliquées** (score, méthode) et **auditées**.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Évaluation ground-truth</a:t>
            </a:r>
            <a:r>
              <a:rPr sz="1500">
                <a:solidFill>
                  <a:srgbClr val="20303C"/>
                </a:solidFill>
                <a:latin typeface="Calibri"/>
              </a:rPr>
              <a:t> : **zéro faux positif** sur easy / medium / hard (Precision 1.000) ; rappel hard relevé à **0.422** grâce à la clé CIN.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Parité Pandas = Spark</a:t>
            </a:r>
            <a:r>
              <a:rPr sz="1500">
                <a:solidFill>
                  <a:srgbClr val="20303C"/>
                </a:solidFill>
                <a:latin typeface="Calibri"/>
              </a:rPr>
              <a:t> : décisions identiques (TP=307, FP=0, FN=420 sur hard).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Vidéo 3:30 enregistrée — aucun point de défaillance le jour J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9960"/>
                <a:gridCol w="3489960"/>
                <a:gridCol w="3489960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Contenu filmé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Durée</a:t>
                      </a:r>
                    </a:p>
                  </a:txBody>
                  <a:tcPr marL="91440" marR="73152" marT="36576" marB="36576">
                    <a:solidFill>
                      <a:srgbClr val="106D8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`pytest projet/code-source/tests` — moteur + gouvernance **54/54**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Évaluation hard : P/R/F1 (Precision 1.000)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`run_pipeline.sh` bout en bout (RAW → SILVER → GOLD)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1:30</a:t>
                      </a:r>
                    </a:p>
                  </a:txBody>
                  <a:tcPr marL="91440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Repli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compteurs figés : 214 · 145 · 69 · 32,24 %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303C"/>
                          </a:solidFill>
                          <a:latin typeface="Calibri"/>
                        </a:rPr>
                        <a:t>0:30</a:t>
                      </a:r>
                    </a:p>
                  </a:txBody>
                  <a:tcPr marL="91440" marR="73152" marT="36576" marB="36576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PERSPECTIVES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Après la soutenance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Enrichir le mapping FHIR</a:t>
            </a:r>
            <a:r>
              <a:rPr sz="1500">
                <a:solidFill>
                  <a:srgbClr val="20303C"/>
                </a:solidFill>
                <a:latin typeface="Calibri"/>
              </a:rPr>
              <a:t> : encounters / conditions / observations → `patient_events_gold`.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Calibrer seuil et pondérations</a:t>
            </a:r>
            <a:r>
              <a:rPr sz="1500">
                <a:solidFill>
                  <a:srgbClr val="20303C"/>
                </a:solidFill>
                <a:latin typeface="Calibri"/>
              </a:rPr>
              <a:t> via le ground-truth ; peupler le consentement central en base.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Générateur d'homophones</a:t>
            </a:r>
            <a:r>
              <a:rPr sz="1500">
                <a:solidFill>
                  <a:srgbClr val="20303C"/>
                </a:solidFill>
                <a:latin typeface="Calibri"/>
              </a:rPr>
              <a:t> pour solliciter enfin le cas adversariaire des faux positifs.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Passage à l'échelle</a:t>
            </a:r>
            <a:r>
              <a:rPr sz="1500">
                <a:solidFill>
                  <a:srgbClr val="20303C"/>
                </a:solidFill>
                <a:latin typeface="Calibri"/>
              </a:rPr>
              <a:t> : volume, intégration continue, export VM.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Le frontend DataViz (optionnel) reste à industrialiser au-delà du PoC.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FA8B5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603504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B2E4F"/>
                </a:solidFill>
                <a:latin typeface="Calibri"/>
              </a:rPr>
              <a:t>Réponse à la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1463040" cy="0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Centraliser</a:t>
            </a:r>
            <a:r>
              <a:rPr sz="1500">
                <a:solidFill>
                  <a:srgbClr val="20303C"/>
                </a:solidFill>
                <a:latin typeface="Calibri"/>
              </a:rPr>
              <a:t> un même patient dispersé entre plusieurs systèmes.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Nettoyer et standardiser</a:t>
            </a:r>
            <a:r>
              <a:rPr sz="1500">
                <a:solidFill>
                  <a:srgbClr val="20303C"/>
                </a:solidFill>
                <a:latin typeface="Calibri"/>
              </a:rPr>
              <a:t> vers un modèle canonique + pivot FHIR.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Dédupliquer de façon explicable</a:t>
            </a:r>
            <a:r>
              <a:rPr sz="1500">
                <a:solidFill>
                  <a:srgbClr val="20303C"/>
                </a:solidFill>
                <a:latin typeface="Calibri"/>
              </a:rPr>
              <a:t> : zéro fusion à tort démontré, rappel calibré.</a:t>
            </a:r>
          </a:p>
          <a:p>
            <a:pPr>
              <a:spcAft>
                <a:spcPts val="0"/>
              </a:spcAft>
            </a:pPr>
            <a:r>
              <a:rPr b="1" sz="1500">
                <a:solidFill>
                  <a:srgbClr val="20303C"/>
                </a:solidFill>
                <a:latin typeface="Calibri"/>
              </a:rPr>
              <a:t>Gouverner par consentement</a:t>
            </a:r>
            <a:r>
              <a:rPr sz="1500">
                <a:solidFill>
                  <a:srgbClr val="20303C"/>
                </a:solidFill>
                <a:latin typeface="Calibri"/>
              </a:rPr>
              <a:t> : finalité obligatoire, refus 403, audit d'accès.</a:t>
            </a:r>
          </a:p>
          <a:p>
            <a:pPr>
              <a:spcAft>
                <a:spcPts val="0"/>
              </a:spcAft>
            </a:pPr>
            <a:r>
              <a:rPr sz="1500">
                <a:solidFill>
                  <a:srgbClr val="20303C"/>
                </a:solidFill>
                <a:latin typeface="Calibri"/>
              </a:rPr>
              <a:t>•  Architecture **Big Data** (Medallion) sur données **exclusivement synthétiques**.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B2E4F"/>
                </a:solidFill>
                <a:latin typeface="Calibri"/>
              </a:rPr>
              <a:t>Merci — Vos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" y="3291840"/>
            <a:ext cx="1737360" cy="64008"/>
          </a:xfrm>
          <a:prstGeom prst="rect">
            <a:avLst/>
          </a:prstGeom>
          <a:solidFill>
            <a:srgbClr val="E8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3611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0303C"/>
                </a:solidFill>
                <a:latin typeface="Calibri"/>
              </a:rPr>
              <a:t>Dépôt unique Mon_Memoire · rapport de stage · mémoire M2 MBDS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4023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A8B5"/>
                </a:solidFill>
                <a:latin typeface="Calibri"/>
              </a:rPr>
              <a:t>RANOMENJANAHARY M. Alpha — Madagascar Medical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7432"/>
          </a:xfrm>
          <a:prstGeom prst="rect">
            <a:avLst/>
          </a:prstGeom>
          <a:solidFill>
            <a:srgbClr val="2FA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620256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A6B79"/>
                </a:solidFill>
                <a:latin typeface="Calibri"/>
              </a:rPr>
              <a:t>Madagascar Medical Technology — M2 MBDS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620256"/>
            <a:ext cx="52395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A6B79"/>
                </a:solidFill>
                <a:latin typeface="Calibri"/>
              </a:rPr>
              <a:t>RANOMENJANAHARY M. Alpha · Septembre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